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313" r:id="rId3"/>
    <p:sldId id="309" r:id="rId4"/>
    <p:sldId id="310" r:id="rId5"/>
    <p:sldId id="288" r:id="rId6"/>
    <p:sldId id="31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94737"/>
  </p:normalViewPr>
  <p:slideViewPr>
    <p:cSldViewPr snapToGrid="0" showGuides="1">
      <p:cViewPr>
        <p:scale>
          <a:sx n="83" d="100"/>
          <a:sy n="83" d="100"/>
        </p:scale>
        <p:origin x="296" y="5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E065C4-0FDC-2542-85DB-FBF33CB60B38}" type="datetimeFigureOut">
              <a:rPr lang="en-US" smtClean="0"/>
              <a:t>2/1/26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7D8022-CF20-6F46-8192-26FED04C92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705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5F2044-1492-FF4C-B3D8-0E33035C82F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5694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2A7A2-8463-E6DC-04D2-D5B96628A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BD60EF-729F-4360-4AEA-0B909296ED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953EDD-537F-5E18-6BB6-65A90BFE47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0DEA72-EEEE-AC40-04E1-7613391BED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5F2044-1492-FF4C-B3D8-0E33035C82F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721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5F2044-1492-FF4C-B3D8-0E33035C82F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9793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932EC-B1B5-1762-75FC-C2007AE5E8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42104B-3FD2-4DA1-F596-19FF4ECED1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C07805-299A-5B43-EAC8-CE84812E4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BD2FF-6552-E449-8E00-29397A8A1274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8BF612-EBA9-5919-B075-B76AD01CD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B9BB7F-CB70-301E-6D6A-22B65B1E1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203F1-F1B7-3744-8192-9716B6864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9391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8ADDD-8B88-E903-1251-ACA5950AD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2E9F84-D4FB-24B0-5CEC-07E689F9CE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61E1A-007E-175C-0D36-244E7571B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BD2FF-6552-E449-8E00-29397A8A1274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249F99-6E10-EBF4-C50C-D1AB63E65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265768-EA4B-2DFC-6C36-AC5D7431C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203F1-F1B7-3744-8192-9716B6864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8505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FD1D2-5740-B2FA-6E9A-30937904EF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9AA8E1-B4B0-6D3A-76BD-EADC0D7B27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C4A960-B688-3F99-F7B6-AFC001ED57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BD2FF-6552-E449-8E00-29397A8A1274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75B236-5DD7-4DDE-E2FF-083333CB8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56F6D8-D81B-A130-FAA6-A8D09A31C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203F1-F1B7-3744-8192-9716B6864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8494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9BCD3-EF95-6725-318A-2B66C0871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C95607-A2E6-09B9-32B3-E38BDD37E4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94A9A4-F03B-DC96-A7D5-DDB4128C0C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D6F145-3D60-DFAF-DBE3-C9B4514C6D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BD2FF-6552-E449-8E00-29397A8A1274}" type="datetimeFigureOut">
              <a:rPr lang="en-US" smtClean="0"/>
              <a:t>2/1/26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760E80-4C4F-D210-638E-DD98F6A42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8A8E6C-7FB2-21FE-7257-9AC36F157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203F1-F1B7-3744-8192-9716B6864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49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CB753-125A-6CD2-A8DF-529997863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88D5F7-8D4E-D106-2B22-EF06D342A8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913849-937C-C9CC-C9EB-536E689D62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6FC22D-158D-1EE4-106B-29908919CB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8351D3-8689-DF8E-F691-5962C61025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18BA85-6E21-7A14-D303-422ADDF0D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BD2FF-6552-E449-8E00-29397A8A1274}" type="datetimeFigureOut">
              <a:rPr lang="en-US" smtClean="0"/>
              <a:t>2/1/26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C61C57-0666-6885-90DB-63A411A0F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2C4461-A02F-B0A0-9180-A5C53A7F0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203F1-F1B7-3744-8192-9716B6864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5715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0CAC1-8CB3-66E1-1DA4-DFAADB66C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99006DF-CFF8-7E79-6B22-57CB86174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BD2FF-6552-E449-8E00-29397A8A1274}" type="datetimeFigureOut">
              <a:rPr lang="en-US" smtClean="0"/>
              <a:t>2/1/26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56AD41-080B-F1D4-235D-E00A4ED5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43638B-EBBD-3BC7-6B7C-213554370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203F1-F1B7-3744-8192-9716B6864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13541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017D11-724C-3836-E61B-41D4690A8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BD2FF-6552-E449-8E00-29397A8A1274}" type="datetimeFigureOut">
              <a:rPr lang="en-US" smtClean="0"/>
              <a:t>2/1/26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C7BA5C-B039-D332-30BC-F692C1162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325BCA-C1D0-AEC3-5B81-5CF5B6D48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203F1-F1B7-3744-8192-9716B6864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272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9A401-CD25-2A8F-E76B-BF29E91D0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5D73BB-8BFA-6FCB-DA49-77E4586E8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BCFF10-47D6-E612-9F2A-007FF93AD1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40EC0C-5BB4-1FE5-F11B-F69AEA25D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BD2FF-6552-E449-8E00-29397A8A1274}" type="datetimeFigureOut">
              <a:rPr lang="en-US" smtClean="0"/>
              <a:t>2/1/26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4B461C-4CCD-6739-702C-1B07F70AD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C5F4E0-20D4-88D3-A8E0-D1DC09B5E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203F1-F1B7-3744-8192-9716B6864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8772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3CD65-C349-3679-53A4-6F02C37858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4723DF-256C-88C4-4C5A-CF141B8AA5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D2D93E-DB06-904C-12D0-018988EFE7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B13131-220A-3E62-2466-4649DED3E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BD2FF-6552-E449-8E00-29397A8A1274}" type="datetimeFigureOut">
              <a:rPr lang="en-US" smtClean="0"/>
              <a:t>2/1/26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7B43EC-49CD-E784-A79B-FCBB17CAB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EB7FF7-8AF1-30F5-F75A-AC0A71D35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203F1-F1B7-3744-8192-9716B6864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8852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FDF1B-F24D-3CFA-270A-BA49884C6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5C0E9D-FF76-5969-0931-208A2849FB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07AFAC-6971-3A20-4D0A-F0147A8F6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BD2FF-6552-E449-8E00-29397A8A1274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D9F02E-F581-F1BE-BB07-3C3C47F54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6F2913-9316-92E6-B7BD-545FDD8F1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203F1-F1B7-3744-8192-9716B6864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204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F39AB1-3096-05F3-DF5B-77C2D05853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54EED2-7A6E-11B1-E4E3-68D199D39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934D9B-4A86-8941-BFB9-ABB572D75D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3BD2FF-6552-E449-8E00-29397A8A1274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56DDB6-C654-6269-FD0D-D901C42BB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4D9409-7229-4545-C2BB-8C15BE228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203F1-F1B7-3744-8192-9716B6864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19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6F3E94-BA2C-27A3-4268-C3DB1B2262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271E35-6409-1182-CA1A-09385D65C5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9B6656-6ADD-F7BA-9153-015F5F5F06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3BD2FF-6552-E449-8E00-29397A8A1274}" type="datetimeFigureOut">
              <a:rPr lang="en-US" smtClean="0"/>
              <a:t>2/1/26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6A1C5-D3BF-6738-FB6D-F0923EAF87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33F83F-2309-347B-F4AF-3EBE7F1718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9203F1-F1B7-3744-8192-9716B68644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0806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4.png"/><Relationship Id="rId9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4.png"/><Relationship Id="rId9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18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svg"/><Relationship Id="rId17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sv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5" Type="http://schemas.openxmlformats.org/officeDocument/2006/relationships/image" Target="../media/image20.png"/><Relationship Id="rId10" Type="http://schemas.openxmlformats.org/officeDocument/2006/relationships/image" Target="../media/image15.sv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9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oup 64">
            <a:extLst>
              <a:ext uri="{FF2B5EF4-FFF2-40B4-BE49-F238E27FC236}">
                <a16:creationId xmlns:a16="http://schemas.microsoft.com/office/drawing/2014/main" id="{9E83FAD8-0C0A-2E3D-561E-CEC3EF0649B5}"/>
              </a:ext>
            </a:extLst>
          </p:cNvPr>
          <p:cNvGrpSpPr/>
          <p:nvPr/>
        </p:nvGrpSpPr>
        <p:grpSpPr>
          <a:xfrm>
            <a:off x="644760" y="1430296"/>
            <a:ext cx="10825222" cy="3527336"/>
            <a:chOff x="644760" y="1430296"/>
            <a:chExt cx="10825222" cy="3527336"/>
          </a:xfrm>
        </p:grpSpPr>
        <p:sp>
          <p:nvSpPr>
            <p:cNvPr id="51" name="Google Shape;1227;p96">
              <a:extLst>
                <a:ext uri="{FF2B5EF4-FFF2-40B4-BE49-F238E27FC236}">
                  <a16:creationId xmlns:a16="http://schemas.microsoft.com/office/drawing/2014/main" id="{F9192AB5-019E-53B9-55A3-8CEEA52C01DB}"/>
                </a:ext>
              </a:extLst>
            </p:cNvPr>
            <p:cNvSpPr/>
            <p:nvPr/>
          </p:nvSpPr>
          <p:spPr>
            <a:xfrm>
              <a:off x="6023418" y="2444156"/>
              <a:ext cx="1809144" cy="1767580"/>
            </a:xfrm>
            <a:prstGeom prst="leftUpArrow">
              <a:avLst>
                <a:gd name="adj1" fmla="val 9893"/>
                <a:gd name="adj2" fmla="val 10336"/>
                <a:gd name="adj3" fmla="val 11641"/>
              </a:avLst>
            </a:prstGeom>
            <a:solidFill>
              <a:srgbClr val="CCCCC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endParaRPr sz="1200" i="1" dirty="0"/>
            </a:p>
          </p:txBody>
        </p:sp>
        <p:sp>
          <p:nvSpPr>
            <p:cNvPr id="39" name="Google Shape;1220;p96">
              <a:extLst>
                <a:ext uri="{FF2B5EF4-FFF2-40B4-BE49-F238E27FC236}">
                  <a16:creationId xmlns:a16="http://schemas.microsoft.com/office/drawing/2014/main" id="{131C7FCF-73C6-843C-4A45-E6225BE9A093}"/>
                </a:ext>
              </a:extLst>
            </p:cNvPr>
            <p:cNvSpPr/>
            <p:nvPr/>
          </p:nvSpPr>
          <p:spPr>
            <a:xfrm>
              <a:off x="6694887" y="1997748"/>
              <a:ext cx="2171802" cy="627561"/>
            </a:xfrm>
            <a:prstGeom prst="rightArrow">
              <a:avLst>
                <a:gd name="adj1" fmla="val 50000"/>
                <a:gd name="adj2" fmla="val 56179"/>
              </a:avLst>
            </a:prstGeom>
            <a:solidFill>
              <a:srgbClr val="CCCCC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8" name="Google Shape;1227;p96">
              <a:extLst>
                <a:ext uri="{FF2B5EF4-FFF2-40B4-BE49-F238E27FC236}">
                  <a16:creationId xmlns:a16="http://schemas.microsoft.com/office/drawing/2014/main" id="{FA56297A-2DC9-E80B-9EF8-D9DEA1267F03}"/>
                </a:ext>
              </a:extLst>
            </p:cNvPr>
            <p:cNvSpPr/>
            <p:nvPr/>
          </p:nvSpPr>
          <p:spPr>
            <a:xfrm>
              <a:off x="5439353" y="2654314"/>
              <a:ext cx="774496" cy="1525765"/>
            </a:xfrm>
            <a:prstGeom prst="leftUpArrow">
              <a:avLst>
                <a:gd name="adj1" fmla="val 18061"/>
                <a:gd name="adj2" fmla="val 16462"/>
                <a:gd name="adj3" fmla="val 17767"/>
              </a:avLst>
            </a:prstGeom>
            <a:solidFill>
              <a:srgbClr val="CCCCC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endParaRPr sz="1200" i="1" dirty="0"/>
            </a:p>
          </p:txBody>
        </p:sp>
        <p:sp>
          <p:nvSpPr>
            <p:cNvPr id="36" name="Google Shape;1220;p96">
              <a:extLst>
                <a:ext uri="{FF2B5EF4-FFF2-40B4-BE49-F238E27FC236}">
                  <a16:creationId xmlns:a16="http://schemas.microsoft.com/office/drawing/2014/main" id="{F1AB593D-FB7D-9579-BA1E-45762125E8E8}"/>
                </a:ext>
              </a:extLst>
            </p:cNvPr>
            <p:cNvSpPr/>
            <p:nvPr/>
          </p:nvSpPr>
          <p:spPr>
            <a:xfrm>
              <a:off x="1680180" y="1989823"/>
              <a:ext cx="3937975" cy="627561"/>
            </a:xfrm>
            <a:prstGeom prst="rightArrow">
              <a:avLst>
                <a:gd name="adj1" fmla="val 50000"/>
                <a:gd name="adj2" fmla="val 56179"/>
              </a:avLst>
            </a:prstGeom>
            <a:solidFill>
              <a:srgbClr val="CCCCC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endParaRPr dirty="0"/>
            </a:p>
          </p:txBody>
        </p:sp>
        <p:grpSp>
          <p:nvGrpSpPr>
            <p:cNvPr id="2" name="Google Shape;1222;p96">
              <a:extLst>
                <a:ext uri="{FF2B5EF4-FFF2-40B4-BE49-F238E27FC236}">
                  <a16:creationId xmlns:a16="http://schemas.microsoft.com/office/drawing/2014/main" id="{D7479F11-2EAA-9ED5-25CD-B76010112F6E}"/>
                </a:ext>
              </a:extLst>
            </p:cNvPr>
            <p:cNvGrpSpPr/>
            <p:nvPr/>
          </p:nvGrpSpPr>
          <p:grpSpPr>
            <a:xfrm>
              <a:off x="5536305" y="1922698"/>
              <a:ext cx="1233898" cy="745958"/>
              <a:chOff x="2555051" y="1573606"/>
              <a:chExt cx="1150216" cy="695367"/>
            </a:xfrm>
          </p:grpSpPr>
          <p:sp>
            <p:nvSpPr>
              <p:cNvPr id="3" name="Google Shape;1223;p96">
                <a:extLst>
                  <a:ext uri="{FF2B5EF4-FFF2-40B4-BE49-F238E27FC236}">
                    <a16:creationId xmlns:a16="http://schemas.microsoft.com/office/drawing/2014/main" id="{A9EA69BA-534D-2CFB-A9F3-119BC473F449}"/>
                  </a:ext>
                </a:extLst>
              </p:cNvPr>
              <p:cNvSpPr/>
              <p:nvPr/>
            </p:nvSpPr>
            <p:spPr>
              <a:xfrm>
                <a:off x="2555051" y="1573606"/>
                <a:ext cx="1150216" cy="695367"/>
              </a:xfrm>
              <a:prstGeom prst="roundRect">
                <a:avLst>
                  <a:gd name="adj" fmla="val 13347"/>
                </a:avLst>
              </a:prstGeom>
              <a:solidFill>
                <a:srgbClr val="D9EAD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4" name="Google Shape;1224;p96">
                <a:extLst>
                  <a:ext uri="{FF2B5EF4-FFF2-40B4-BE49-F238E27FC236}">
                    <a16:creationId xmlns:a16="http://schemas.microsoft.com/office/drawing/2014/main" id="{02D0B153-8FB9-1FEA-9E0F-37D227B7D7E4}"/>
                  </a:ext>
                </a:extLst>
              </p:cNvPr>
              <p:cNvSpPr txBox="1"/>
              <p:nvPr/>
            </p:nvSpPr>
            <p:spPr>
              <a:xfrm>
                <a:off x="3073881" y="1718737"/>
                <a:ext cx="486950" cy="40162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1900" tIns="121900" rIns="121900" bIns="121900" anchor="t" anchorCtr="0">
                <a:spAutoFit/>
              </a:bodyPr>
              <a:lstStyle/>
              <a:p>
                <a:r>
                  <a:rPr lang="en-US" sz="1200" b="1" dirty="0">
                    <a:solidFill>
                      <a:schemeClr val="dk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LLM</a:t>
                </a:r>
                <a:endParaRPr sz="12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pic>
            <p:nvPicPr>
              <p:cNvPr id="5" name="Google Shape;1225;p96" descr="ChatGPT Logo and symbol, meaning, history, PNG, brand">
                <a:extLst>
                  <a:ext uri="{FF2B5EF4-FFF2-40B4-BE49-F238E27FC236}">
                    <a16:creationId xmlns:a16="http://schemas.microsoft.com/office/drawing/2014/main" id="{E4115A0D-2D7B-99AD-779D-E3E89EFB8E0A}"/>
                  </a:ext>
                </a:extLst>
              </p:cNvPr>
              <p:cNvPicPr preferRelativeResize="0"/>
              <p:nvPr/>
            </p:nvPicPr>
            <p:blipFill rotWithShape="1">
              <a:blip r:embed="rId2">
                <a:alphaModFix/>
              </a:blip>
              <a:srcRect l="25319" t="5918" r="25265" b="9292"/>
              <a:stretch/>
            </p:blipFill>
            <p:spPr>
              <a:xfrm>
                <a:off x="2631350" y="1684312"/>
                <a:ext cx="486950" cy="47047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7" name="Google Shape;1241;p96">
              <a:extLst>
                <a:ext uri="{FF2B5EF4-FFF2-40B4-BE49-F238E27FC236}">
                  <a16:creationId xmlns:a16="http://schemas.microsoft.com/office/drawing/2014/main" id="{A3AF7C90-2E69-B6AA-E287-CFBD9D297E99}"/>
                </a:ext>
              </a:extLst>
            </p:cNvPr>
            <p:cNvGrpSpPr/>
            <p:nvPr/>
          </p:nvGrpSpPr>
          <p:grpSpPr>
            <a:xfrm>
              <a:off x="5827441" y="3738538"/>
              <a:ext cx="555280" cy="554351"/>
              <a:chOff x="7540309" y="2735044"/>
              <a:chExt cx="517622" cy="516756"/>
            </a:xfrm>
          </p:grpSpPr>
          <p:sp>
            <p:nvSpPr>
              <p:cNvPr id="8" name="Google Shape;1242;p96">
                <a:extLst>
                  <a:ext uri="{FF2B5EF4-FFF2-40B4-BE49-F238E27FC236}">
                    <a16:creationId xmlns:a16="http://schemas.microsoft.com/office/drawing/2014/main" id="{6EBC36AC-45E2-6533-5FD1-E1894A38029F}"/>
                  </a:ext>
                </a:extLst>
              </p:cNvPr>
              <p:cNvSpPr/>
              <p:nvPr/>
            </p:nvSpPr>
            <p:spPr>
              <a:xfrm>
                <a:off x="7540309" y="2735044"/>
                <a:ext cx="517622" cy="516756"/>
              </a:xfrm>
              <a:prstGeom prst="roundRect">
                <a:avLst>
                  <a:gd name="adj" fmla="val 24855"/>
                </a:avLst>
              </a:prstGeom>
              <a:solidFill>
                <a:srgbClr val="BACAE6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ctr"/>
                <a:endParaRPr sz="1200" i="1"/>
              </a:p>
            </p:txBody>
          </p:sp>
          <p:pic>
            <p:nvPicPr>
              <p:cNvPr id="9" name="Google Shape;1243;p96" descr="59,432 Conversation Icons - Free in SVG, PNG, ICO - IconScout">
                <a:extLst>
                  <a:ext uri="{FF2B5EF4-FFF2-40B4-BE49-F238E27FC236}">
                    <a16:creationId xmlns:a16="http://schemas.microsoft.com/office/drawing/2014/main" id="{096E5D6F-CC68-DB81-4EC7-3938704D4538}"/>
                  </a:ext>
                </a:extLst>
              </p:cNvPr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7635963" y="2844651"/>
                <a:ext cx="331500" cy="3315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0" name="Google Shape;1233;p96">
              <a:extLst>
                <a:ext uri="{FF2B5EF4-FFF2-40B4-BE49-F238E27FC236}">
                  <a16:creationId xmlns:a16="http://schemas.microsoft.com/office/drawing/2014/main" id="{68A0F20D-4A52-4C29-5C39-1530F11D8BFB}"/>
                </a:ext>
              </a:extLst>
            </p:cNvPr>
            <p:cNvGrpSpPr/>
            <p:nvPr/>
          </p:nvGrpSpPr>
          <p:grpSpPr>
            <a:xfrm>
              <a:off x="3733034" y="3583897"/>
              <a:ext cx="1721126" cy="923641"/>
              <a:chOff x="7334399" y="3809869"/>
              <a:chExt cx="1604400" cy="860999"/>
            </a:xfrm>
          </p:grpSpPr>
          <p:sp>
            <p:nvSpPr>
              <p:cNvPr id="11" name="Google Shape;1234;p96">
                <a:extLst>
                  <a:ext uri="{FF2B5EF4-FFF2-40B4-BE49-F238E27FC236}">
                    <a16:creationId xmlns:a16="http://schemas.microsoft.com/office/drawing/2014/main" id="{A85E3388-9736-0922-D5D5-A4BEA5D151D1}"/>
                  </a:ext>
                </a:extLst>
              </p:cNvPr>
              <p:cNvSpPr/>
              <p:nvPr/>
            </p:nvSpPr>
            <p:spPr>
              <a:xfrm>
                <a:off x="7334399" y="3809869"/>
                <a:ext cx="1604400" cy="860999"/>
              </a:xfrm>
              <a:prstGeom prst="roundRect">
                <a:avLst>
                  <a:gd name="adj" fmla="val 13347"/>
                </a:avLst>
              </a:prstGeom>
              <a:solidFill>
                <a:schemeClr val="accent4">
                  <a:lumMod val="20000"/>
                  <a:lumOff val="80000"/>
                </a:schemeClr>
              </a:solidFill>
              <a:ln w="1905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ctr"/>
                <a:endParaRPr/>
              </a:p>
            </p:txBody>
          </p:sp>
          <p:pic>
            <p:nvPicPr>
              <p:cNvPr id="12" name="Google Shape;1235;p96" descr="Elder Icon #60510 - Free Icons Library">
                <a:extLst>
                  <a:ext uri="{FF2B5EF4-FFF2-40B4-BE49-F238E27FC236}">
                    <a16:creationId xmlns:a16="http://schemas.microsoft.com/office/drawing/2014/main" id="{C6AB2792-66BE-E1FC-754A-ED2C941027A5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bright="-44000" contrast="63000"/>
                        </a14:imgEffect>
                      </a14:imgLayer>
                    </a14:imgProps>
                  </a:ext>
                </a:extLst>
              </a:blip>
              <a:srcRect l="26258" t="15380" r="26700" b="15862"/>
              <a:stretch/>
            </p:blipFill>
            <p:spPr>
              <a:xfrm flipH="1">
                <a:off x="8472451" y="3954022"/>
                <a:ext cx="391828" cy="57269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3" name="Google Shape;1236;p96">
                <a:extLst>
                  <a:ext uri="{FF2B5EF4-FFF2-40B4-BE49-F238E27FC236}">
                    <a16:creationId xmlns:a16="http://schemas.microsoft.com/office/drawing/2014/main" id="{A9DBD257-811D-6DE8-0682-A0D4CD8352B9}"/>
                  </a:ext>
                </a:extLst>
              </p:cNvPr>
              <p:cNvSpPr txBox="1"/>
              <p:nvPr/>
            </p:nvSpPr>
            <p:spPr>
              <a:xfrm>
                <a:off x="7334400" y="3886275"/>
                <a:ext cx="1348500" cy="717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1900" tIns="121900" rIns="121900" bIns="121900" anchor="t" anchorCtr="0">
                <a:spAutoFit/>
              </a:bodyPr>
              <a:lstStyle/>
              <a:p>
                <a:pPr algn="ctr"/>
                <a:r>
                  <a:rPr lang="en" sz="1200" b="1" dirty="0">
                    <a:solidFill>
                      <a:schemeClr val="dk1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Virtual User</a:t>
                </a:r>
                <a:endParaRPr sz="1200" b="1" dirty="0">
                  <a:solidFill>
                    <a:schemeClr val="dk1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  <a:p>
                <a:pPr algn="ctr"/>
                <a:r>
                  <a:rPr lang="en" sz="1100" i="1" dirty="0">
                    <a:solidFill>
                      <a:srgbClr val="666666"/>
                    </a:solidFill>
                  </a:rPr>
                  <a:t>Fine-Tuned </a:t>
                </a:r>
                <a:br>
                  <a:rPr lang="en" sz="1100" i="1" dirty="0">
                    <a:solidFill>
                      <a:srgbClr val="666666"/>
                    </a:solidFill>
                  </a:rPr>
                </a:br>
                <a:r>
                  <a:rPr lang="en" sz="1100" i="1" dirty="0">
                    <a:solidFill>
                      <a:srgbClr val="666666"/>
                    </a:solidFill>
                  </a:rPr>
                  <a:t>LLM</a:t>
                </a:r>
                <a:endParaRPr sz="1100" i="1" dirty="0">
                  <a:solidFill>
                    <a:srgbClr val="666666"/>
                  </a:solidFill>
                </a:endParaRPr>
              </a:p>
            </p:txBody>
          </p:sp>
          <p:pic>
            <p:nvPicPr>
              <p:cNvPr id="14" name="Google Shape;1237;p96" descr="ChatGPT Logo and symbol, meaning, history, PNG, brand">
                <a:extLst>
                  <a:ext uri="{FF2B5EF4-FFF2-40B4-BE49-F238E27FC236}">
                    <a16:creationId xmlns:a16="http://schemas.microsoft.com/office/drawing/2014/main" id="{BF5905EF-61EB-47B7-189E-E6EEC91F953F}"/>
                  </a:ext>
                </a:extLst>
              </p:cNvPr>
              <p:cNvPicPr preferRelativeResize="0"/>
              <p:nvPr/>
            </p:nvPicPr>
            <p:blipFill rotWithShape="1">
              <a:blip r:embed="rId2">
                <a:alphaModFix/>
              </a:blip>
              <a:srcRect l="25319" t="5918" r="25265" b="9292"/>
              <a:stretch/>
            </p:blipFill>
            <p:spPr>
              <a:xfrm>
                <a:off x="7389125" y="4236412"/>
                <a:ext cx="256224" cy="24755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A02B33AF-F53A-22E3-D8B2-8F8FE8AE8BD5}"/>
                </a:ext>
              </a:extLst>
            </p:cNvPr>
            <p:cNvGrpSpPr/>
            <p:nvPr/>
          </p:nvGrpSpPr>
          <p:grpSpPr>
            <a:xfrm>
              <a:off x="6770203" y="3136864"/>
              <a:ext cx="1732025" cy="958145"/>
              <a:chOff x="6011919" y="2233342"/>
              <a:chExt cx="1732025" cy="958145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B7E2DA0E-F555-D395-D64B-643E1171590F}"/>
                  </a:ext>
                </a:extLst>
              </p:cNvPr>
              <p:cNvGrpSpPr/>
              <p:nvPr/>
            </p:nvGrpSpPr>
            <p:grpSpPr>
              <a:xfrm>
                <a:off x="6011919" y="2233342"/>
                <a:ext cx="1725967" cy="627895"/>
                <a:chOff x="3203732" y="2187585"/>
                <a:chExt cx="1725967" cy="627895"/>
              </a:xfrm>
            </p:grpSpPr>
            <p:sp>
              <p:nvSpPr>
                <p:cNvPr id="16" name="Google Shape;1098;p91">
                  <a:extLst>
                    <a:ext uri="{FF2B5EF4-FFF2-40B4-BE49-F238E27FC236}">
                      <a16:creationId xmlns:a16="http://schemas.microsoft.com/office/drawing/2014/main" id="{7CC58034-1DD9-CD76-B3C3-DFAFD2D66E87}"/>
                    </a:ext>
                  </a:extLst>
                </p:cNvPr>
                <p:cNvSpPr/>
                <p:nvPr/>
              </p:nvSpPr>
              <p:spPr>
                <a:xfrm>
                  <a:off x="3208572" y="2187585"/>
                  <a:ext cx="1721127" cy="302096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EAD1DC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algn="ctr"/>
                  <a:r>
                    <a:rPr lang="en" sz="1100" i="1" dirty="0"/>
                    <a:t>Reminiscence</a:t>
                  </a:r>
                  <a:endParaRPr sz="1100" i="1" dirty="0"/>
                </a:p>
              </p:txBody>
            </p:sp>
            <p:sp>
              <p:nvSpPr>
                <p:cNvPr id="17" name="Google Shape;1100;p91">
                  <a:extLst>
                    <a:ext uri="{FF2B5EF4-FFF2-40B4-BE49-F238E27FC236}">
                      <a16:creationId xmlns:a16="http://schemas.microsoft.com/office/drawing/2014/main" id="{5E39701B-E354-A4B5-C261-16C4C843523C}"/>
                    </a:ext>
                  </a:extLst>
                </p:cNvPr>
                <p:cNvSpPr/>
                <p:nvPr/>
              </p:nvSpPr>
              <p:spPr>
                <a:xfrm>
                  <a:off x="3203732" y="2513384"/>
                  <a:ext cx="1721127" cy="302096"/>
                </a:xfrm>
                <a:prstGeom prst="roundRect">
                  <a:avLst>
                    <a:gd name="adj" fmla="val 16667"/>
                  </a:avLst>
                </a:prstGeom>
                <a:solidFill>
                  <a:srgbClr val="EAD1DC"/>
                </a:solidFill>
                <a:ln>
                  <a:noFill/>
                </a:ln>
              </p:spPr>
              <p:txBody>
                <a:bodyPr spcFirstLastPara="1" wrap="square" lIns="121900" tIns="121900" rIns="121900" bIns="121900" anchor="ctr" anchorCtr="0">
                  <a:noAutofit/>
                </a:bodyPr>
                <a:lstStyle/>
                <a:p>
                  <a:pPr algn="ctr"/>
                  <a:r>
                    <a:rPr lang="en" sz="1100" i="1" dirty="0"/>
                    <a:t>Engagement</a:t>
                  </a:r>
                  <a:endParaRPr sz="1100" i="1" dirty="0"/>
                </a:p>
              </p:txBody>
            </p:sp>
          </p:grpSp>
          <p:sp>
            <p:nvSpPr>
              <p:cNvPr id="18" name="Google Shape;1100;p91">
                <a:extLst>
                  <a:ext uri="{FF2B5EF4-FFF2-40B4-BE49-F238E27FC236}">
                    <a16:creationId xmlns:a16="http://schemas.microsoft.com/office/drawing/2014/main" id="{0BB4A52A-E586-B1AE-FF99-C3BA461EBDAB}"/>
                  </a:ext>
                </a:extLst>
              </p:cNvPr>
              <p:cNvSpPr/>
              <p:nvPr/>
            </p:nvSpPr>
            <p:spPr>
              <a:xfrm>
                <a:off x="6022817" y="2889391"/>
                <a:ext cx="1721127" cy="302096"/>
              </a:xfrm>
              <a:prstGeom prst="roundRect">
                <a:avLst>
                  <a:gd name="adj" fmla="val 16667"/>
                </a:avLst>
              </a:prstGeom>
              <a:solidFill>
                <a:srgbClr val="EAD1DC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ctr"/>
                <a:r>
                  <a:rPr lang="en" sz="1100" i="1" dirty="0"/>
                  <a:t>Vocabulary</a:t>
                </a:r>
                <a:endParaRPr sz="1100" i="1" dirty="0"/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C5BB4F7-17AB-883A-DC64-99FE87C6D10D}"/>
                </a:ext>
              </a:extLst>
            </p:cNvPr>
            <p:cNvSpPr txBox="1"/>
            <p:nvPr/>
          </p:nvSpPr>
          <p:spPr>
            <a:xfrm>
              <a:off x="7259470" y="2799649"/>
              <a:ext cx="80182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Helvetica" pitchFamily="2" charset="0"/>
                </a:rPr>
                <a:t>Reward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38EA283-14C3-1D15-2045-A0226E8DBAB9}"/>
                </a:ext>
              </a:extLst>
            </p:cNvPr>
            <p:cNvSpPr txBox="1"/>
            <p:nvPr/>
          </p:nvSpPr>
          <p:spPr>
            <a:xfrm>
              <a:off x="7340701" y="2148356"/>
              <a:ext cx="58522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Helvetica" pitchFamily="2" charset="0"/>
                </a:rPr>
                <a:t>Train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271835D0-3755-0422-0C50-1CE1789CF99E}"/>
                </a:ext>
              </a:extLst>
            </p:cNvPr>
            <p:cNvSpPr/>
            <p:nvPr/>
          </p:nvSpPr>
          <p:spPr>
            <a:xfrm>
              <a:off x="644760" y="1730948"/>
              <a:ext cx="2795060" cy="2880742"/>
            </a:xfrm>
            <a:prstGeom prst="roundRect">
              <a:avLst>
                <a:gd name="adj" fmla="val 7032"/>
              </a:avLst>
            </a:prstGeom>
            <a:noFill/>
            <a:ln>
              <a:solidFill>
                <a:schemeClr val="bg2">
                  <a:lumMod val="50000"/>
                </a:schemeClr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3" name="Google Shape;1227;p96">
              <a:extLst>
                <a:ext uri="{FF2B5EF4-FFF2-40B4-BE49-F238E27FC236}">
                  <a16:creationId xmlns:a16="http://schemas.microsoft.com/office/drawing/2014/main" id="{7997AF66-DACF-ED45-4FF6-D486FE563D2A}"/>
                </a:ext>
              </a:extLst>
            </p:cNvPr>
            <p:cNvSpPr/>
            <p:nvPr/>
          </p:nvSpPr>
          <p:spPr>
            <a:xfrm>
              <a:off x="2423118" y="3198255"/>
              <a:ext cx="774496" cy="1000737"/>
            </a:xfrm>
            <a:prstGeom prst="leftUpArrow">
              <a:avLst>
                <a:gd name="adj1" fmla="val 18061"/>
                <a:gd name="adj2" fmla="val 16462"/>
                <a:gd name="adj3" fmla="val 17767"/>
              </a:avLst>
            </a:prstGeom>
            <a:solidFill>
              <a:srgbClr val="CCCCC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endParaRPr sz="1200" i="1" dirty="0"/>
            </a:p>
          </p:txBody>
        </p:sp>
        <p:sp>
          <p:nvSpPr>
            <p:cNvPr id="24" name="Google Shape;1221;p96">
              <a:extLst>
                <a:ext uri="{FF2B5EF4-FFF2-40B4-BE49-F238E27FC236}">
                  <a16:creationId xmlns:a16="http://schemas.microsoft.com/office/drawing/2014/main" id="{8FCB5FB8-E31C-5628-A957-8AFBCAA05477}"/>
                </a:ext>
              </a:extLst>
            </p:cNvPr>
            <p:cNvSpPr/>
            <p:nvPr/>
          </p:nvSpPr>
          <p:spPr>
            <a:xfrm>
              <a:off x="711209" y="1785661"/>
              <a:ext cx="1059399" cy="1036602"/>
            </a:xfrm>
            <a:prstGeom prst="roundRect">
              <a:avLst>
                <a:gd name="adj" fmla="val 16667"/>
              </a:avLst>
            </a:prstGeom>
            <a:solidFill>
              <a:srgbClr val="EAD1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r>
                <a:rPr lang="en" sz="1400" i="1" dirty="0">
                  <a:solidFill>
                    <a:schemeClr val="dk1"/>
                  </a:solidFill>
                </a:rPr>
                <a:t>Clinical Protocol</a:t>
              </a:r>
              <a:endParaRPr dirty="0"/>
            </a:p>
          </p:txBody>
        </p:sp>
        <p:sp>
          <p:nvSpPr>
            <p:cNvPr id="25" name="Google Shape;1228;p96">
              <a:extLst>
                <a:ext uri="{FF2B5EF4-FFF2-40B4-BE49-F238E27FC236}">
                  <a16:creationId xmlns:a16="http://schemas.microsoft.com/office/drawing/2014/main" id="{3D83EA3B-FBA2-1FD6-8B49-8F7B57ECB3CF}"/>
                </a:ext>
              </a:extLst>
            </p:cNvPr>
            <p:cNvSpPr/>
            <p:nvPr/>
          </p:nvSpPr>
          <p:spPr>
            <a:xfrm>
              <a:off x="3058995" y="3850720"/>
              <a:ext cx="691810" cy="407210"/>
            </a:xfrm>
            <a:prstGeom prst="rightArrow">
              <a:avLst>
                <a:gd name="adj1" fmla="val 69303"/>
                <a:gd name="adj2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endParaRPr/>
            </a:p>
          </p:txBody>
        </p:sp>
        <p:grpSp>
          <p:nvGrpSpPr>
            <p:cNvPr id="26" name="Google Shape;1229;p96">
              <a:extLst>
                <a:ext uri="{FF2B5EF4-FFF2-40B4-BE49-F238E27FC236}">
                  <a16:creationId xmlns:a16="http://schemas.microsoft.com/office/drawing/2014/main" id="{4344639A-DDCC-91E3-FEBF-A03C70CF2475}"/>
                </a:ext>
              </a:extLst>
            </p:cNvPr>
            <p:cNvGrpSpPr/>
            <p:nvPr/>
          </p:nvGrpSpPr>
          <p:grpSpPr>
            <a:xfrm>
              <a:off x="722552" y="3592504"/>
              <a:ext cx="1721126" cy="923642"/>
              <a:chOff x="7467525" y="3346425"/>
              <a:chExt cx="1604400" cy="861001"/>
            </a:xfrm>
          </p:grpSpPr>
          <p:sp>
            <p:nvSpPr>
              <p:cNvPr id="27" name="Google Shape;1230;p96">
                <a:extLst>
                  <a:ext uri="{FF2B5EF4-FFF2-40B4-BE49-F238E27FC236}">
                    <a16:creationId xmlns:a16="http://schemas.microsoft.com/office/drawing/2014/main" id="{480E7EC8-916A-2806-38B2-8C1226279248}"/>
                  </a:ext>
                </a:extLst>
              </p:cNvPr>
              <p:cNvSpPr/>
              <p:nvPr/>
            </p:nvSpPr>
            <p:spPr>
              <a:xfrm>
                <a:off x="7467525" y="3346425"/>
                <a:ext cx="1604400" cy="861001"/>
              </a:xfrm>
              <a:prstGeom prst="roundRect">
                <a:avLst>
                  <a:gd name="adj" fmla="val 13347"/>
                </a:avLst>
              </a:prstGeom>
              <a:solidFill>
                <a:srgbClr val="EFEFEF"/>
              </a:solidFill>
              <a:ln w="1905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ctr"/>
                <a:endParaRPr/>
              </a:p>
            </p:txBody>
          </p:sp>
          <p:pic>
            <p:nvPicPr>
              <p:cNvPr id="28" name="Google Shape;1231;p96" descr="Elder Icon #60510 - Free Icons Library">
                <a:extLst>
                  <a:ext uri="{FF2B5EF4-FFF2-40B4-BE49-F238E27FC236}">
                    <a16:creationId xmlns:a16="http://schemas.microsoft.com/office/drawing/2014/main" id="{66935B42-5326-CAB0-810F-DF6446DF6662}"/>
                  </a:ext>
                </a:extLst>
              </p:cNvPr>
              <p:cNvPicPr preferRelativeResize="0"/>
              <p:nvPr/>
            </p:nvPicPr>
            <p:blipFill rotWithShape="1">
              <a:blip r:embed="rId6">
                <a:alphaModFix/>
              </a:blip>
              <a:srcRect l="26258" t="15380" r="26700" b="15862"/>
              <a:stretch/>
            </p:blipFill>
            <p:spPr>
              <a:xfrm flipH="1">
                <a:off x="8472450" y="3474701"/>
                <a:ext cx="410400" cy="599818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9" name="Google Shape;1232;p96">
                <a:extLst>
                  <a:ext uri="{FF2B5EF4-FFF2-40B4-BE49-F238E27FC236}">
                    <a16:creationId xmlns:a16="http://schemas.microsoft.com/office/drawing/2014/main" id="{3171D230-FA1A-6BDF-0A59-83F089C7BF14}"/>
                  </a:ext>
                </a:extLst>
              </p:cNvPr>
              <p:cNvSpPr txBox="1"/>
              <p:nvPr/>
            </p:nvSpPr>
            <p:spPr>
              <a:xfrm>
                <a:off x="7579607" y="3409685"/>
                <a:ext cx="780600" cy="7459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1900" tIns="121900" rIns="121900" bIns="121900" anchor="t" anchorCtr="0">
                <a:spAutoFit/>
              </a:bodyPr>
              <a:lstStyle/>
              <a:p>
                <a:pPr algn="ctr"/>
                <a:r>
                  <a:rPr lang="en" sz="1200" b="1" dirty="0">
                    <a:solidFill>
                      <a:schemeClr val="dk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MCI/NC Older Users</a:t>
                </a:r>
                <a:endParaRPr sz="12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2523C96-932D-B29B-11EC-804CB86A7C02}"/>
                </a:ext>
              </a:extLst>
            </p:cNvPr>
            <p:cNvSpPr txBox="1"/>
            <p:nvPr/>
          </p:nvSpPr>
          <p:spPr>
            <a:xfrm>
              <a:off x="1146948" y="1438625"/>
              <a:ext cx="179068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/>
                <a:t>I-CONECT Clinical Trial</a:t>
              </a:r>
            </a:p>
          </p:txBody>
        </p:sp>
        <p:sp>
          <p:nvSpPr>
            <p:cNvPr id="31" name="Google Shape;1221;p96">
              <a:extLst>
                <a:ext uri="{FF2B5EF4-FFF2-40B4-BE49-F238E27FC236}">
                  <a16:creationId xmlns:a16="http://schemas.microsoft.com/office/drawing/2014/main" id="{4D5FD4F8-A415-6CF5-39EC-11EE7408BC48}"/>
                </a:ext>
              </a:extLst>
            </p:cNvPr>
            <p:cNvSpPr/>
            <p:nvPr/>
          </p:nvSpPr>
          <p:spPr>
            <a:xfrm>
              <a:off x="1919034" y="2605017"/>
              <a:ext cx="1417539" cy="649029"/>
            </a:xfrm>
            <a:prstGeom prst="roundRect">
              <a:avLst>
                <a:gd name="adj" fmla="val 16667"/>
              </a:avLst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r>
                <a:rPr lang="en" sz="1200" b="1" dirty="0">
                  <a:solidFill>
                    <a:schemeClr val="dk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Trained Interviewers</a:t>
              </a:r>
              <a:endParaRPr sz="16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2" name="Bent Arrow 31">
              <a:extLst>
                <a:ext uri="{FF2B5EF4-FFF2-40B4-BE49-F238E27FC236}">
                  <a16:creationId xmlns:a16="http://schemas.microsoft.com/office/drawing/2014/main" id="{5C765BDE-6854-F71B-5BC2-67E8093109E5}"/>
                </a:ext>
              </a:extLst>
            </p:cNvPr>
            <p:cNvSpPr/>
            <p:nvPr/>
          </p:nvSpPr>
          <p:spPr>
            <a:xfrm rot="5400000">
              <a:off x="2297669" y="1858402"/>
              <a:ext cx="437432" cy="1026236"/>
            </a:xfrm>
            <a:prstGeom prst="bentArrow">
              <a:avLst>
                <a:gd name="adj1" fmla="val 71263"/>
                <a:gd name="adj2" fmla="val 50000"/>
                <a:gd name="adj3" fmla="val 22589"/>
                <a:gd name="adj4" fmla="val 63034"/>
              </a:avLst>
            </a:prstGeom>
            <a:gradFill flip="none" rotWithShape="1">
              <a:gsLst>
                <a:gs pos="78000">
                  <a:srgbClr val="BBCFAD"/>
                </a:gs>
                <a:gs pos="0">
                  <a:srgbClr val="CCCCCC"/>
                </a:gs>
                <a:gs pos="100000">
                  <a:schemeClr val="accent6">
                    <a:lumMod val="60000"/>
                    <a:lumOff val="40000"/>
                  </a:schemeClr>
                </a:gs>
              </a:gsLst>
              <a:lin ang="192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grpSp>
          <p:nvGrpSpPr>
            <p:cNvPr id="33" name="Google Shape;1241;p96">
              <a:extLst>
                <a:ext uri="{FF2B5EF4-FFF2-40B4-BE49-F238E27FC236}">
                  <a16:creationId xmlns:a16="http://schemas.microsoft.com/office/drawing/2014/main" id="{BF92C47C-B59D-2293-7A92-DF8438CB2403}"/>
                </a:ext>
              </a:extLst>
            </p:cNvPr>
            <p:cNvGrpSpPr/>
            <p:nvPr/>
          </p:nvGrpSpPr>
          <p:grpSpPr>
            <a:xfrm>
              <a:off x="2736892" y="3777150"/>
              <a:ext cx="555280" cy="554351"/>
              <a:chOff x="7540309" y="2735044"/>
              <a:chExt cx="517622" cy="516756"/>
            </a:xfrm>
          </p:grpSpPr>
          <p:sp>
            <p:nvSpPr>
              <p:cNvPr id="34" name="Google Shape;1242;p96">
                <a:extLst>
                  <a:ext uri="{FF2B5EF4-FFF2-40B4-BE49-F238E27FC236}">
                    <a16:creationId xmlns:a16="http://schemas.microsoft.com/office/drawing/2014/main" id="{7699848C-5172-F0CC-2BA2-556F030AF315}"/>
                  </a:ext>
                </a:extLst>
              </p:cNvPr>
              <p:cNvSpPr/>
              <p:nvPr/>
            </p:nvSpPr>
            <p:spPr>
              <a:xfrm>
                <a:off x="7540309" y="2735044"/>
                <a:ext cx="517622" cy="516756"/>
              </a:xfrm>
              <a:prstGeom prst="roundRect">
                <a:avLst>
                  <a:gd name="adj" fmla="val 24855"/>
                </a:avLst>
              </a:prstGeom>
              <a:solidFill>
                <a:srgbClr val="BACAE6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ctr"/>
                <a:endParaRPr sz="1200" i="1"/>
              </a:p>
            </p:txBody>
          </p:sp>
          <p:pic>
            <p:nvPicPr>
              <p:cNvPr id="35" name="Google Shape;1243;p96" descr="59,432 Conversation Icons - Free in SVG, PNG, ICO - IconScout">
                <a:extLst>
                  <a:ext uri="{FF2B5EF4-FFF2-40B4-BE49-F238E27FC236}">
                    <a16:creationId xmlns:a16="http://schemas.microsoft.com/office/drawing/2014/main" id="{D6C873AA-3B44-8C99-7DA6-7D375724315F}"/>
                  </a:ext>
                </a:extLst>
              </p:cNvPr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7635963" y="2844651"/>
                <a:ext cx="331500" cy="3315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0" name="Google Shape;1222;p96">
              <a:extLst>
                <a:ext uri="{FF2B5EF4-FFF2-40B4-BE49-F238E27FC236}">
                  <a16:creationId xmlns:a16="http://schemas.microsoft.com/office/drawing/2014/main" id="{D1FD2034-6DD6-26A4-6250-D26008634A43}"/>
                </a:ext>
              </a:extLst>
            </p:cNvPr>
            <p:cNvGrpSpPr/>
            <p:nvPr/>
          </p:nvGrpSpPr>
          <p:grpSpPr>
            <a:xfrm>
              <a:off x="8737479" y="1938549"/>
              <a:ext cx="1233898" cy="745958"/>
              <a:chOff x="2555051" y="1573606"/>
              <a:chExt cx="1150216" cy="695367"/>
            </a:xfrm>
          </p:grpSpPr>
          <p:sp>
            <p:nvSpPr>
              <p:cNvPr id="41" name="Google Shape;1223;p96">
                <a:extLst>
                  <a:ext uri="{FF2B5EF4-FFF2-40B4-BE49-F238E27FC236}">
                    <a16:creationId xmlns:a16="http://schemas.microsoft.com/office/drawing/2014/main" id="{85E36EBB-ADDB-6AE4-7529-C10C762326C9}"/>
                  </a:ext>
                </a:extLst>
              </p:cNvPr>
              <p:cNvSpPr/>
              <p:nvPr/>
            </p:nvSpPr>
            <p:spPr>
              <a:xfrm>
                <a:off x="2555051" y="1573606"/>
                <a:ext cx="1150216" cy="695367"/>
              </a:xfrm>
              <a:prstGeom prst="roundRect">
                <a:avLst>
                  <a:gd name="adj" fmla="val 13347"/>
                </a:avLst>
              </a:prstGeom>
              <a:solidFill>
                <a:srgbClr val="D9EAD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42" name="Google Shape;1224;p96">
                <a:extLst>
                  <a:ext uri="{FF2B5EF4-FFF2-40B4-BE49-F238E27FC236}">
                    <a16:creationId xmlns:a16="http://schemas.microsoft.com/office/drawing/2014/main" id="{3910B091-47C4-7026-ACF8-A00B779B9E5B}"/>
                  </a:ext>
                </a:extLst>
              </p:cNvPr>
              <p:cNvSpPr txBox="1"/>
              <p:nvPr/>
            </p:nvSpPr>
            <p:spPr>
              <a:xfrm>
                <a:off x="3073881" y="1718737"/>
                <a:ext cx="486950" cy="40162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1900" tIns="121900" rIns="121900" bIns="121900" anchor="t" anchorCtr="0">
                <a:spAutoFit/>
              </a:bodyPr>
              <a:lstStyle/>
              <a:p>
                <a:r>
                  <a:rPr lang="en-US" sz="1200" b="1" dirty="0">
                    <a:solidFill>
                      <a:schemeClr val="dk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LLM</a:t>
                </a:r>
                <a:endParaRPr sz="12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pic>
            <p:nvPicPr>
              <p:cNvPr id="43" name="Google Shape;1225;p96" descr="ChatGPT Logo and symbol, meaning, history, PNG, brand">
                <a:extLst>
                  <a:ext uri="{FF2B5EF4-FFF2-40B4-BE49-F238E27FC236}">
                    <a16:creationId xmlns:a16="http://schemas.microsoft.com/office/drawing/2014/main" id="{35BBD5AA-A267-9775-C6D8-DEFE4443893F}"/>
                  </a:ext>
                </a:extLst>
              </p:cNvPr>
              <p:cNvPicPr preferRelativeResize="0"/>
              <p:nvPr/>
            </p:nvPicPr>
            <p:blipFill rotWithShape="1">
              <a:blip r:embed="rId2">
                <a:alphaModFix/>
              </a:blip>
              <a:srcRect l="25319" t="5918" r="25265" b="9292"/>
              <a:stretch/>
            </p:blipFill>
            <p:spPr>
              <a:xfrm>
                <a:off x="2631350" y="1684312"/>
                <a:ext cx="486950" cy="47047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1895E52C-12C7-19F2-62D6-A9906DA92364}"/>
                </a:ext>
              </a:extLst>
            </p:cNvPr>
            <p:cNvSpPr/>
            <p:nvPr/>
          </p:nvSpPr>
          <p:spPr>
            <a:xfrm>
              <a:off x="9046263" y="3205982"/>
              <a:ext cx="1721128" cy="1300165"/>
            </a:xfrm>
            <a:prstGeom prst="roundRect">
              <a:avLst>
                <a:gd name="adj" fmla="val 9249"/>
              </a:avLst>
            </a:prstGeom>
            <a:blipFill>
              <a:blip r:embed="rId7"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46" name="Google Shape;1222;p96">
              <a:extLst>
                <a:ext uri="{FF2B5EF4-FFF2-40B4-BE49-F238E27FC236}">
                  <a16:creationId xmlns:a16="http://schemas.microsoft.com/office/drawing/2014/main" id="{97C3EE9B-7AD8-3E56-299B-85DBED912789}"/>
                </a:ext>
              </a:extLst>
            </p:cNvPr>
            <p:cNvGrpSpPr/>
            <p:nvPr/>
          </p:nvGrpSpPr>
          <p:grpSpPr>
            <a:xfrm>
              <a:off x="8724756" y="2743706"/>
              <a:ext cx="1363864" cy="810970"/>
              <a:chOff x="2555051" y="1573606"/>
              <a:chExt cx="1271368" cy="755970"/>
            </a:xfrm>
          </p:grpSpPr>
          <p:sp>
            <p:nvSpPr>
              <p:cNvPr id="47" name="Google Shape;1223;p96">
                <a:extLst>
                  <a:ext uri="{FF2B5EF4-FFF2-40B4-BE49-F238E27FC236}">
                    <a16:creationId xmlns:a16="http://schemas.microsoft.com/office/drawing/2014/main" id="{F188A3ED-9C4D-D286-7917-A0DF47EC88AD}"/>
                  </a:ext>
                </a:extLst>
              </p:cNvPr>
              <p:cNvSpPr/>
              <p:nvPr/>
            </p:nvSpPr>
            <p:spPr>
              <a:xfrm>
                <a:off x="2555051" y="1573606"/>
                <a:ext cx="1150216" cy="695367"/>
              </a:xfrm>
              <a:prstGeom prst="roundRect">
                <a:avLst>
                  <a:gd name="adj" fmla="val 13347"/>
                </a:avLst>
              </a:prstGeom>
              <a:solidFill>
                <a:srgbClr val="D9EAD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48" name="Google Shape;1224;p96">
                <a:extLst>
                  <a:ext uri="{FF2B5EF4-FFF2-40B4-BE49-F238E27FC236}">
                    <a16:creationId xmlns:a16="http://schemas.microsoft.com/office/drawing/2014/main" id="{D6C96916-D90C-DD62-D26C-4288C5DFBCFD}"/>
                  </a:ext>
                </a:extLst>
              </p:cNvPr>
              <p:cNvSpPr txBox="1"/>
              <p:nvPr/>
            </p:nvSpPr>
            <p:spPr>
              <a:xfrm>
                <a:off x="2566911" y="1583665"/>
                <a:ext cx="1259508" cy="74591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1900" tIns="121900" rIns="121900" bIns="121900" anchor="t" anchorCtr="0">
                <a:spAutoFit/>
              </a:bodyPr>
              <a:lstStyle/>
              <a:p>
                <a:r>
                  <a:rPr lang="en-US" sz="1200" b="1" dirty="0">
                    <a:solidFill>
                      <a:schemeClr val="dk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Real-time Voice Interface</a:t>
                </a:r>
                <a:endParaRPr sz="12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6F521EF2-C017-047F-957B-AE9396F6115C}"/>
                </a:ext>
              </a:extLst>
            </p:cNvPr>
            <p:cNvSpPr txBox="1"/>
            <p:nvPr/>
          </p:nvSpPr>
          <p:spPr>
            <a:xfrm>
              <a:off x="8924777" y="4680633"/>
              <a:ext cx="230224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/>
                <a:t>(4) Device and Interface</a:t>
              </a:r>
            </a:p>
          </p:txBody>
        </p:sp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8BB4E272-A825-F7F1-743D-B651679EBCC9}"/>
                </a:ext>
              </a:extLst>
            </p:cNvPr>
            <p:cNvSpPr/>
            <p:nvPr/>
          </p:nvSpPr>
          <p:spPr>
            <a:xfrm>
              <a:off x="5374218" y="1752676"/>
              <a:ext cx="2733590" cy="1360485"/>
            </a:xfrm>
            <a:prstGeom prst="roundRect">
              <a:avLst>
                <a:gd name="adj" fmla="val 7032"/>
              </a:avLst>
            </a:prstGeom>
            <a:noFill/>
            <a:ln>
              <a:solidFill>
                <a:schemeClr val="bg2">
                  <a:lumMod val="50000"/>
                </a:schemeClr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grpSp>
          <p:nvGrpSpPr>
            <p:cNvPr id="53" name="Google Shape;1222;p96">
              <a:extLst>
                <a:ext uri="{FF2B5EF4-FFF2-40B4-BE49-F238E27FC236}">
                  <a16:creationId xmlns:a16="http://schemas.microsoft.com/office/drawing/2014/main" id="{888DBDC1-5F0A-0380-24EE-F0D8A27894EA}"/>
                </a:ext>
              </a:extLst>
            </p:cNvPr>
            <p:cNvGrpSpPr/>
            <p:nvPr/>
          </p:nvGrpSpPr>
          <p:grpSpPr>
            <a:xfrm>
              <a:off x="10106118" y="1932736"/>
              <a:ext cx="1363864" cy="745958"/>
              <a:chOff x="2555051" y="1573606"/>
              <a:chExt cx="1271368" cy="695367"/>
            </a:xfrm>
          </p:grpSpPr>
          <p:sp>
            <p:nvSpPr>
              <p:cNvPr id="54" name="Google Shape;1223;p96">
                <a:extLst>
                  <a:ext uri="{FF2B5EF4-FFF2-40B4-BE49-F238E27FC236}">
                    <a16:creationId xmlns:a16="http://schemas.microsoft.com/office/drawing/2014/main" id="{E6C6B588-07EA-3FB4-32D2-C0B02DBD5A3C}"/>
                  </a:ext>
                </a:extLst>
              </p:cNvPr>
              <p:cNvSpPr/>
              <p:nvPr/>
            </p:nvSpPr>
            <p:spPr>
              <a:xfrm>
                <a:off x="2555051" y="1573606"/>
                <a:ext cx="1150216" cy="695367"/>
              </a:xfrm>
              <a:prstGeom prst="roundRect">
                <a:avLst>
                  <a:gd name="adj" fmla="val 13347"/>
                </a:avLst>
              </a:prstGeom>
              <a:solidFill>
                <a:srgbClr val="D9EAD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55" name="Google Shape;1224;p96">
                <a:extLst>
                  <a:ext uri="{FF2B5EF4-FFF2-40B4-BE49-F238E27FC236}">
                    <a16:creationId xmlns:a16="http://schemas.microsoft.com/office/drawing/2014/main" id="{BD551089-7F60-9965-16F6-8077E257EDE0}"/>
                  </a:ext>
                </a:extLst>
              </p:cNvPr>
              <p:cNvSpPr txBox="1"/>
              <p:nvPr/>
            </p:nvSpPr>
            <p:spPr>
              <a:xfrm>
                <a:off x="2566911" y="1583665"/>
                <a:ext cx="1259508" cy="57376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1900" tIns="121900" rIns="121900" bIns="121900" anchor="t" anchorCtr="0">
                <a:spAutoFit/>
              </a:bodyPr>
              <a:lstStyle/>
              <a:p>
                <a:r>
                  <a:rPr lang="en-US" sz="1200" b="1" dirty="0">
                    <a:solidFill>
                      <a:schemeClr val="dk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(3)Safety Monitoring</a:t>
                </a:r>
                <a:endParaRPr sz="12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E35ABB30-AAED-B483-E50B-C5E788D87CF6}"/>
                </a:ext>
              </a:extLst>
            </p:cNvPr>
            <p:cNvSpPr txBox="1"/>
            <p:nvPr/>
          </p:nvSpPr>
          <p:spPr>
            <a:xfrm>
              <a:off x="5164853" y="1430296"/>
              <a:ext cx="306006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/>
                <a:t>(1) Optimizing AI for Protocol Compliance</a:t>
              </a:r>
            </a:p>
          </p:txBody>
        </p:sp>
        <p:sp>
          <p:nvSpPr>
            <p:cNvPr id="57" name="Rounded Rectangle 56">
              <a:extLst>
                <a:ext uri="{FF2B5EF4-FFF2-40B4-BE49-F238E27FC236}">
                  <a16:creationId xmlns:a16="http://schemas.microsoft.com/office/drawing/2014/main" id="{64451E6F-94FB-AA90-1627-B4183D0454EA}"/>
                </a:ext>
              </a:extLst>
            </p:cNvPr>
            <p:cNvSpPr/>
            <p:nvPr/>
          </p:nvSpPr>
          <p:spPr>
            <a:xfrm>
              <a:off x="3581475" y="3417197"/>
              <a:ext cx="2955302" cy="1194494"/>
            </a:xfrm>
            <a:prstGeom prst="roundRect">
              <a:avLst>
                <a:gd name="adj" fmla="val 7032"/>
              </a:avLst>
            </a:prstGeom>
            <a:noFill/>
            <a:ln>
              <a:solidFill>
                <a:schemeClr val="bg2">
                  <a:lumMod val="50000"/>
                </a:schemeClr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EEC25F97-842E-C32F-DCFC-06E13D9A6BB3}"/>
                </a:ext>
              </a:extLst>
            </p:cNvPr>
            <p:cNvSpPr txBox="1"/>
            <p:nvPr/>
          </p:nvSpPr>
          <p:spPr>
            <a:xfrm>
              <a:off x="3921507" y="4664062"/>
              <a:ext cx="227523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/>
                <a:t>(2) Simulate Human Feedback</a:t>
              </a:r>
            </a:p>
          </p:txBody>
        </p:sp>
        <p:sp>
          <p:nvSpPr>
            <p:cNvPr id="59" name="Rounded Rectangle 58">
              <a:extLst>
                <a:ext uri="{FF2B5EF4-FFF2-40B4-BE49-F238E27FC236}">
                  <a16:creationId xmlns:a16="http://schemas.microsoft.com/office/drawing/2014/main" id="{1E3AFF53-8A8C-3A20-01C5-AAEA40436C32}"/>
                </a:ext>
              </a:extLst>
            </p:cNvPr>
            <p:cNvSpPr/>
            <p:nvPr/>
          </p:nvSpPr>
          <p:spPr>
            <a:xfrm>
              <a:off x="8615622" y="2673442"/>
              <a:ext cx="2724394" cy="1938248"/>
            </a:xfrm>
            <a:prstGeom prst="roundRect">
              <a:avLst>
                <a:gd name="adj" fmla="val 7032"/>
              </a:avLst>
            </a:prstGeom>
            <a:noFill/>
            <a:ln>
              <a:solidFill>
                <a:schemeClr val="bg2">
                  <a:lumMod val="50000"/>
                </a:schemeClr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grpSp>
          <p:nvGrpSpPr>
            <p:cNvPr id="62" name="Google Shape;1222;p96">
              <a:extLst>
                <a:ext uri="{FF2B5EF4-FFF2-40B4-BE49-F238E27FC236}">
                  <a16:creationId xmlns:a16="http://schemas.microsoft.com/office/drawing/2014/main" id="{CDBD4815-D341-9D9B-E836-24367A015746}"/>
                </a:ext>
              </a:extLst>
            </p:cNvPr>
            <p:cNvGrpSpPr/>
            <p:nvPr/>
          </p:nvGrpSpPr>
          <p:grpSpPr>
            <a:xfrm>
              <a:off x="10092951" y="2752080"/>
              <a:ext cx="1363864" cy="810970"/>
              <a:chOff x="2555051" y="1573606"/>
              <a:chExt cx="1271368" cy="755970"/>
            </a:xfrm>
          </p:grpSpPr>
          <p:sp>
            <p:nvSpPr>
              <p:cNvPr id="63" name="Google Shape;1223;p96">
                <a:extLst>
                  <a:ext uri="{FF2B5EF4-FFF2-40B4-BE49-F238E27FC236}">
                    <a16:creationId xmlns:a16="http://schemas.microsoft.com/office/drawing/2014/main" id="{9FC3B026-C564-5C04-D56D-35DDBBB662DA}"/>
                  </a:ext>
                </a:extLst>
              </p:cNvPr>
              <p:cNvSpPr/>
              <p:nvPr/>
            </p:nvSpPr>
            <p:spPr>
              <a:xfrm>
                <a:off x="2555051" y="1573606"/>
                <a:ext cx="1150216" cy="695367"/>
              </a:xfrm>
              <a:prstGeom prst="roundRect">
                <a:avLst>
                  <a:gd name="adj" fmla="val 13347"/>
                </a:avLst>
              </a:prstGeom>
              <a:solidFill>
                <a:srgbClr val="D9EAD3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64" name="Google Shape;1224;p96">
                <a:extLst>
                  <a:ext uri="{FF2B5EF4-FFF2-40B4-BE49-F238E27FC236}">
                    <a16:creationId xmlns:a16="http://schemas.microsoft.com/office/drawing/2014/main" id="{0EE30477-C140-71F6-603F-F471896C982B}"/>
                  </a:ext>
                </a:extLst>
              </p:cNvPr>
              <p:cNvSpPr txBox="1"/>
              <p:nvPr/>
            </p:nvSpPr>
            <p:spPr>
              <a:xfrm>
                <a:off x="2566911" y="1583665"/>
                <a:ext cx="1259508" cy="74591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121900" tIns="121900" rIns="121900" bIns="121900" anchor="t" anchorCtr="0">
                <a:spAutoFit/>
              </a:bodyPr>
              <a:lstStyle/>
              <a:p>
                <a:r>
                  <a:rPr lang="en-US" sz="1200" b="1" dirty="0">
                    <a:solidFill>
                      <a:schemeClr val="dk1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Emotion Responsive Robot</a:t>
                </a:r>
                <a:endParaRPr sz="12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B07FA84A-0B77-1DCE-4F2A-D4D56CBEDE2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EFEFE"/>
                </a:clrFrom>
                <a:clrTo>
                  <a:srgbClr val="FEFEFE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0331616" y="3205982"/>
              <a:ext cx="1066800" cy="1397000"/>
            </a:xfrm>
            <a:prstGeom prst="rect">
              <a:avLst/>
            </a:prstGeom>
          </p:spPr>
        </p:pic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70EBC511-13E8-AB85-17A8-AAC842CB2D17}"/>
              </a:ext>
            </a:extLst>
          </p:cNvPr>
          <p:cNvSpPr txBox="1"/>
          <p:nvPr/>
        </p:nvSpPr>
        <p:spPr>
          <a:xfrm>
            <a:off x="3837189" y="2181904"/>
            <a:ext cx="7713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Helvetica" pitchFamily="2" charset="0"/>
              </a:rPr>
              <a:t>Instruct</a:t>
            </a:r>
          </a:p>
        </p:txBody>
      </p:sp>
    </p:spTree>
    <p:extLst>
      <p:ext uri="{BB962C8B-B14F-4D97-AF65-F5344CB8AC3E}">
        <p14:creationId xmlns:p14="http://schemas.microsoft.com/office/powerpoint/2010/main" val="2580058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76035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218;p96">
            <a:extLst>
              <a:ext uri="{FF2B5EF4-FFF2-40B4-BE49-F238E27FC236}">
                <a16:creationId xmlns:a16="http://schemas.microsoft.com/office/drawing/2014/main" id="{0E6AFC3A-6ECB-C382-3C05-2D234C1974FE}"/>
              </a:ext>
            </a:extLst>
          </p:cNvPr>
          <p:cNvSpPr/>
          <p:nvPr/>
        </p:nvSpPr>
        <p:spPr>
          <a:xfrm>
            <a:off x="2791836" y="940972"/>
            <a:ext cx="8399633" cy="2000371"/>
          </a:xfrm>
          <a:prstGeom prst="rightArrow">
            <a:avLst>
              <a:gd name="adj1" fmla="val 69303"/>
              <a:gd name="adj2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2400"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33A6ACB5-45FA-BA9F-4A53-8776AE49961E}"/>
              </a:ext>
            </a:extLst>
          </p:cNvPr>
          <p:cNvSpPr/>
          <p:nvPr/>
        </p:nvSpPr>
        <p:spPr>
          <a:xfrm>
            <a:off x="5922880" y="1374235"/>
            <a:ext cx="3587619" cy="2880742"/>
          </a:xfrm>
          <a:prstGeom prst="roundRect">
            <a:avLst>
              <a:gd name="adj" fmla="val 7032"/>
            </a:avLst>
          </a:prstGeom>
          <a:noFill/>
          <a:ln>
            <a:solidFill>
              <a:schemeClr val="bg2">
                <a:lumMod val="50000"/>
              </a:schemeClr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397961F6-0A02-D165-7BF0-908430C3CA9E}"/>
              </a:ext>
            </a:extLst>
          </p:cNvPr>
          <p:cNvSpPr/>
          <p:nvPr/>
        </p:nvSpPr>
        <p:spPr>
          <a:xfrm>
            <a:off x="2984919" y="1374235"/>
            <a:ext cx="2795060" cy="2880742"/>
          </a:xfrm>
          <a:prstGeom prst="roundRect">
            <a:avLst>
              <a:gd name="adj" fmla="val 7032"/>
            </a:avLst>
          </a:prstGeom>
          <a:noFill/>
          <a:ln>
            <a:solidFill>
              <a:schemeClr val="bg2">
                <a:lumMod val="50000"/>
              </a:schemeClr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29" name="Google Shape;1227;p96">
            <a:extLst>
              <a:ext uri="{FF2B5EF4-FFF2-40B4-BE49-F238E27FC236}">
                <a16:creationId xmlns:a16="http://schemas.microsoft.com/office/drawing/2014/main" id="{1553B58D-02A2-7F87-55C7-5C5B98102FBE}"/>
              </a:ext>
            </a:extLst>
          </p:cNvPr>
          <p:cNvSpPr/>
          <p:nvPr/>
        </p:nvSpPr>
        <p:spPr>
          <a:xfrm>
            <a:off x="4763277" y="2841542"/>
            <a:ext cx="774496" cy="1000737"/>
          </a:xfrm>
          <a:prstGeom prst="leftUpArrow">
            <a:avLst>
              <a:gd name="adj1" fmla="val 18061"/>
              <a:gd name="adj2" fmla="val 16462"/>
              <a:gd name="adj3" fmla="val 17767"/>
            </a:avLst>
          </a:prstGeom>
          <a:solidFill>
            <a:srgbClr val="CCCCC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1200" i="1" dirty="0"/>
          </a:p>
        </p:txBody>
      </p:sp>
      <p:sp>
        <p:nvSpPr>
          <p:cNvPr id="12" name="Google Shape;1227;p96">
            <a:extLst>
              <a:ext uri="{FF2B5EF4-FFF2-40B4-BE49-F238E27FC236}">
                <a16:creationId xmlns:a16="http://schemas.microsoft.com/office/drawing/2014/main" id="{6D7D9406-0115-BD16-907E-FF6150195D23}"/>
              </a:ext>
            </a:extLst>
          </p:cNvPr>
          <p:cNvSpPr/>
          <p:nvPr/>
        </p:nvSpPr>
        <p:spPr>
          <a:xfrm>
            <a:off x="7657945" y="2422487"/>
            <a:ext cx="2295672" cy="1400433"/>
          </a:xfrm>
          <a:prstGeom prst="leftUpArrow">
            <a:avLst>
              <a:gd name="adj1" fmla="val 7499"/>
              <a:gd name="adj2" fmla="val 7668"/>
              <a:gd name="adj3" fmla="val 10850"/>
            </a:avLst>
          </a:prstGeom>
          <a:solidFill>
            <a:srgbClr val="CCCCC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1200" i="1" dirty="0"/>
          </a:p>
        </p:txBody>
      </p:sp>
      <p:sp>
        <p:nvSpPr>
          <p:cNvPr id="5" name="Google Shape;1220;p96">
            <a:extLst>
              <a:ext uri="{FF2B5EF4-FFF2-40B4-BE49-F238E27FC236}">
                <a16:creationId xmlns:a16="http://schemas.microsoft.com/office/drawing/2014/main" id="{50144DE5-64B5-4F70-AADB-E5E945F88BAB}"/>
              </a:ext>
            </a:extLst>
          </p:cNvPr>
          <p:cNvSpPr/>
          <p:nvPr/>
        </p:nvSpPr>
        <p:spPr>
          <a:xfrm>
            <a:off x="3927898" y="1640285"/>
            <a:ext cx="5685280" cy="627561"/>
          </a:xfrm>
          <a:prstGeom prst="rightArrow">
            <a:avLst>
              <a:gd name="adj1" fmla="val 50000"/>
              <a:gd name="adj2" fmla="val 56179"/>
            </a:avLst>
          </a:prstGeom>
          <a:solidFill>
            <a:srgbClr val="CCCCC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/>
          </a:p>
        </p:txBody>
      </p:sp>
      <p:sp>
        <p:nvSpPr>
          <p:cNvPr id="6" name="Google Shape;1221;p96">
            <a:extLst>
              <a:ext uri="{FF2B5EF4-FFF2-40B4-BE49-F238E27FC236}">
                <a16:creationId xmlns:a16="http://schemas.microsoft.com/office/drawing/2014/main" id="{3A52E3EA-3E52-7806-CC71-22E91ADFFEB1}"/>
              </a:ext>
            </a:extLst>
          </p:cNvPr>
          <p:cNvSpPr/>
          <p:nvPr/>
        </p:nvSpPr>
        <p:spPr>
          <a:xfrm>
            <a:off x="3051368" y="1428948"/>
            <a:ext cx="1059399" cy="1036602"/>
          </a:xfrm>
          <a:prstGeom prst="roundRect">
            <a:avLst>
              <a:gd name="adj" fmla="val 16667"/>
            </a:avLst>
          </a:prstGeom>
          <a:solidFill>
            <a:srgbClr val="EAD1D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400" i="1" dirty="0">
                <a:solidFill>
                  <a:schemeClr val="dk1"/>
                </a:solidFill>
              </a:rPr>
              <a:t>Clinical Protocol</a:t>
            </a:r>
            <a:endParaRPr dirty="0"/>
          </a:p>
        </p:txBody>
      </p:sp>
      <p:grpSp>
        <p:nvGrpSpPr>
          <p:cNvPr id="7" name="Google Shape;1222;p96">
            <a:extLst>
              <a:ext uri="{FF2B5EF4-FFF2-40B4-BE49-F238E27FC236}">
                <a16:creationId xmlns:a16="http://schemas.microsoft.com/office/drawing/2014/main" id="{2ADAAFF5-6BBC-314A-84AB-33E9D20FD9C1}"/>
              </a:ext>
            </a:extLst>
          </p:cNvPr>
          <p:cNvGrpSpPr/>
          <p:nvPr/>
        </p:nvGrpSpPr>
        <p:grpSpPr>
          <a:xfrm>
            <a:off x="9570460" y="1428948"/>
            <a:ext cx="2229400" cy="1036602"/>
            <a:chOff x="2555051" y="1436400"/>
            <a:chExt cx="2078203" cy="966300"/>
          </a:xfrm>
        </p:grpSpPr>
        <p:sp>
          <p:nvSpPr>
            <p:cNvPr id="8" name="Google Shape;1223;p96">
              <a:extLst>
                <a:ext uri="{FF2B5EF4-FFF2-40B4-BE49-F238E27FC236}">
                  <a16:creationId xmlns:a16="http://schemas.microsoft.com/office/drawing/2014/main" id="{6834937C-1DD4-3AC0-D025-20134BD8E868}"/>
                </a:ext>
              </a:extLst>
            </p:cNvPr>
            <p:cNvSpPr/>
            <p:nvPr/>
          </p:nvSpPr>
          <p:spPr>
            <a:xfrm>
              <a:off x="2555051" y="1436400"/>
              <a:ext cx="2078203" cy="966300"/>
            </a:xfrm>
            <a:prstGeom prst="roundRect">
              <a:avLst>
                <a:gd name="adj" fmla="val 13347"/>
              </a:avLst>
            </a:prstGeom>
            <a:solidFill>
              <a:srgbClr val="D9EA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9" name="Google Shape;1224;p96">
              <a:extLst>
                <a:ext uri="{FF2B5EF4-FFF2-40B4-BE49-F238E27FC236}">
                  <a16:creationId xmlns:a16="http://schemas.microsoft.com/office/drawing/2014/main" id="{7A4C9C9B-C6B6-BBC5-E156-2A79A5B09170}"/>
                </a:ext>
              </a:extLst>
            </p:cNvPr>
            <p:cNvSpPr txBox="1"/>
            <p:nvPr/>
          </p:nvSpPr>
          <p:spPr>
            <a:xfrm>
              <a:off x="3073881" y="1718737"/>
              <a:ext cx="850270" cy="40162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spAutoFit/>
            </a:bodyPr>
            <a:lstStyle/>
            <a:p>
              <a:r>
                <a:rPr lang="en-US" sz="1200" b="1" dirty="0">
                  <a:solidFill>
                    <a:schemeClr val="dk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LLM +</a:t>
              </a:r>
              <a:endParaRPr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10" name="Google Shape;1225;p96" descr="ChatGPT Logo and symbol, meaning, history, PNG, brand">
              <a:extLst>
                <a:ext uri="{FF2B5EF4-FFF2-40B4-BE49-F238E27FC236}">
                  <a16:creationId xmlns:a16="http://schemas.microsoft.com/office/drawing/2014/main" id="{62EF4399-BE25-46F3-6550-AB4CC2906C20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 l="25319" t="5918" r="25265" b="9292"/>
            <a:stretch/>
          </p:blipFill>
          <p:spPr>
            <a:xfrm>
              <a:off x="2631350" y="1684312"/>
              <a:ext cx="486950" cy="47047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" name="Google Shape;1226;p96">
              <a:extLst>
                <a:ext uri="{FF2B5EF4-FFF2-40B4-BE49-F238E27FC236}">
                  <a16:creationId xmlns:a16="http://schemas.microsoft.com/office/drawing/2014/main" id="{B72F8065-72CE-7907-B502-EB238826B716}"/>
                </a:ext>
              </a:extLst>
            </p:cNvPr>
            <p:cNvSpPr/>
            <p:nvPr/>
          </p:nvSpPr>
          <p:spPr>
            <a:xfrm>
              <a:off x="3727274" y="1546500"/>
              <a:ext cx="826500" cy="746100"/>
            </a:xfrm>
            <a:prstGeom prst="roundRect">
              <a:avLst>
                <a:gd name="adj" fmla="val 9290"/>
              </a:avLst>
            </a:prstGeom>
            <a:solidFill>
              <a:srgbClr val="6AA84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r>
                <a:rPr lang="en" sz="1200" b="1" i="1" dirty="0"/>
                <a:t>Prompt Design</a:t>
              </a:r>
              <a:endParaRPr sz="1100" b="1" i="1" dirty="0"/>
            </a:p>
          </p:txBody>
        </p:sp>
      </p:grpSp>
      <p:sp>
        <p:nvSpPr>
          <p:cNvPr id="13" name="Google Shape;1228;p96">
            <a:extLst>
              <a:ext uri="{FF2B5EF4-FFF2-40B4-BE49-F238E27FC236}">
                <a16:creationId xmlns:a16="http://schemas.microsoft.com/office/drawing/2014/main" id="{2817423E-85AC-F894-B736-8E59BBED4A54}"/>
              </a:ext>
            </a:extLst>
          </p:cNvPr>
          <p:cNvSpPr/>
          <p:nvPr/>
        </p:nvSpPr>
        <p:spPr>
          <a:xfrm>
            <a:off x="5399154" y="3494007"/>
            <a:ext cx="691810" cy="407210"/>
          </a:xfrm>
          <a:prstGeom prst="rightArrow">
            <a:avLst>
              <a:gd name="adj1" fmla="val 69303"/>
              <a:gd name="adj2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/>
          </a:p>
        </p:txBody>
      </p:sp>
      <p:grpSp>
        <p:nvGrpSpPr>
          <p:cNvPr id="14" name="Google Shape;1229;p96">
            <a:extLst>
              <a:ext uri="{FF2B5EF4-FFF2-40B4-BE49-F238E27FC236}">
                <a16:creationId xmlns:a16="http://schemas.microsoft.com/office/drawing/2014/main" id="{B9D9C3CB-62BD-48DC-99CE-F0F8053DC4E5}"/>
              </a:ext>
            </a:extLst>
          </p:cNvPr>
          <p:cNvGrpSpPr/>
          <p:nvPr/>
        </p:nvGrpSpPr>
        <p:grpSpPr>
          <a:xfrm>
            <a:off x="3062711" y="3235791"/>
            <a:ext cx="1721126" cy="923642"/>
            <a:chOff x="7467525" y="3346425"/>
            <a:chExt cx="1604400" cy="861001"/>
          </a:xfrm>
        </p:grpSpPr>
        <p:sp>
          <p:nvSpPr>
            <p:cNvPr id="15" name="Google Shape;1230;p96">
              <a:extLst>
                <a:ext uri="{FF2B5EF4-FFF2-40B4-BE49-F238E27FC236}">
                  <a16:creationId xmlns:a16="http://schemas.microsoft.com/office/drawing/2014/main" id="{98A23F26-9F44-84C0-27A8-2C55E10F7322}"/>
                </a:ext>
              </a:extLst>
            </p:cNvPr>
            <p:cNvSpPr/>
            <p:nvPr/>
          </p:nvSpPr>
          <p:spPr>
            <a:xfrm>
              <a:off x="7467525" y="3346425"/>
              <a:ext cx="1604400" cy="861001"/>
            </a:xfrm>
            <a:prstGeom prst="roundRect">
              <a:avLst>
                <a:gd name="adj" fmla="val 13347"/>
              </a:avLst>
            </a:prstGeom>
            <a:solidFill>
              <a:srgbClr val="EFEFEF"/>
            </a:solidFill>
            <a:ln w="19050" cap="flat" cmpd="sng">
              <a:solidFill>
                <a:srgbClr val="43434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endParaRPr/>
            </a:p>
          </p:txBody>
        </p:sp>
        <p:pic>
          <p:nvPicPr>
            <p:cNvPr id="16" name="Google Shape;1231;p96" descr="Elder Icon #60510 - Free Icons Library">
              <a:extLst>
                <a:ext uri="{FF2B5EF4-FFF2-40B4-BE49-F238E27FC236}">
                  <a16:creationId xmlns:a16="http://schemas.microsoft.com/office/drawing/2014/main" id="{C5A5681F-7CD7-2E72-9D0E-E660C3FA9335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 l="26258" t="15380" r="26700" b="15862"/>
            <a:stretch/>
          </p:blipFill>
          <p:spPr>
            <a:xfrm flipH="1">
              <a:off x="8472450" y="3474701"/>
              <a:ext cx="410400" cy="59981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" name="Google Shape;1232;p96">
              <a:extLst>
                <a:ext uri="{FF2B5EF4-FFF2-40B4-BE49-F238E27FC236}">
                  <a16:creationId xmlns:a16="http://schemas.microsoft.com/office/drawing/2014/main" id="{1F8476B5-8470-9150-74D4-8EE7AA6473B9}"/>
                </a:ext>
              </a:extLst>
            </p:cNvPr>
            <p:cNvSpPr txBox="1"/>
            <p:nvPr/>
          </p:nvSpPr>
          <p:spPr>
            <a:xfrm>
              <a:off x="7579607" y="3409685"/>
              <a:ext cx="780600" cy="7459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spAutoFit/>
            </a:bodyPr>
            <a:lstStyle/>
            <a:p>
              <a:pPr algn="ctr"/>
              <a:r>
                <a:rPr lang="en" sz="1200" b="1" dirty="0">
                  <a:solidFill>
                    <a:schemeClr val="dk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MCI/NC Older Users</a:t>
              </a:r>
              <a:endParaRPr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8" name="Google Shape;1233;p96">
            <a:extLst>
              <a:ext uri="{FF2B5EF4-FFF2-40B4-BE49-F238E27FC236}">
                <a16:creationId xmlns:a16="http://schemas.microsoft.com/office/drawing/2014/main" id="{A796B1E2-DF79-2805-B6CF-33F669D3D0B5}"/>
              </a:ext>
            </a:extLst>
          </p:cNvPr>
          <p:cNvGrpSpPr/>
          <p:nvPr/>
        </p:nvGrpSpPr>
        <p:grpSpPr>
          <a:xfrm>
            <a:off x="6016760" y="3235792"/>
            <a:ext cx="1721126" cy="923641"/>
            <a:chOff x="7334399" y="3809869"/>
            <a:chExt cx="1604400" cy="860999"/>
          </a:xfrm>
        </p:grpSpPr>
        <p:sp>
          <p:nvSpPr>
            <p:cNvPr id="19" name="Google Shape;1234;p96">
              <a:extLst>
                <a:ext uri="{FF2B5EF4-FFF2-40B4-BE49-F238E27FC236}">
                  <a16:creationId xmlns:a16="http://schemas.microsoft.com/office/drawing/2014/main" id="{6E1C08A7-3B52-110D-048A-CCA5CF625573}"/>
                </a:ext>
              </a:extLst>
            </p:cNvPr>
            <p:cNvSpPr/>
            <p:nvPr/>
          </p:nvSpPr>
          <p:spPr>
            <a:xfrm>
              <a:off x="7334399" y="3809869"/>
              <a:ext cx="1604400" cy="860999"/>
            </a:xfrm>
            <a:prstGeom prst="roundRect">
              <a:avLst>
                <a:gd name="adj" fmla="val 13347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>
              <a:solidFill>
                <a:srgbClr val="43434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endParaRPr/>
            </a:p>
          </p:txBody>
        </p:sp>
        <p:pic>
          <p:nvPicPr>
            <p:cNvPr id="20" name="Google Shape;1235;p96" descr="Elder Icon #60510 - Free Icons Library">
              <a:extLst>
                <a:ext uri="{FF2B5EF4-FFF2-40B4-BE49-F238E27FC236}">
                  <a16:creationId xmlns:a16="http://schemas.microsoft.com/office/drawing/2014/main" id="{D4526B6E-7417-A06C-63E8-710064D4F775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-44000" contrast="63000"/>
                      </a14:imgEffect>
                    </a14:imgLayer>
                  </a14:imgProps>
                </a:ext>
              </a:extLst>
            </a:blip>
            <a:srcRect l="26258" t="15380" r="26700" b="15862"/>
            <a:stretch/>
          </p:blipFill>
          <p:spPr>
            <a:xfrm flipH="1">
              <a:off x="8472451" y="3954022"/>
              <a:ext cx="391828" cy="57269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1" name="Google Shape;1236;p96">
              <a:extLst>
                <a:ext uri="{FF2B5EF4-FFF2-40B4-BE49-F238E27FC236}">
                  <a16:creationId xmlns:a16="http://schemas.microsoft.com/office/drawing/2014/main" id="{FA8BE449-8D24-62A6-8B14-A323731166A8}"/>
                </a:ext>
              </a:extLst>
            </p:cNvPr>
            <p:cNvSpPr txBox="1"/>
            <p:nvPr/>
          </p:nvSpPr>
          <p:spPr>
            <a:xfrm>
              <a:off x="7334400" y="3886275"/>
              <a:ext cx="1348500" cy="717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spAutoFit/>
            </a:bodyPr>
            <a:lstStyle/>
            <a:p>
              <a:pPr algn="ctr"/>
              <a:r>
                <a:rPr lang="en" sz="1200" b="1" dirty="0">
                  <a:solidFill>
                    <a:schemeClr val="dk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Virtual User</a:t>
              </a:r>
              <a:endParaRPr sz="1200" b="1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algn="ctr"/>
              <a:r>
                <a:rPr lang="en" sz="1100" i="1" dirty="0">
                  <a:solidFill>
                    <a:srgbClr val="666666"/>
                  </a:solidFill>
                </a:rPr>
                <a:t>Fine-Tuned </a:t>
              </a:r>
              <a:br>
                <a:rPr lang="en" sz="1100" i="1" dirty="0">
                  <a:solidFill>
                    <a:srgbClr val="666666"/>
                  </a:solidFill>
                </a:rPr>
              </a:br>
              <a:r>
                <a:rPr lang="en" sz="1100" i="1" dirty="0">
                  <a:solidFill>
                    <a:srgbClr val="666666"/>
                  </a:solidFill>
                </a:rPr>
                <a:t>LLM</a:t>
              </a:r>
              <a:endParaRPr sz="1100" i="1" dirty="0">
                <a:solidFill>
                  <a:srgbClr val="666666"/>
                </a:solidFill>
              </a:endParaRPr>
            </a:p>
          </p:txBody>
        </p:sp>
        <p:pic>
          <p:nvPicPr>
            <p:cNvPr id="22" name="Google Shape;1237;p96" descr="ChatGPT Logo and symbol, meaning, history, PNG, brand">
              <a:extLst>
                <a:ext uri="{FF2B5EF4-FFF2-40B4-BE49-F238E27FC236}">
                  <a16:creationId xmlns:a16="http://schemas.microsoft.com/office/drawing/2014/main" id="{4255B2BA-BF4A-DA83-3C87-26E0E8FF837B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 l="25319" t="5918" r="25265" b="9292"/>
            <a:stretch/>
          </p:blipFill>
          <p:spPr>
            <a:xfrm>
              <a:off x="7389125" y="4236412"/>
              <a:ext cx="256224" cy="24755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3" name="Google Shape;1238;p96">
            <a:extLst>
              <a:ext uri="{FF2B5EF4-FFF2-40B4-BE49-F238E27FC236}">
                <a16:creationId xmlns:a16="http://schemas.microsoft.com/office/drawing/2014/main" id="{B00BC776-4D60-FB50-C25C-68B7F3000699}"/>
              </a:ext>
            </a:extLst>
          </p:cNvPr>
          <p:cNvSpPr/>
          <p:nvPr/>
        </p:nvSpPr>
        <p:spPr>
          <a:xfrm rot="16200000">
            <a:off x="8317631" y="2857743"/>
            <a:ext cx="617005" cy="508381"/>
          </a:xfrm>
          <a:prstGeom prst="rightArrow">
            <a:avLst>
              <a:gd name="adj1" fmla="val 50000"/>
              <a:gd name="adj2" fmla="val 50000"/>
            </a:avLst>
          </a:prstGeom>
          <a:gradFill>
            <a:gsLst>
              <a:gs pos="0">
                <a:srgbClr val="BACAE6"/>
              </a:gs>
              <a:gs pos="80000">
                <a:srgbClr val="D1BAC4"/>
              </a:gs>
              <a:gs pos="100000">
                <a:srgbClr val="D1BAC4"/>
              </a:gs>
            </a:gsLst>
            <a:lin ang="0" scaled="0"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CEFBE1-9E7E-12C7-5998-13735A861911}"/>
              </a:ext>
            </a:extLst>
          </p:cNvPr>
          <p:cNvSpPr txBox="1"/>
          <p:nvPr/>
        </p:nvSpPr>
        <p:spPr>
          <a:xfrm>
            <a:off x="3487107" y="958716"/>
            <a:ext cx="17906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/>
              <a:t>I-CONECT Clinical Trial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244CDE1-5EF5-2003-8F63-4F1A38F5BB06}"/>
              </a:ext>
            </a:extLst>
          </p:cNvPr>
          <p:cNvSpPr txBox="1"/>
          <p:nvPr/>
        </p:nvSpPr>
        <p:spPr>
          <a:xfrm>
            <a:off x="7018951" y="960802"/>
            <a:ext cx="14237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/>
              <a:t>Virtual Evaluation</a:t>
            </a:r>
          </a:p>
        </p:txBody>
      </p:sp>
      <p:grpSp>
        <p:nvGrpSpPr>
          <p:cNvPr id="42" name="Google Shape;1241;p96">
            <a:extLst>
              <a:ext uri="{FF2B5EF4-FFF2-40B4-BE49-F238E27FC236}">
                <a16:creationId xmlns:a16="http://schemas.microsoft.com/office/drawing/2014/main" id="{85401D3A-D52D-75B1-04AA-45BFD504B974}"/>
              </a:ext>
            </a:extLst>
          </p:cNvPr>
          <p:cNvGrpSpPr/>
          <p:nvPr/>
        </p:nvGrpSpPr>
        <p:grpSpPr>
          <a:xfrm>
            <a:off x="7864004" y="3375884"/>
            <a:ext cx="1557585" cy="643457"/>
            <a:chOff x="7440902" y="2657451"/>
            <a:chExt cx="1451951" cy="599819"/>
          </a:xfrm>
        </p:grpSpPr>
        <p:sp>
          <p:nvSpPr>
            <p:cNvPr id="43" name="Google Shape;1242;p96">
              <a:extLst>
                <a:ext uri="{FF2B5EF4-FFF2-40B4-BE49-F238E27FC236}">
                  <a16:creationId xmlns:a16="http://schemas.microsoft.com/office/drawing/2014/main" id="{14B4A960-10AB-9740-1DDD-9F1F313F14DE}"/>
                </a:ext>
              </a:extLst>
            </p:cNvPr>
            <p:cNvSpPr/>
            <p:nvPr/>
          </p:nvSpPr>
          <p:spPr>
            <a:xfrm>
              <a:off x="7440902" y="2657451"/>
              <a:ext cx="1391401" cy="599819"/>
            </a:xfrm>
            <a:prstGeom prst="roundRect">
              <a:avLst>
                <a:gd name="adj" fmla="val 13347"/>
              </a:avLst>
            </a:prstGeom>
            <a:solidFill>
              <a:srgbClr val="BACAE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endParaRPr sz="1200" i="1"/>
            </a:p>
          </p:txBody>
        </p:sp>
        <p:pic>
          <p:nvPicPr>
            <p:cNvPr id="44" name="Google Shape;1243;p96" descr="59,432 Conversation Icons - Free in SVG, PNG, ICO - IconScout">
              <a:extLst>
                <a:ext uri="{FF2B5EF4-FFF2-40B4-BE49-F238E27FC236}">
                  <a16:creationId xmlns:a16="http://schemas.microsoft.com/office/drawing/2014/main" id="{C0636101-5CEA-DDF5-B414-CA91157E5B86}"/>
                </a:ext>
              </a:extLst>
            </p:cNvPr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7575181" y="2825164"/>
              <a:ext cx="331500" cy="331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5" name="Google Shape;1244;p96">
              <a:extLst>
                <a:ext uri="{FF2B5EF4-FFF2-40B4-BE49-F238E27FC236}">
                  <a16:creationId xmlns:a16="http://schemas.microsoft.com/office/drawing/2014/main" id="{1ED1628B-B773-F191-80AA-1A81B7A46986}"/>
                </a:ext>
              </a:extLst>
            </p:cNvPr>
            <p:cNvSpPr txBox="1"/>
            <p:nvPr/>
          </p:nvSpPr>
          <p:spPr>
            <a:xfrm>
              <a:off x="7792870" y="2687150"/>
              <a:ext cx="1099983" cy="54507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spAutoFit/>
            </a:bodyPr>
            <a:lstStyle/>
            <a:p>
              <a:pPr algn="ctr"/>
              <a:r>
                <a:rPr lang="en-US" sz="1100" i="1" dirty="0">
                  <a:solidFill>
                    <a:schemeClr val="dk1"/>
                  </a:solidFill>
                </a:rPr>
                <a:t>Virtual Conversation</a:t>
              </a:r>
            </a:p>
          </p:txBody>
        </p:sp>
      </p:grpSp>
      <p:pic>
        <p:nvPicPr>
          <p:cNvPr id="4" name="Google Shape;1219;p96" descr="Doctor, female doctor, lady doctor, physician, professional icon - Download  on Iconfinder">
            <a:extLst>
              <a:ext uri="{FF2B5EF4-FFF2-40B4-BE49-F238E27FC236}">
                <a16:creationId xmlns:a16="http://schemas.microsoft.com/office/drawing/2014/main" id="{E0E16BFC-80FF-98B3-0B78-8E9B24373488}"/>
              </a:ext>
            </a:extLst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362017" y="781632"/>
            <a:ext cx="383931" cy="38393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221;p96">
            <a:extLst>
              <a:ext uri="{FF2B5EF4-FFF2-40B4-BE49-F238E27FC236}">
                <a16:creationId xmlns:a16="http://schemas.microsoft.com/office/drawing/2014/main" id="{A5C110ED-1F09-BC30-76BB-11C2F312008C}"/>
              </a:ext>
            </a:extLst>
          </p:cNvPr>
          <p:cNvSpPr/>
          <p:nvPr/>
        </p:nvSpPr>
        <p:spPr>
          <a:xfrm>
            <a:off x="4259193" y="2248304"/>
            <a:ext cx="1417539" cy="649029"/>
          </a:xfrm>
          <a:prstGeom prst="roundRect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200" b="1" dirty="0">
                <a:solidFill>
                  <a:schemeClr val="dk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Trained Interviewers</a:t>
            </a:r>
            <a:endParaRPr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17C6191-8690-6E64-FDE9-BAC00AB6E550}"/>
              </a:ext>
            </a:extLst>
          </p:cNvPr>
          <p:cNvGrpSpPr/>
          <p:nvPr/>
        </p:nvGrpSpPr>
        <p:grpSpPr>
          <a:xfrm>
            <a:off x="6011919" y="2233342"/>
            <a:ext cx="1725967" cy="627895"/>
            <a:chOff x="3203732" y="2187585"/>
            <a:chExt cx="1725967" cy="627895"/>
          </a:xfrm>
        </p:grpSpPr>
        <p:sp>
          <p:nvSpPr>
            <p:cNvPr id="31" name="Google Shape;1098;p91">
              <a:extLst>
                <a:ext uri="{FF2B5EF4-FFF2-40B4-BE49-F238E27FC236}">
                  <a16:creationId xmlns:a16="http://schemas.microsoft.com/office/drawing/2014/main" id="{0BD32037-BE09-647A-4E51-E7976947B857}"/>
                </a:ext>
              </a:extLst>
            </p:cNvPr>
            <p:cNvSpPr/>
            <p:nvPr/>
          </p:nvSpPr>
          <p:spPr>
            <a:xfrm>
              <a:off x="3208572" y="2187585"/>
              <a:ext cx="1721127" cy="302096"/>
            </a:xfrm>
            <a:prstGeom prst="roundRect">
              <a:avLst>
                <a:gd name="adj" fmla="val 16667"/>
              </a:avLst>
            </a:prstGeom>
            <a:solidFill>
              <a:srgbClr val="EAD1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r>
                <a:rPr lang="en" sz="1100" i="1" dirty="0"/>
                <a:t>Reminiscence</a:t>
              </a:r>
              <a:endParaRPr sz="1100" i="1" dirty="0"/>
            </a:p>
          </p:txBody>
        </p:sp>
        <p:sp>
          <p:nvSpPr>
            <p:cNvPr id="36" name="Google Shape;1100;p91">
              <a:extLst>
                <a:ext uri="{FF2B5EF4-FFF2-40B4-BE49-F238E27FC236}">
                  <a16:creationId xmlns:a16="http://schemas.microsoft.com/office/drawing/2014/main" id="{82B1E694-E84B-1EEA-DEEF-DE3DAC3C925C}"/>
                </a:ext>
              </a:extLst>
            </p:cNvPr>
            <p:cNvSpPr/>
            <p:nvPr/>
          </p:nvSpPr>
          <p:spPr>
            <a:xfrm>
              <a:off x="3203732" y="2513384"/>
              <a:ext cx="1721127" cy="302096"/>
            </a:xfrm>
            <a:prstGeom prst="roundRect">
              <a:avLst>
                <a:gd name="adj" fmla="val 16667"/>
              </a:avLst>
            </a:prstGeom>
            <a:solidFill>
              <a:srgbClr val="EAD1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r>
                <a:rPr lang="en" sz="1100" i="1" dirty="0"/>
                <a:t>Engagement</a:t>
              </a:r>
              <a:endParaRPr sz="1100" i="1" dirty="0"/>
            </a:p>
          </p:txBody>
        </p:sp>
      </p:grpSp>
      <p:sp>
        <p:nvSpPr>
          <p:cNvPr id="40" name="Bent Arrow 39">
            <a:extLst>
              <a:ext uri="{FF2B5EF4-FFF2-40B4-BE49-F238E27FC236}">
                <a16:creationId xmlns:a16="http://schemas.microsoft.com/office/drawing/2014/main" id="{4B798A84-4AA7-1532-A7BD-A0DD55FF4B7D}"/>
              </a:ext>
            </a:extLst>
          </p:cNvPr>
          <p:cNvSpPr/>
          <p:nvPr/>
        </p:nvSpPr>
        <p:spPr>
          <a:xfrm rot="5400000">
            <a:off x="6179567" y="1507086"/>
            <a:ext cx="437432" cy="1026236"/>
          </a:xfrm>
          <a:prstGeom prst="bentArrow">
            <a:avLst>
              <a:gd name="adj1" fmla="val 71263"/>
              <a:gd name="adj2" fmla="val 50000"/>
              <a:gd name="adj3" fmla="val 22589"/>
              <a:gd name="adj4" fmla="val 63034"/>
            </a:avLst>
          </a:prstGeom>
          <a:gradFill flip="none" rotWithShape="1">
            <a:gsLst>
              <a:gs pos="61000">
                <a:srgbClr val="DBCFD4"/>
              </a:gs>
              <a:gs pos="0">
                <a:srgbClr val="CCCCCC"/>
              </a:gs>
              <a:gs pos="100000">
                <a:srgbClr val="EAD1DC"/>
              </a:gs>
            </a:gsLst>
            <a:lin ang="192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Bent Arrow 46">
            <a:extLst>
              <a:ext uri="{FF2B5EF4-FFF2-40B4-BE49-F238E27FC236}">
                <a16:creationId xmlns:a16="http://schemas.microsoft.com/office/drawing/2014/main" id="{194F4033-5129-212A-475B-B9FEFA032475}"/>
              </a:ext>
            </a:extLst>
          </p:cNvPr>
          <p:cNvSpPr/>
          <p:nvPr/>
        </p:nvSpPr>
        <p:spPr>
          <a:xfrm rot="5400000">
            <a:off x="4637828" y="1501689"/>
            <a:ext cx="437432" cy="1026236"/>
          </a:xfrm>
          <a:prstGeom prst="bentArrow">
            <a:avLst>
              <a:gd name="adj1" fmla="val 71263"/>
              <a:gd name="adj2" fmla="val 50000"/>
              <a:gd name="adj3" fmla="val 22589"/>
              <a:gd name="adj4" fmla="val 63034"/>
            </a:avLst>
          </a:prstGeom>
          <a:gradFill flip="none" rotWithShape="1">
            <a:gsLst>
              <a:gs pos="78000">
                <a:srgbClr val="BBCFAD"/>
              </a:gs>
              <a:gs pos="0">
                <a:srgbClr val="CCCCCC"/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92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48" name="Google Shape;1241;p96">
            <a:extLst>
              <a:ext uri="{FF2B5EF4-FFF2-40B4-BE49-F238E27FC236}">
                <a16:creationId xmlns:a16="http://schemas.microsoft.com/office/drawing/2014/main" id="{8C1F4FF8-B398-948B-8273-109F53C23844}"/>
              </a:ext>
            </a:extLst>
          </p:cNvPr>
          <p:cNvGrpSpPr/>
          <p:nvPr/>
        </p:nvGrpSpPr>
        <p:grpSpPr>
          <a:xfrm>
            <a:off x="5077051" y="3420437"/>
            <a:ext cx="555280" cy="554351"/>
            <a:chOff x="7540309" y="2735044"/>
            <a:chExt cx="517622" cy="516756"/>
          </a:xfrm>
        </p:grpSpPr>
        <p:sp>
          <p:nvSpPr>
            <p:cNvPr id="49" name="Google Shape;1242;p96">
              <a:extLst>
                <a:ext uri="{FF2B5EF4-FFF2-40B4-BE49-F238E27FC236}">
                  <a16:creationId xmlns:a16="http://schemas.microsoft.com/office/drawing/2014/main" id="{24BB16A4-13D3-4162-35C1-82C166045E4C}"/>
                </a:ext>
              </a:extLst>
            </p:cNvPr>
            <p:cNvSpPr/>
            <p:nvPr/>
          </p:nvSpPr>
          <p:spPr>
            <a:xfrm>
              <a:off x="7540309" y="2735044"/>
              <a:ext cx="517622" cy="516756"/>
            </a:xfrm>
            <a:prstGeom prst="roundRect">
              <a:avLst>
                <a:gd name="adj" fmla="val 24855"/>
              </a:avLst>
            </a:prstGeom>
            <a:solidFill>
              <a:srgbClr val="BACAE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endParaRPr sz="1200" i="1"/>
            </a:p>
          </p:txBody>
        </p:sp>
        <p:pic>
          <p:nvPicPr>
            <p:cNvPr id="50" name="Google Shape;1243;p96" descr="59,432 Conversation Icons - Free in SVG, PNG, ICO - IconScout">
              <a:extLst>
                <a:ext uri="{FF2B5EF4-FFF2-40B4-BE49-F238E27FC236}">
                  <a16:creationId xmlns:a16="http://schemas.microsoft.com/office/drawing/2014/main" id="{F6C784DA-80E9-5B9B-7060-352E7AFA4992}"/>
                </a:ext>
              </a:extLst>
            </p:cNvPr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7635963" y="2844651"/>
              <a:ext cx="331500" cy="3315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3" name="Bent Arrow 52">
            <a:extLst>
              <a:ext uri="{FF2B5EF4-FFF2-40B4-BE49-F238E27FC236}">
                <a16:creationId xmlns:a16="http://schemas.microsoft.com/office/drawing/2014/main" id="{4D2F911C-4FC1-B804-2989-5FCDB1EAC57F}"/>
              </a:ext>
            </a:extLst>
          </p:cNvPr>
          <p:cNvSpPr/>
          <p:nvPr/>
        </p:nvSpPr>
        <p:spPr>
          <a:xfrm>
            <a:off x="8514880" y="1623757"/>
            <a:ext cx="1137429" cy="800382"/>
          </a:xfrm>
          <a:prstGeom prst="bentArrow">
            <a:avLst>
              <a:gd name="adj1" fmla="val 37667"/>
              <a:gd name="adj2" fmla="val 40538"/>
              <a:gd name="adj3" fmla="val 50000"/>
              <a:gd name="adj4" fmla="val 46645"/>
            </a:avLst>
          </a:prstGeom>
          <a:gradFill flip="none" rotWithShape="1">
            <a:gsLst>
              <a:gs pos="47000">
                <a:srgbClr val="D5D2CC"/>
              </a:gs>
              <a:gs pos="0">
                <a:srgbClr val="D1BAC4"/>
              </a:gs>
              <a:gs pos="62000">
                <a:srgbClr val="D7DED0"/>
              </a:gs>
              <a:gs pos="100000">
                <a:srgbClr val="D9EAD3"/>
              </a:gs>
            </a:gsLst>
            <a:lin ang="198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Google Shape;1239;p96">
            <a:extLst>
              <a:ext uri="{FF2B5EF4-FFF2-40B4-BE49-F238E27FC236}">
                <a16:creationId xmlns:a16="http://schemas.microsoft.com/office/drawing/2014/main" id="{D348A804-9778-04DD-1182-20D76AA57184}"/>
              </a:ext>
            </a:extLst>
          </p:cNvPr>
          <p:cNvSpPr/>
          <p:nvPr/>
        </p:nvSpPr>
        <p:spPr>
          <a:xfrm>
            <a:off x="7798031" y="2228945"/>
            <a:ext cx="1624578" cy="668388"/>
          </a:xfrm>
          <a:prstGeom prst="roundRect">
            <a:avLst>
              <a:gd name="adj" fmla="val 13347"/>
            </a:avLst>
          </a:prstGeom>
          <a:solidFill>
            <a:srgbClr val="D1BAC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400" i="1" dirty="0"/>
              <a:t>Auto Evaluation</a:t>
            </a:r>
            <a:endParaRPr sz="1400" i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95F62C7-BDD5-93FC-2AC2-54E4FA296929}"/>
              </a:ext>
            </a:extLst>
          </p:cNvPr>
          <p:cNvSpPr txBox="1"/>
          <p:nvPr/>
        </p:nvSpPr>
        <p:spPr>
          <a:xfrm>
            <a:off x="276726" y="1254791"/>
            <a:ext cx="2541113" cy="954107"/>
          </a:xfrm>
          <a:prstGeom prst="rect">
            <a:avLst/>
          </a:prstGeom>
          <a:solidFill>
            <a:schemeClr val="bg1"/>
          </a:solidFill>
          <a:ln w="25400">
            <a:solidFill>
              <a:schemeClr val="bg2">
                <a:lumMod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1200" b="1" dirty="0"/>
              <a:t>Reminiscence Stimulation</a:t>
            </a:r>
          </a:p>
          <a:p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“Conversations were created to stimulate cognitive function by using reminiscence of old events in their lives”.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0B1F909-EEF1-3CD3-B923-9858D3D8CAD8}"/>
              </a:ext>
            </a:extLst>
          </p:cNvPr>
          <p:cNvSpPr txBox="1"/>
          <p:nvPr/>
        </p:nvSpPr>
        <p:spPr>
          <a:xfrm>
            <a:off x="277595" y="2345242"/>
            <a:ext cx="2541113" cy="954107"/>
          </a:xfrm>
          <a:prstGeom prst="rect">
            <a:avLst/>
          </a:prstGeom>
          <a:solidFill>
            <a:schemeClr val="bg1"/>
          </a:solidFill>
          <a:ln w="25400">
            <a:solidFill>
              <a:schemeClr val="bg2">
                <a:lumMod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1200" b="1" dirty="0"/>
              <a:t>Engaging Participants</a:t>
            </a:r>
          </a:p>
          <a:p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“We aim to keep word counts by the conversational staff at or below 30% of the total word counts to provide ample opportunities for participants to talk.”</a:t>
            </a:r>
          </a:p>
        </p:txBody>
      </p:sp>
      <p:cxnSp>
        <p:nvCxnSpPr>
          <p:cNvPr id="30" name="Curved Connector 29">
            <a:extLst>
              <a:ext uri="{FF2B5EF4-FFF2-40B4-BE49-F238E27FC236}">
                <a16:creationId xmlns:a16="http://schemas.microsoft.com/office/drawing/2014/main" id="{29221F5A-4775-FAFC-1905-E19DE30522C5}"/>
              </a:ext>
            </a:extLst>
          </p:cNvPr>
          <p:cNvCxnSpPr>
            <a:cxnSpLocks/>
            <a:stCxn id="26" idx="3"/>
            <a:endCxn id="6" idx="1"/>
          </p:cNvCxnSpPr>
          <p:nvPr/>
        </p:nvCxnSpPr>
        <p:spPr>
          <a:xfrm>
            <a:off x="2817839" y="1731845"/>
            <a:ext cx="233529" cy="215404"/>
          </a:xfrm>
          <a:prstGeom prst="curvedConnector3">
            <a:avLst/>
          </a:prstGeom>
          <a:ln w="158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urved Connector 38">
            <a:extLst>
              <a:ext uri="{FF2B5EF4-FFF2-40B4-BE49-F238E27FC236}">
                <a16:creationId xmlns:a16="http://schemas.microsoft.com/office/drawing/2014/main" id="{9A0ABF9F-D941-DF42-0F89-3D73E74F7BA7}"/>
              </a:ext>
            </a:extLst>
          </p:cNvPr>
          <p:cNvCxnSpPr>
            <a:cxnSpLocks/>
            <a:stCxn id="27" idx="3"/>
            <a:endCxn id="6" idx="1"/>
          </p:cNvCxnSpPr>
          <p:nvPr/>
        </p:nvCxnSpPr>
        <p:spPr>
          <a:xfrm flipV="1">
            <a:off x="2818708" y="1947249"/>
            <a:ext cx="232660" cy="875047"/>
          </a:xfrm>
          <a:prstGeom prst="curvedConnector3">
            <a:avLst>
              <a:gd name="adj1" fmla="val 50000"/>
            </a:avLst>
          </a:prstGeom>
          <a:ln w="158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447FDD83-E78C-18C0-B3E8-9FEEAE832A61}"/>
              </a:ext>
            </a:extLst>
          </p:cNvPr>
          <p:cNvSpPr txBox="1"/>
          <p:nvPr/>
        </p:nvSpPr>
        <p:spPr>
          <a:xfrm>
            <a:off x="9534039" y="958716"/>
            <a:ext cx="23022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AI-CONECT Chatbot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D9F8E4E-B514-DB60-4A76-ADA296FC9CB4}"/>
              </a:ext>
            </a:extLst>
          </p:cNvPr>
          <p:cNvSpPr txBox="1"/>
          <p:nvPr/>
        </p:nvSpPr>
        <p:spPr>
          <a:xfrm>
            <a:off x="277596" y="3417682"/>
            <a:ext cx="2553458" cy="954107"/>
          </a:xfrm>
          <a:prstGeom prst="rect">
            <a:avLst/>
          </a:prstGeom>
          <a:solidFill>
            <a:schemeClr val="bg1"/>
          </a:solidFill>
          <a:ln w="25400">
            <a:solidFill>
              <a:schemeClr val="bg2">
                <a:lumMod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1200" b="1" dirty="0"/>
              <a:t>User-friendly Device</a:t>
            </a:r>
          </a:p>
          <a:p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“To avoid confounding effects of cognitive stimulation from learning how to use videochats, the user-friendly simple chat device was created.”</a:t>
            </a:r>
          </a:p>
        </p:txBody>
      </p:sp>
      <p:cxnSp>
        <p:nvCxnSpPr>
          <p:cNvPr id="63" name="Curved Connector 62">
            <a:extLst>
              <a:ext uri="{FF2B5EF4-FFF2-40B4-BE49-F238E27FC236}">
                <a16:creationId xmlns:a16="http://schemas.microsoft.com/office/drawing/2014/main" id="{C840EAE2-28AF-14AF-0251-563394A375AE}"/>
              </a:ext>
            </a:extLst>
          </p:cNvPr>
          <p:cNvCxnSpPr>
            <a:cxnSpLocks/>
            <a:stCxn id="60" idx="3"/>
            <a:endCxn id="6" idx="1"/>
          </p:cNvCxnSpPr>
          <p:nvPr/>
        </p:nvCxnSpPr>
        <p:spPr>
          <a:xfrm flipV="1">
            <a:off x="2831054" y="1947249"/>
            <a:ext cx="220314" cy="1947487"/>
          </a:xfrm>
          <a:prstGeom prst="curvedConnector3">
            <a:avLst>
              <a:gd name="adj1" fmla="val 50000"/>
            </a:avLst>
          </a:prstGeom>
          <a:ln w="158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Google Shape;1100;p91">
            <a:extLst>
              <a:ext uri="{FF2B5EF4-FFF2-40B4-BE49-F238E27FC236}">
                <a16:creationId xmlns:a16="http://schemas.microsoft.com/office/drawing/2014/main" id="{DECF27A1-206B-7AE5-C6D7-D0CBDE809F04}"/>
              </a:ext>
            </a:extLst>
          </p:cNvPr>
          <p:cNvSpPr/>
          <p:nvPr/>
        </p:nvSpPr>
        <p:spPr>
          <a:xfrm>
            <a:off x="10080976" y="2512746"/>
            <a:ext cx="1721127" cy="302096"/>
          </a:xfrm>
          <a:prstGeom prst="roundRect">
            <a:avLst>
              <a:gd name="adj" fmla="val 16667"/>
            </a:avLst>
          </a:prstGeom>
          <a:solidFill>
            <a:srgbClr val="EAD1D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100" i="1" dirty="0"/>
              <a:t>User-friendly Device</a:t>
            </a:r>
            <a:endParaRPr sz="1100" i="1" dirty="0"/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EF50F177-D523-4951-C013-D92F231501AF}"/>
              </a:ext>
            </a:extLst>
          </p:cNvPr>
          <p:cNvSpPr/>
          <p:nvPr/>
        </p:nvSpPr>
        <p:spPr>
          <a:xfrm>
            <a:off x="10078732" y="2914015"/>
            <a:ext cx="1721128" cy="1300165"/>
          </a:xfrm>
          <a:prstGeom prst="roundRect">
            <a:avLst>
              <a:gd name="adj" fmla="val 9249"/>
            </a:avLst>
          </a:prstGeom>
          <a:blipFill>
            <a:blip r:embed="rId9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Google Shape;1100;p91">
            <a:extLst>
              <a:ext uri="{FF2B5EF4-FFF2-40B4-BE49-F238E27FC236}">
                <a16:creationId xmlns:a16="http://schemas.microsoft.com/office/drawing/2014/main" id="{8D07CA60-8DA8-3E04-E8FF-C0623D5F6ADB}"/>
              </a:ext>
            </a:extLst>
          </p:cNvPr>
          <p:cNvSpPr/>
          <p:nvPr/>
        </p:nvSpPr>
        <p:spPr>
          <a:xfrm>
            <a:off x="6022817" y="2889391"/>
            <a:ext cx="1721127" cy="302096"/>
          </a:xfrm>
          <a:prstGeom prst="roundRect">
            <a:avLst>
              <a:gd name="adj" fmla="val 16667"/>
            </a:avLst>
          </a:prstGeom>
          <a:solidFill>
            <a:srgbClr val="EAD1D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100" i="1" dirty="0"/>
              <a:t>Vocabulary</a:t>
            </a:r>
            <a:endParaRPr sz="1100" i="1" dirty="0"/>
          </a:p>
        </p:txBody>
      </p:sp>
    </p:spTree>
    <p:extLst>
      <p:ext uri="{BB962C8B-B14F-4D97-AF65-F5344CB8AC3E}">
        <p14:creationId xmlns:p14="http://schemas.microsoft.com/office/powerpoint/2010/main" val="2872494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7DD8CF4-7ABE-8FA7-EFEE-795B894D0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1">
            <a:extLst>
              <a:ext uri="{FF2B5EF4-FFF2-40B4-BE49-F238E27FC236}">
                <a16:creationId xmlns:a16="http://schemas.microsoft.com/office/drawing/2014/main" id="{776C07A5-DA6C-522D-D4A7-9DFC10F9A7C5}"/>
              </a:ext>
            </a:extLst>
          </p:cNvPr>
          <p:cNvSpPr txBox="1"/>
          <p:nvPr/>
        </p:nvSpPr>
        <p:spPr>
          <a:xfrm>
            <a:off x="817503" y="5441668"/>
            <a:ext cx="110357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Claim: A-CONECT framework transform clinical protocol into a scalable benchmark to drive the design of AI Chatbot.</a:t>
            </a:r>
          </a:p>
        </p:txBody>
      </p:sp>
      <p:sp>
        <p:nvSpPr>
          <p:cNvPr id="3" name="Google Shape;1218;p96">
            <a:extLst>
              <a:ext uri="{FF2B5EF4-FFF2-40B4-BE49-F238E27FC236}">
                <a16:creationId xmlns:a16="http://schemas.microsoft.com/office/drawing/2014/main" id="{D38B1B6C-20ED-CF91-1C1A-8A2103BB5DA1}"/>
              </a:ext>
            </a:extLst>
          </p:cNvPr>
          <p:cNvSpPr/>
          <p:nvPr/>
        </p:nvSpPr>
        <p:spPr>
          <a:xfrm>
            <a:off x="2515110" y="916910"/>
            <a:ext cx="8399633" cy="2000371"/>
          </a:xfrm>
          <a:prstGeom prst="rightArrow">
            <a:avLst>
              <a:gd name="adj1" fmla="val 69303"/>
              <a:gd name="adj2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2400"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AE474DFF-9B78-CFF3-70E8-2031345ECFD9}"/>
              </a:ext>
            </a:extLst>
          </p:cNvPr>
          <p:cNvSpPr/>
          <p:nvPr/>
        </p:nvSpPr>
        <p:spPr>
          <a:xfrm>
            <a:off x="5646154" y="1350173"/>
            <a:ext cx="3587619" cy="2880742"/>
          </a:xfrm>
          <a:prstGeom prst="roundRect">
            <a:avLst>
              <a:gd name="adj" fmla="val 7032"/>
            </a:avLst>
          </a:prstGeom>
          <a:noFill/>
          <a:ln>
            <a:solidFill>
              <a:schemeClr val="bg2">
                <a:lumMod val="50000"/>
              </a:schemeClr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A4C9D976-64B6-2910-5A7A-D9A4ED2119C4}"/>
              </a:ext>
            </a:extLst>
          </p:cNvPr>
          <p:cNvSpPr/>
          <p:nvPr/>
        </p:nvSpPr>
        <p:spPr>
          <a:xfrm>
            <a:off x="2708193" y="1350173"/>
            <a:ext cx="2795060" cy="2880742"/>
          </a:xfrm>
          <a:prstGeom prst="roundRect">
            <a:avLst>
              <a:gd name="adj" fmla="val 7032"/>
            </a:avLst>
          </a:prstGeom>
          <a:noFill/>
          <a:ln>
            <a:solidFill>
              <a:schemeClr val="bg2">
                <a:lumMod val="50000"/>
              </a:schemeClr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29" name="Google Shape;1227;p96">
            <a:extLst>
              <a:ext uri="{FF2B5EF4-FFF2-40B4-BE49-F238E27FC236}">
                <a16:creationId xmlns:a16="http://schemas.microsoft.com/office/drawing/2014/main" id="{ED0BD283-A42E-8CEA-C57A-6ADBC1B89DFC}"/>
              </a:ext>
            </a:extLst>
          </p:cNvPr>
          <p:cNvSpPr/>
          <p:nvPr/>
        </p:nvSpPr>
        <p:spPr>
          <a:xfrm>
            <a:off x="4486551" y="2817480"/>
            <a:ext cx="774496" cy="1000737"/>
          </a:xfrm>
          <a:prstGeom prst="leftUpArrow">
            <a:avLst>
              <a:gd name="adj1" fmla="val 18061"/>
              <a:gd name="adj2" fmla="val 16462"/>
              <a:gd name="adj3" fmla="val 17767"/>
            </a:avLst>
          </a:prstGeom>
          <a:solidFill>
            <a:srgbClr val="CCCCC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1200" i="1" dirty="0"/>
          </a:p>
        </p:txBody>
      </p:sp>
      <p:sp>
        <p:nvSpPr>
          <p:cNvPr id="12" name="Google Shape;1227;p96">
            <a:extLst>
              <a:ext uri="{FF2B5EF4-FFF2-40B4-BE49-F238E27FC236}">
                <a16:creationId xmlns:a16="http://schemas.microsoft.com/office/drawing/2014/main" id="{8E27CBCA-295C-8466-DC27-62BFB7EC1FDA}"/>
              </a:ext>
            </a:extLst>
          </p:cNvPr>
          <p:cNvSpPr/>
          <p:nvPr/>
        </p:nvSpPr>
        <p:spPr>
          <a:xfrm>
            <a:off x="7381219" y="2398425"/>
            <a:ext cx="2295672" cy="1400433"/>
          </a:xfrm>
          <a:prstGeom prst="leftUpArrow">
            <a:avLst>
              <a:gd name="adj1" fmla="val 7499"/>
              <a:gd name="adj2" fmla="val 7668"/>
              <a:gd name="adj3" fmla="val 10850"/>
            </a:avLst>
          </a:prstGeom>
          <a:solidFill>
            <a:srgbClr val="CCCCC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sz="1200" i="1" dirty="0"/>
          </a:p>
        </p:txBody>
      </p:sp>
      <p:sp>
        <p:nvSpPr>
          <p:cNvPr id="5" name="Google Shape;1220;p96">
            <a:extLst>
              <a:ext uri="{FF2B5EF4-FFF2-40B4-BE49-F238E27FC236}">
                <a16:creationId xmlns:a16="http://schemas.microsoft.com/office/drawing/2014/main" id="{39E8CCB1-666E-A58E-46D8-8DC9B3EF0325}"/>
              </a:ext>
            </a:extLst>
          </p:cNvPr>
          <p:cNvSpPr/>
          <p:nvPr/>
        </p:nvSpPr>
        <p:spPr>
          <a:xfrm>
            <a:off x="3651172" y="1616223"/>
            <a:ext cx="5685280" cy="627561"/>
          </a:xfrm>
          <a:prstGeom prst="rightArrow">
            <a:avLst>
              <a:gd name="adj1" fmla="val 50000"/>
              <a:gd name="adj2" fmla="val 56179"/>
            </a:avLst>
          </a:prstGeom>
          <a:solidFill>
            <a:srgbClr val="CCCCC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/>
          </a:p>
        </p:txBody>
      </p:sp>
      <p:sp>
        <p:nvSpPr>
          <p:cNvPr id="6" name="Google Shape;1221;p96">
            <a:extLst>
              <a:ext uri="{FF2B5EF4-FFF2-40B4-BE49-F238E27FC236}">
                <a16:creationId xmlns:a16="http://schemas.microsoft.com/office/drawing/2014/main" id="{3F8831C5-B606-6429-85E0-6803815C1C3F}"/>
              </a:ext>
            </a:extLst>
          </p:cNvPr>
          <p:cNvSpPr/>
          <p:nvPr/>
        </p:nvSpPr>
        <p:spPr>
          <a:xfrm>
            <a:off x="2774642" y="1404886"/>
            <a:ext cx="1059399" cy="1036602"/>
          </a:xfrm>
          <a:prstGeom prst="roundRect">
            <a:avLst>
              <a:gd name="adj" fmla="val 16667"/>
            </a:avLst>
          </a:prstGeom>
          <a:solidFill>
            <a:srgbClr val="EAD1D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400" i="1" dirty="0">
                <a:solidFill>
                  <a:schemeClr val="dk1"/>
                </a:solidFill>
              </a:rPr>
              <a:t>Clinical Protocols</a:t>
            </a:r>
            <a:endParaRPr dirty="0"/>
          </a:p>
        </p:txBody>
      </p:sp>
      <p:grpSp>
        <p:nvGrpSpPr>
          <p:cNvPr id="7" name="Google Shape;1222;p96">
            <a:extLst>
              <a:ext uri="{FF2B5EF4-FFF2-40B4-BE49-F238E27FC236}">
                <a16:creationId xmlns:a16="http://schemas.microsoft.com/office/drawing/2014/main" id="{6CF8C436-1308-7733-10DC-2E4E1D0543CE}"/>
              </a:ext>
            </a:extLst>
          </p:cNvPr>
          <p:cNvGrpSpPr/>
          <p:nvPr/>
        </p:nvGrpSpPr>
        <p:grpSpPr>
          <a:xfrm>
            <a:off x="9293734" y="1404886"/>
            <a:ext cx="2229400" cy="1036602"/>
            <a:chOff x="2555051" y="1436400"/>
            <a:chExt cx="2078203" cy="966300"/>
          </a:xfrm>
        </p:grpSpPr>
        <p:sp>
          <p:nvSpPr>
            <p:cNvPr id="8" name="Google Shape;1223;p96">
              <a:extLst>
                <a:ext uri="{FF2B5EF4-FFF2-40B4-BE49-F238E27FC236}">
                  <a16:creationId xmlns:a16="http://schemas.microsoft.com/office/drawing/2014/main" id="{62F63168-C63F-6C74-1FED-37BB4426B0CC}"/>
                </a:ext>
              </a:extLst>
            </p:cNvPr>
            <p:cNvSpPr/>
            <p:nvPr/>
          </p:nvSpPr>
          <p:spPr>
            <a:xfrm>
              <a:off x="2555051" y="1436400"/>
              <a:ext cx="2078203" cy="966300"/>
            </a:xfrm>
            <a:prstGeom prst="roundRect">
              <a:avLst>
                <a:gd name="adj" fmla="val 13347"/>
              </a:avLst>
            </a:prstGeom>
            <a:solidFill>
              <a:srgbClr val="D9EAD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9" name="Google Shape;1224;p96">
              <a:extLst>
                <a:ext uri="{FF2B5EF4-FFF2-40B4-BE49-F238E27FC236}">
                  <a16:creationId xmlns:a16="http://schemas.microsoft.com/office/drawing/2014/main" id="{72DDD305-9E65-60DC-F61F-89C3E07F27A2}"/>
                </a:ext>
              </a:extLst>
            </p:cNvPr>
            <p:cNvSpPr txBox="1"/>
            <p:nvPr/>
          </p:nvSpPr>
          <p:spPr>
            <a:xfrm>
              <a:off x="3073881" y="1718737"/>
              <a:ext cx="850270" cy="40162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spAutoFit/>
            </a:bodyPr>
            <a:lstStyle/>
            <a:p>
              <a:r>
                <a:rPr lang="en-US" sz="1200" b="1" dirty="0">
                  <a:solidFill>
                    <a:schemeClr val="dk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LLM +</a:t>
              </a:r>
              <a:endParaRPr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10" name="Google Shape;1225;p96" descr="ChatGPT Logo and symbol, meaning, history, PNG, brand">
              <a:extLst>
                <a:ext uri="{FF2B5EF4-FFF2-40B4-BE49-F238E27FC236}">
                  <a16:creationId xmlns:a16="http://schemas.microsoft.com/office/drawing/2014/main" id="{EC4F05F8-FF9B-6ECD-0F9E-98DEA168A7FF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 l="25319" t="5918" r="25265" b="9292"/>
            <a:stretch/>
          </p:blipFill>
          <p:spPr>
            <a:xfrm>
              <a:off x="2631350" y="1684312"/>
              <a:ext cx="486950" cy="47047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" name="Google Shape;1226;p96">
              <a:extLst>
                <a:ext uri="{FF2B5EF4-FFF2-40B4-BE49-F238E27FC236}">
                  <a16:creationId xmlns:a16="http://schemas.microsoft.com/office/drawing/2014/main" id="{9E4B32D7-7F8C-1DFE-8FE6-D90828D12ED3}"/>
                </a:ext>
              </a:extLst>
            </p:cNvPr>
            <p:cNvSpPr/>
            <p:nvPr/>
          </p:nvSpPr>
          <p:spPr>
            <a:xfrm>
              <a:off x="3727274" y="1546500"/>
              <a:ext cx="826500" cy="746100"/>
            </a:xfrm>
            <a:prstGeom prst="roundRect">
              <a:avLst>
                <a:gd name="adj" fmla="val 9290"/>
              </a:avLst>
            </a:prstGeom>
            <a:solidFill>
              <a:srgbClr val="6AA84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r>
                <a:rPr lang="en" sz="1200" b="1" i="1" dirty="0"/>
                <a:t>Prompt Design</a:t>
              </a:r>
              <a:endParaRPr sz="1100" b="1" i="1" dirty="0"/>
            </a:p>
          </p:txBody>
        </p:sp>
      </p:grpSp>
      <p:sp>
        <p:nvSpPr>
          <p:cNvPr id="13" name="Google Shape;1228;p96">
            <a:extLst>
              <a:ext uri="{FF2B5EF4-FFF2-40B4-BE49-F238E27FC236}">
                <a16:creationId xmlns:a16="http://schemas.microsoft.com/office/drawing/2014/main" id="{EFF09B28-53EF-B5F7-CCB5-5654FE6DC22A}"/>
              </a:ext>
            </a:extLst>
          </p:cNvPr>
          <p:cNvSpPr/>
          <p:nvPr/>
        </p:nvSpPr>
        <p:spPr>
          <a:xfrm>
            <a:off x="5122428" y="3469945"/>
            <a:ext cx="691810" cy="407210"/>
          </a:xfrm>
          <a:prstGeom prst="rightArrow">
            <a:avLst>
              <a:gd name="adj1" fmla="val 69303"/>
              <a:gd name="adj2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/>
          </a:p>
        </p:txBody>
      </p:sp>
      <p:grpSp>
        <p:nvGrpSpPr>
          <p:cNvPr id="14" name="Google Shape;1229;p96">
            <a:extLst>
              <a:ext uri="{FF2B5EF4-FFF2-40B4-BE49-F238E27FC236}">
                <a16:creationId xmlns:a16="http://schemas.microsoft.com/office/drawing/2014/main" id="{B47CC7A6-2BB5-11EC-6636-7EEDD59F3BFE}"/>
              </a:ext>
            </a:extLst>
          </p:cNvPr>
          <p:cNvGrpSpPr/>
          <p:nvPr/>
        </p:nvGrpSpPr>
        <p:grpSpPr>
          <a:xfrm>
            <a:off x="2785985" y="3211729"/>
            <a:ext cx="1721126" cy="923642"/>
            <a:chOff x="7467525" y="3346425"/>
            <a:chExt cx="1604400" cy="861001"/>
          </a:xfrm>
        </p:grpSpPr>
        <p:sp>
          <p:nvSpPr>
            <p:cNvPr id="15" name="Google Shape;1230;p96">
              <a:extLst>
                <a:ext uri="{FF2B5EF4-FFF2-40B4-BE49-F238E27FC236}">
                  <a16:creationId xmlns:a16="http://schemas.microsoft.com/office/drawing/2014/main" id="{E0273B3A-ADCF-7808-4B77-8DAE03882A0C}"/>
                </a:ext>
              </a:extLst>
            </p:cNvPr>
            <p:cNvSpPr/>
            <p:nvPr/>
          </p:nvSpPr>
          <p:spPr>
            <a:xfrm>
              <a:off x="7467525" y="3346425"/>
              <a:ext cx="1604400" cy="861001"/>
            </a:xfrm>
            <a:prstGeom prst="roundRect">
              <a:avLst>
                <a:gd name="adj" fmla="val 13347"/>
              </a:avLst>
            </a:prstGeom>
            <a:solidFill>
              <a:srgbClr val="EFEFEF"/>
            </a:solidFill>
            <a:ln w="19050" cap="flat" cmpd="sng">
              <a:solidFill>
                <a:srgbClr val="43434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endParaRPr/>
            </a:p>
          </p:txBody>
        </p:sp>
        <p:pic>
          <p:nvPicPr>
            <p:cNvPr id="16" name="Google Shape;1231;p96" descr="Elder Icon #60510 - Free Icons Library">
              <a:extLst>
                <a:ext uri="{FF2B5EF4-FFF2-40B4-BE49-F238E27FC236}">
                  <a16:creationId xmlns:a16="http://schemas.microsoft.com/office/drawing/2014/main" id="{6BBEA13F-8C56-5507-FFE1-549E49E5BCD0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 l="26258" t="15380" r="26700" b="15862"/>
            <a:stretch/>
          </p:blipFill>
          <p:spPr>
            <a:xfrm flipH="1">
              <a:off x="8472450" y="3474701"/>
              <a:ext cx="410400" cy="59981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" name="Google Shape;1232;p96">
              <a:extLst>
                <a:ext uri="{FF2B5EF4-FFF2-40B4-BE49-F238E27FC236}">
                  <a16:creationId xmlns:a16="http://schemas.microsoft.com/office/drawing/2014/main" id="{EBB5BC02-74BF-05DC-D37B-C10899712BD4}"/>
                </a:ext>
              </a:extLst>
            </p:cNvPr>
            <p:cNvSpPr txBox="1"/>
            <p:nvPr/>
          </p:nvSpPr>
          <p:spPr>
            <a:xfrm>
              <a:off x="7579607" y="3409685"/>
              <a:ext cx="780600" cy="7459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spAutoFit/>
            </a:bodyPr>
            <a:lstStyle/>
            <a:p>
              <a:pPr algn="ctr"/>
              <a:r>
                <a:rPr lang="en" sz="1200" b="1" dirty="0">
                  <a:solidFill>
                    <a:schemeClr val="dk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MCI/NC Older Users</a:t>
              </a:r>
              <a:endParaRPr sz="12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8" name="Google Shape;1233;p96">
            <a:extLst>
              <a:ext uri="{FF2B5EF4-FFF2-40B4-BE49-F238E27FC236}">
                <a16:creationId xmlns:a16="http://schemas.microsoft.com/office/drawing/2014/main" id="{72E4973F-81E9-673D-5DE6-FB015DEA666B}"/>
              </a:ext>
            </a:extLst>
          </p:cNvPr>
          <p:cNvGrpSpPr/>
          <p:nvPr/>
        </p:nvGrpSpPr>
        <p:grpSpPr>
          <a:xfrm>
            <a:off x="5740034" y="3211730"/>
            <a:ext cx="1721126" cy="923641"/>
            <a:chOff x="7334399" y="3809869"/>
            <a:chExt cx="1604400" cy="860999"/>
          </a:xfrm>
        </p:grpSpPr>
        <p:sp>
          <p:nvSpPr>
            <p:cNvPr id="19" name="Google Shape;1234;p96">
              <a:extLst>
                <a:ext uri="{FF2B5EF4-FFF2-40B4-BE49-F238E27FC236}">
                  <a16:creationId xmlns:a16="http://schemas.microsoft.com/office/drawing/2014/main" id="{00C05743-1DB4-2BE2-50A6-E49F3564205D}"/>
                </a:ext>
              </a:extLst>
            </p:cNvPr>
            <p:cNvSpPr/>
            <p:nvPr/>
          </p:nvSpPr>
          <p:spPr>
            <a:xfrm>
              <a:off x="7334399" y="3809869"/>
              <a:ext cx="1604400" cy="860999"/>
            </a:xfrm>
            <a:prstGeom prst="roundRect">
              <a:avLst>
                <a:gd name="adj" fmla="val 13347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9050" cap="flat" cmpd="sng">
              <a:solidFill>
                <a:srgbClr val="43434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endParaRPr/>
            </a:p>
          </p:txBody>
        </p:sp>
        <p:pic>
          <p:nvPicPr>
            <p:cNvPr id="20" name="Google Shape;1235;p96" descr="Elder Icon #60510 - Free Icons Library">
              <a:extLst>
                <a:ext uri="{FF2B5EF4-FFF2-40B4-BE49-F238E27FC236}">
                  <a16:creationId xmlns:a16="http://schemas.microsoft.com/office/drawing/2014/main" id="{A5FED2D6-F0DA-8DC9-63B8-A3A53A98BF32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-44000" contrast="63000"/>
                      </a14:imgEffect>
                    </a14:imgLayer>
                  </a14:imgProps>
                </a:ext>
              </a:extLst>
            </a:blip>
            <a:srcRect l="26258" t="15380" r="26700" b="15862"/>
            <a:stretch/>
          </p:blipFill>
          <p:spPr>
            <a:xfrm flipH="1">
              <a:off x="8472451" y="3954022"/>
              <a:ext cx="391828" cy="57269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1" name="Google Shape;1236;p96">
              <a:extLst>
                <a:ext uri="{FF2B5EF4-FFF2-40B4-BE49-F238E27FC236}">
                  <a16:creationId xmlns:a16="http://schemas.microsoft.com/office/drawing/2014/main" id="{8B2D4820-B97F-CF47-7C42-9CA0A34B0F7E}"/>
                </a:ext>
              </a:extLst>
            </p:cNvPr>
            <p:cNvSpPr txBox="1"/>
            <p:nvPr/>
          </p:nvSpPr>
          <p:spPr>
            <a:xfrm>
              <a:off x="7334400" y="3886275"/>
              <a:ext cx="1348500" cy="717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spAutoFit/>
            </a:bodyPr>
            <a:lstStyle/>
            <a:p>
              <a:pPr algn="ctr"/>
              <a:r>
                <a:rPr lang="en" sz="1200" b="1" dirty="0">
                  <a:solidFill>
                    <a:schemeClr val="dk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Virtual User</a:t>
              </a:r>
              <a:endParaRPr sz="1200" b="1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algn="ctr"/>
              <a:r>
                <a:rPr lang="en" sz="1100" i="1" dirty="0">
                  <a:solidFill>
                    <a:srgbClr val="666666"/>
                  </a:solidFill>
                </a:rPr>
                <a:t>Fine-Tuned </a:t>
              </a:r>
              <a:br>
                <a:rPr lang="en" sz="1100" i="1" dirty="0">
                  <a:solidFill>
                    <a:srgbClr val="666666"/>
                  </a:solidFill>
                </a:rPr>
              </a:br>
              <a:r>
                <a:rPr lang="en" sz="1100" i="1" dirty="0">
                  <a:solidFill>
                    <a:srgbClr val="666666"/>
                  </a:solidFill>
                </a:rPr>
                <a:t>LLM</a:t>
              </a:r>
              <a:endParaRPr sz="1100" i="1" dirty="0">
                <a:solidFill>
                  <a:srgbClr val="666666"/>
                </a:solidFill>
              </a:endParaRPr>
            </a:p>
          </p:txBody>
        </p:sp>
        <p:pic>
          <p:nvPicPr>
            <p:cNvPr id="22" name="Google Shape;1237;p96" descr="ChatGPT Logo and symbol, meaning, history, PNG, brand">
              <a:extLst>
                <a:ext uri="{FF2B5EF4-FFF2-40B4-BE49-F238E27FC236}">
                  <a16:creationId xmlns:a16="http://schemas.microsoft.com/office/drawing/2014/main" id="{64B9C741-573C-E6DF-CA53-D5AED79C91FF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 l="25319" t="5918" r="25265" b="9292"/>
            <a:stretch/>
          </p:blipFill>
          <p:spPr>
            <a:xfrm>
              <a:off x="7389125" y="4236412"/>
              <a:ext cx="256224" cy="24755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3" name="Google Shape;1238;p96">
            <a:extLst>
              <a:ext uri="{FF2B5EF4-FFF2-40B4-BE49-F238E27FC236}">
                <a16:creationId xmlns:a16="http://schemas.microsoft.com/office/drawing/2014/main" id="{58E0E31F-26FF-35A5-F0C0-CA5FF0325C4B}"/>
              </a:ext>
            </a:extLst>
          </p:cNvPr>
          <p:cNvSpPr/>
          <p:nvPr/>
        </p:nvSpPr>
        <p:spPr>
          <a:xfrm rot="16200000">
            <a:off x="8040905" y="2833681"/>
            <a:ext cx="617005" cy="508381"/>
          </a:xfrm>
          <a:prstGeom prst="rightArrow">
            <a:avLst>
              <a:gd name="adj1" fmla="val 50000"/>
              <a:gd name="adj2" fmla="val 50000"/>
            </a:avLst>
          </a:prstGeom>
          <a:gradFill>
            <a:gsLst>
              <a:gs pos="0">
                <a:srgbClr val="BACAE6"/>
              </a:gs>
              <a:gs pos="80000">
                <a:srgbClr val="D1BAC4"/>
              </a:gs>
              <a:gs pos="100000">
                <a:srgbClr val="D1BAC4"/>
              </a:gs>
            </a:gsLst>
            <a:lin ang="0" scaled="0"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80E8FB-83D7-BE3A-D424-0C77AF1F1275}"/>
              </a:ext>
            </a:extLst>
          </p:cNvPr>
          <p:cNvSpPr txBox="1"/>
          <p:nvPr/>
        </p:nvSpPr>
        <p:spPr>
          <a:xfrm>
            <a:off x="2572291" y="645788"/>
            <a:ext cx="3066865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/>
              <a:t>I-CONECT Clinical Trial</a:t>
            </a:r>
          </a:p>
          <a:p>
            <a:pPr algn="ctr"/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To validate the effectiveness of the conversational </a:t>
            </a:r>
          </a:p>
          <a:p>
            <a:pPr algn="ctr"/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engagement for dementia prevention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EED7492-D546-3E8E-8297-CE17051297F9}"/>
              </a:ext>
            </a:extLst>
          </p:cNvPr>
          <p:cNvSpPr txBox="1"/>
          <p:nvPr/>
        </p:nvSpPr>
        <p:spPr>
          <a:xfrm>
            <a:off x="5979468" y="645788"/>
            <a:ext cx="2920992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/>
              <a:t>AI-CONECT Virtual Benchmark</a:t>
            </a:r>
          </a:p>
          <a:p>
            <a:pPr algn="ctr"/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To validate the language compliance of LLMs in </a:t>
            </a:r>
          </a:p>
          <a:p>
            <a:pPr algn="ctr"/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implementing the conversational engagement</a:t>
            </a:r>
          </a:p>
        </p:txBody>
      </p:sp>
      <p:grpSp>
        <p:nvGrpSpPr>
          <p:cNvPr id="42" name="Google Shape;1241;p96">
            <a:extLst>
              <a:ext uri="{FF2B5EF4-FFF2-40B4-BE49-F238E27FC236}">
                <a16:creationId xmlns:a16="http://schemas.microsoft.com/office/drawing/2014/main" id="{56D797FF-C058-A5DF-A9BC-45B3105CA4DB}"/>
              </a:ext>
            </a:extLst>
          </p:cNvPr>
          <p:cNvGrpSpPr/>
          <p:nvPr/>
        </p:nvGrpSpPr>
        <p:grpSpPr>
          <a:xfrm>
            <a:off x="7587279" y="3351822"/>
            <a:ext cx="1492630" cy="643457"/>
            <a:chOff x="7440902" y="2657451"/>
            <a:chExt cx="1391401" cy="599819"/>
          </a:xfrm>
        </p:grpSpPr>
        <p:sp>
          <p:nvSpPr>
            <p:cNvPr id="43" name="Google Shape;1242;p96">
              <a:extLst>
                <a:ext uri="{FF2B5EF4-FFF2-40B4-BE49-F238E27FC236}">
                  <a16:creationId xmlns:a16="http://schemas.microsoft.com/office/drawing/2014/main" id="{D0AFFD94-3116-188D-66AF-149700B2C29C}"/>
                </a:ext>
              </a:extLst>
            </p:cNvPr>
            <p:cNvSpPr/>
            <p:nvPr/>
          </p:nvSpPr>
          <p:spPr>
            <a:xfrm>
              <a:off x="7440902" y="2657451"/>
              <a:ext cx="1391401" cy="599819"/>
            </a:xfrm>
            <a:prstGeom prst="roundRect">
              <a:avLst>
                <a:gd name="adj" fmla="val 13347"/>
              </a:avLst>
            </a:prstGeom>
            <a:solidFill>
              <a:srgbClr val="BACAE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endParaRPr sz="1200" i="1"/>
            </a:p>
          </p:txBody>
        </p:sp>
        <p:pic>
          <p:nvPicPr>
            <p:cNvPr id="44" name="Google Shape;1243;p96" descr="59,432 Conversation Icons - Free in SVG, PNG, ICO - IconScout">
              <a:extLst>
                <a:ext uri="{FF2B5EF4-FFF2-40B4-BE49-F238E27FC236}">
                  <a16:creationId xmlns:a16="http://schemas.microsoft.com/office/drawing/2014/main" id="{C0B1D05B-D9B7-F850-62A8-76E6BD35F2CE}"/>
                </a:ext>
              </a:extLst>
            </p:cNvPr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7575181" y="2825164"/>
              <a:ext cx="331500" cy="331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5" name="Google Shape;1244;p96">
              <a:extLst>
                <a:ext uri="{FF2B5EF4-FFF2-40B4-BE49-F238E27FC236}">
                  <a16:creationId xmlns:a16="http://schemas.microsoft.com/office/drawing/2014/main" id="{63D4984E-5E5D-3872-5051-5CEBBF7B250E}"/>
                </a:ext>
              </a:extLst>
            </p:cNvPr>
            <p:cNvSpPr txBox="1"/>
            <p:nvPr/>
          </p:nvSpPr>
          <p:spPr>
            <a:xfrm>
              <a:off x="7848950" y="2687150"/>
              <a:ext cx="954767" cy="54507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spAutoFit/>
            </a:bodyPr>
            <a:lstStyle/>
            <a:p>
              <a:pPr algn="ctr"/>
              <a:r>
                <a:rPr lang="en-US" sz="1100" i="1" dirty="0">
                  <a:solidFill>
                    <a:schemeClr val="dk1"/>
                  </a:solidFill>
                </a:rPr>
                <a:t>Virtual Conversation</a:t>
              </a:r>
            </a:p>
          </p:txBody>
        </p:sp>
      </p:grpSp>
      <p:pic>
        <p:nvPicPr>
          <p:cNvPr id="4" name="Google Shape;1219;p96" descr="Doctor, female doctor, lady doctor, physician, professional icon - Download  on Iconfinder">
            <a:extLst>
              <a:ext uri="{FF2B5EF4-FFF2-40B4-BE49-F238E27FC236}">
                <a16:creationId xmlns:a16="http://schemas.microsoft.com/office/drawing/2014/main" id="{154D65F8-F073-A9CB-88A6-3E23BA444F1C}"/>
              </a:ext>
            </a:extLst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085291" y="757570"/>
            <a:ext cx="383931" cy="38393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221;p96">
            <a:extLst>
              <a:ext uri="{FF2B5EF4-FFF2-40B4-BE49-F238E27FC236}">
                <a16:creationId xmlns:a16="http://schemas.microsoft.com/office/drawing/2014/main" id="{5016140B-FC03-03FE-2748-E0A15743CB3B}"/>
              </a:ext>
            </a:extLst>
          </p:cNvPr>
          <p:cNvSpPr/>
          <p:nvPr/>
        </p:nvSpPr>
        <p:spPr>
          <a:xfrm>
            <a:off x="3982467" y="2224242"/>
            <a:ext cx="1417539" cy="649029"/>
          </a:xfrm>
          <a:prstGeom prst="roundRect">
            <a:avLst>
              <a:gd name="adj" fmla="val 1666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200" b="1" dirty="0">
                <a:solidFill>
                  <a:schemeClr val="dk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Trained Interviewers</a:t>
            </a:r>
            <a:endParaRPr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5993396-1CDA-3D07-659D-74C5B2050DCC}"/>
              </a:ext>
            </a:extLst>
          </p:cNvPr>
          <p:cNvGrpSpPr/>
          <p:nvPr/>
        </p:nvGrpSpPr>
        <p:grpSpPr>
          <a:xfrm>
            <a:off x="5735193" y="2209280"/>
            <a:ext cx="1725967" cy="663991"/>
            <a:chOff x="3203732" y="2187585"/>
            <a:chExt cx="1725967" cy="663991"/>
          </a:xfrm>
        </p:grpSpPr>
        <p:sp>
          <p:nvSpPr>
            <p:cNvPr id="31" name="Google Shape;1098;p91">
              <a:extLst>
                <a:ext uri="{FF2B5EF4-FFF2-40B4-BE49-F238E27FC236}">
                  <a16:creationId xmlns:a16="http://schemas.microsoft.com/office/drawing/2014/main" id="{B54E5D49-475B-FE6C-798B-6C9A55955495}"/>
                </a:ext>
              </a:extLst>
            </p:cNvPr>
            <p:cNvSpPr/>
            <p:nvPr/>
          </p:nvSpPr>
          <p:spPr>
            <a:xfrm>
              <a:off x="3208572" y="2187585"/>
              <a:ext cx="1721127" cy="302096"/>
            </a:xfrm>
            <a:prstGeom prst="roundRect">
              <a:avLst>
                <a:gd name="adj" fmla="val 16667"/>
              </a:avLst>
            </a:prstGeom>
            <a:solidFill>
              <a:srgbClr val="EAD1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r>
                <a:rPr lang="en" sz="1100" i="1" dirty="0"/>
                <a:t>Reminiscence Ratio</a:t>
              </a:r>
              <a:endParaRPr sz="1100" i="1" dirty="0"/>
            </a:p>
          </p:txBody>
        </p:sp>
        <p:sp>
          <p:nvSpPr>
            <p:cNvPr id="36" name="Google Shape;1100;p91">
              <a:extLst>
                <a:ext uri="{FF2B5EF4-FFF2-40B4-BE49-F238E27FC236}">
                  <a16:creationId xmlns:a16="http://schemas.microsoft.com/office/drawing/2014/main" id="{DD1422E5-AD77-18BF-6032-17EDB393C36D}"/>
                </a:ext>
              </a:extLst>
            </p:cNvPr>
            <p:cNvSpPr/>
            <p:nvPr/>
          </p:nvSpPr>
          <p:spPr>
            <a:xfrm>
              <a:off x="3203732" y="2549480"/>
              <a:ext cx="1721127" cy="302096"/>
            </a:xfrm>
            <a:prstGeom prst="roundRect">
              <a:avLst>
                <a:gd name="adj" fmla="val 16667"/>
              </a:avLst>
            </a:prstGeom>
            <a:solidFill>
              <a:srgbClr val="EAD1D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r>
                <a:rPr lang="en" sz="1100" i="1" dirty="0"/>
                <a:t>User Word Ratio</a:t>
              </a:r>
              <a:endParaRPr sz="1100" i="1" dirty="0"/>
            </a:p>
          </p:txBody>
        </p:sp>
      </p:grpSp>
      <p:sp>
        <p:nvSpPr>
          <p:cNvPr id="40" name="Bent Arrow 39">
            <a:extLst>
              <a:ext uri="{FF2B5EF4-FFF2-40B4-BE49-F238E27FC236}">
                <a16:creationId xmlns:a16="http://schemas.microsoft.com/office/drawing/2014/main" id="{12E9B676-0DD2-DBF4-6B6F-CA1F45ABF0E8}"/>
              </a:ext>
            </a:extLst>
          </p:cNvPr>
          <p:cNvSpPr/>
          <p:nvPr/>
        </p:nvSpPr>
        <p:spPr>
          <a:xfrm rot="5400000">
            <a:off x="5902841" y="1483024"/>
            <a:ext cx="437432" cy="1026236"/>
          </a:xfrm>
          <a:prstGeom prst="bentArrow">
            <a:avLst>
              <a:gd name="adj1" fmla="val 71263"/>
              <a:gd name="adj2" fmla="val 50000"/>
              <a:gd name="adj3" fmla="val 22589"/>
              <a:gd name="adj4" fmla="val 63034"/>
            </a:avLst>
          </a:prstGeom>
          <a:gradFill flip="none" rotWithShape="1">
            <a:gsLst>
              <a:gs pos="61000">
                <a:srgbClr val="DBCFD4"/>
              </a:gs>
              <a:gs pos="0">
                <a:srgbClr val="CCCCCC"/>
              </a:gs>
              <a:gs pos="100000">
                <a:srgbClr val="EAD1DC"/>
              </a:gs>
            </a:gsLst>
            <a:lin ang="192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Bent Arrow 46">
            <a:extLst>
              <a:ext uri="{FF2B5EF4-FFF2-40B4-BE49-F238E27FC236}">
                <a16:creationId xmlns:a16="http://schemas.microsoft.com/office/drawing/2014/main" id="{A7FEBB65-9FAB-5937-F9ED-3E995EDDDE3B}"/>
              </a:ext>
            </a:extLst>
          </p:cNvPr>
          <p:cNvSpPr/>
          <p:nvPr/>
        </p:nvSpPr>
        <p:spPr>
          <a:xfrm rot="5400000">
            <a:off x="4361102" y="1477627"/>
            <a:ext cx="437432" cy="1026236"/>
          </a:xfrm>
          <a:prstGeom prst="bentArrow">
            <a:avLst>
              <a:gd name="adj1" fmla="val 71263"/>
              <a:gd name="adj2" fmla="val 50000"/>
              <a:gd name="adj3" fmla="val 22589"/>
              <a:gd name="adj4" fmla="val 63034"/>
            </a:avLst>
          </a:prstGeom>
          <a:gradFill flip="none" rotWithShape="1">
            <a:gsLst>
              <a:gs pos="78000">
                <a:srgbClr val="BBCFAD"/>
              </a:gs>
              <a:gs pos="0">
                <a:srgbClr val="CCCCCC"/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92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48" name="Google Shape;1241;p96">
            <a:extLst>
              <a:ext uri="{FF2B5EF4-FFF2-40B4-BE49-F238E27FC236}">
                <a16:creationId xmlns:a16="http://schemas.microsoft.com/office/drawing/2014/main" id="{15D11885-F482-2627-FFEB-9C0F78C5747B}"/>
              </a:ext>
            </a:extLst>
          </p:cNvPr>
          <p:cNvGrpSpPr/>
          <p:nvPr/>
        </p:nvGrpSpPr>
        <p:grpSpPr>
          <a:xfrm>
            <a:off x="4800325" y="3396375"/>
            <a:ext cx="555280" cy="554351"/>
            <a:chOff x="7540309" y="2735044"/>
            <a:chExt cx="517622" cy="516756"/>
          </a:xfrm>
        </p:grpSpPr>
        <p:sp>
          <p:nvSpPr>
            <p:cNvPr id="49" name="Google Shape;1242;p96">
              <a:extLst>
                <a:ext uri="{FF2B5EF4-FFF2-40B4-BE49-F238E27FC236}">
                  <a16:creationId xmlns:a16="http://schemas.microsoft.com/office/drawing/2014/main" id="{4C45720A-8F99-0C25-C8C2-A5CE3BCFC276}"/>
                </a:ext>
              </a:extLst>
            </p:cNvPr>
            <p:cNvSpPr/>
            <p:nvPr/>
          </p:nvSpPr>
          <p:spPr>
            <a:xfrm>
              <a:off x="7540309" y="2735044"/>
              <a:ext cx="517622" cy="516756"/>
            </a:xfrm>
            <a:prstGeom prst="roundRect">
              <a:avLst>
                <a:gd name="adj" fmla="val 24855"/>
              </a:avLst>
            </a:prstGeom>
            <a:solidFill>
              <a:srgbClr val="BACAE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endParaRPr sz="1200" i="1"/>
            </a:p>
          </p:txBody>
        </p:sp>
        <p:pic>
          <p:nvPicPr>
            <p:cNvPr id="50" name="Google Shape;1243;p96" descr="59,432 Conversation Icons - Free in SVG, PNG, ICO - IconScout">
              <a:extLst>
                <a:ext uri="{FF2B5EF4-FFF2-40B4-BE49-F238E27FC236}">
                  <a16:creationId xmlns:a16="http://schemas.microsoft.com/office/drawing/2014/main" id="{87937A1C-BA9B-8951-09B5-30689595C899}"/>
                </a:ext>
              </a:extLst>
            </p:cNvPr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7635963" y="2844651"/>
              <a:ext cx="331500" cy="3315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3" name="Bent Arrow 52">
            <a:extLst>
              <a:ext uri="{FF2B5EF4-FFF2-40B4-BE49-F238E27FC236}">
                <a16:creationId xmlns:a16="http://schemas.microsoft.com/office/drawing/2014/main" id="{E906B24A-CA92-6C2A-2885-93812174FDE4}"/>
              </a:ext>
            </a:extLst>
          </p:cNvPr>
          <p:cNvSpPr/>
          <p:nvPr/>
        </p:nvSpPr>
        <p:spPr>
          <a:xfrm>
            <a:off x="8238154" y="1599695"/>
            <a:ext cx="1137429" cy="800382"/>
          </a:xfrm>
          <a:prstGeom prst="bentArrow">
            <a:avLst>
              <a:gd name="adj1" fmla="val 37667"/>
              <a:gd name="adj2" fmla="val 40538"/>
              <a:gd name="adj3" fmla="val 50000"/>
              <a:gd name="adj4" fmla="val 46645"/>
            </a:avLst>
          </a:prstGeom>
          <a:gradFill flip="none" rotWithShape="1">
            <a:gsLst>
              <a:gs pos="47000">
                <a:srgbClr val="D5D2CC"/>
              </a:gs>
              <a:gs pos="0">
                <a:srgbClr val="D1BAC4"/>
              </a:gs>
              <a:gs pos="62000">
                <a:srgbClr val="D7DED0"/>
              </a:gs>
              <a:gs pos="100000">
                <a:srgbClr val="D9EAD3"/>
              </a:gs>
            </a:gsLst>
            <a:lin ang="198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Google Shape;1239;p96">
            <a:extLst>
              <a:ext uri="{FF2B5EF4-FFF2-40B4-BE49-F238E27FC236}">
                <a16:creationId xmlns:a16="http://schemas.microsoft.com/office/drawing/2014/main" id="{F1CE1FA0-4960-A3AC-3937-495D436DC08A}"/>
              </a:ext>
            </a:extLst>
          </p:cNvPr>
          <p:cNvSpPr/>
          <p:nvPr/>
        </p:nvSpPr>
        <p:spPr>
          <a:xfrm>
            <a:off x="7521305" y="2204883"/>
            <a:ext cx="1624578" cy="668388"/>
          </a:xfrm>
          <a:prstGeom prst="roundRect">
            <a:avLst>
              <a:gd name="adj" fmla="val 13347"/>
            </a:avLst>
          </a:prstGeom>
          <a:solidFill>
            <a:srgbClr val="D1BAC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400" i="1" dirty="0"/>
              <a:t>Auto Evaluation</a:t>
            </a:r>
            <a:endParaRPr sz="1400" i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5BE12F7-A0C2-E257-BEC0-12B0040F34B0}"/>
              </a:ext>
            </a:extLst>
          </p:cNvPr>
          <p:cNvSpPr txBox="1"/>
          <p:nvPr/>
        </p:nvSpPr>
        <p:spPr>
          <a:xfrm>
            <a:off x="0" y="1230729"/>
            <a:ext cx="2455149" cy="954107"/>
          </a:xfrm>
          <a:prstGeom prst="rect">
            <a:avLst/>
          </a:prstGeom>
          <a:solidFill>
            <a:schemeClr val="bg1"/>
          </a:solidFill>
          <a:ln w="25400">
            <a:solidFill>
              <a:schemeClr val="bg2">
                <a:lumMod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1200" b="1" dirty="0"/>
              <a:t>Reminiscence Stimulation</a:t>
            </a:r>
          </a:p>
          <a:p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“Conversations were created to stimulate cognitive function by using reminiscence of old events in their lives”.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6C96BE7-1CE7-C167-E702-F8D7BECD0712}"/>
              </a:ext>
            </a:extLst>
          </p:cNvPr>
          <p:cNvSpPr txBox="1"/>
          <p:nvPr/>
        </p:nvSpPr>
        <p:spPr>
          <a:xfrm>
            <a:off x="870" y="2321180"/>
            <a:ext cx="2443190" cy="954107"/>
          </a:xfrm>
          <a:prstGeom prst="rect">
            <a:avLst/>
          </a:prstGeom>
          <a:solidFill>
            <a:schemeClr val="bg1"/>
          </a:solidFill>
          <a:ln w="25400">
            <a:solidFill>
              <a:schemeClr val="bg2">
                <a:lumMod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1200" b="1" dirty="0"/>
              <a:t>Engaging Participants</a:t>
            </a:r>
          </a:p>
          <a:p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“We aim to keep word counts by the conversational staff at or below 30% of the total word counts to provide ample opportunities for participants to talk.”</a:t>
            </a:r>
          </a:p>
        </p:txBody>
      </p:sp>
      <p:cxnSp>
        <p:nvCxnSpPr>
          <p:cNvPr id="30" name="Curved Connector 29">
            <a:extLst>
              <a:ext uri="{FF2B5EF4-FFF2-40B4-BE49-F238E27FC236}">
                <a16:creationId xmlns:a16="http://schemas.microsoft.com/office/drawing/2014/main" id="{54182051-249F-26E2-2896-37E1CFA1DFEB}"/>
              </a:ext>
            </a:extLst>
          </p:cNvPr>
          <p:cNvCxnSpPr>
            <a:cxnSpLocks/>
            <a:stCxn id="26" idx="3"/>
            <a:endCxn id="6" idx="1"/>
          </p:cNvCxnSpPr>
          <p:nvPr/>
        </p:nvCxnSpPr>
        <p:spPr>
          <a:xfrm>
            <a:off x="2455149" y="1707783"/>
            <a:ext cx="319493" cy="215404"/>
          </a:xfrm>
          <a:prstGeom prst="curvedConnector3">
            <a:avLst/>
          </a:prstGeom>
          <a:ln w="158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urved Connector 38">
            <a:extLst>
              <a:ext uri="{FF2B5EF4-FFF2-40B4-BE49-F238E27FC236}">
                <a16:creationId xmlns:a16="http://schemas.microsoft.com/office/drawing/2014/main" id="{C2CE3F71-CF40-A888-A5C0-7119C18CADEC}"/>
              </a:ext>
            </a:extLst>
          </p:cNvPr>
          <p:cNvCxnSpPr>
            <a:cxnSpLocks/>
            <a:stCxn id="27" idx="3"/>
            <a:endCxn id="6" idx="1"/>
          </p:cNvCxnSpPr>
          <p:nvPr/>
        </p:nvCxnSpPr>
        <p:spPr>
          <a:xfrm flipV="1">
            <a:off x="2444060" y="1923187"/>
            <a:ext cx="330582" cy="875047"/>
          </a:xfrm>
          <a:prstGeom prst="curvedConnector3">
            <a:avLst>
              <a:gd name="adj1" fmla="val 50000"/>
            </a:avLst>
          </a:prstGeom>
          <a:ln w="158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48065A4D-E38A-B079-279D-B77F6E67B733}"/>
              </a:ext>
            </a:extLst>
          </p:cNvPr>
          <p:cNvSpPr txBox="1"/>
          <p:nvPr/>
        </p:nvSpPr>
        <p:spPr>
          <a:xfrm>
            <a:off x="9255373" y="659533"/>
            <a:ext cx="230224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AI-CONECT Chatbot</a:t>
            </a:r>
          </a:p>
          <a:p>
            <a:pPr algn="ctr"/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To examine the potential of AI-based design choices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DE267C2-E65D-9A0E-9BA0-AE5DA195DC2E}"/>
              </a:ext>
            </a:extLst>
          </p:cNvPr>
          <p:cNvSpPr txBox="1"/>
          <p:nvPr/>
        </p:nvSpPr>
        <p:spPr>
          <a:xfrm>
            <a:off x="870" y="3393620"/>
            <a:ext cx="2443190" cy="954107"/>
          </a:xfrm>
          <a:prstGeom prst="rect">
            <a:avLst/>
          </a:prstGeom>
          <a:solidFill>
            <a:schemeClr val="bg1"/>
          </a:solidFill>
          <a:ln w="25400">
            <a:solidFill>
              <a:schemeClr val="bg2">
                <a:lumMod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1200" b="1" dirty="0"/>
              <a:t>User-friendly Interface</a:t>
            </a:r>
          </a:p>
          <a:p>
            <a:r>
              <a:rPr lang="en-US" sz="11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“To avoid confounding effects of cognitive stimulation from learning how to use videochats, the user-friendly simple chat device was created.”</a:t>
            </a:r>
          </a:p>
        </p:txBody>
      </p:sp>
      <p:cxnSp>
        <p:nvCxnSpPr>
          <p:cNvPr id="63" name="Curved Connector 62">
            <a:extLst>
              <a:ext uri="{FF2B5EF4-FFF2-40B4-BE49-F238E27FC236}">
                <a16:creationId xmlns:a16="http://schemas.microsoft.com/office/drawing/2014/main" id="{62F18138-ED24-619C-B6E5-AAEA272D2E3D}"/>
              </a:ext>
            </a:extLst>
          </p:cNvPr>
          <p:cNvCxnSpPr>
            <a:cxnSpLocks/>
            <a:stCxn id="60" idx="3"/>
            <a:endCxn id="6" idx="1"/>
          </p:cNvCxnSpPr>
          <p:nvPr/>
        </p:nvCxnSpPr>
        <p:spPr>
          <a:xfrm flipV="1">
            <a:off x="2444060" y="1923187"/>
            <a:ext cx="330582" cy="1947487"/>
          </a:xfrm>
          <a:prstGeom prst="curvedConnector3">
            <a:avLst>
              <a:gd name="adj1" fmla="val 50000"/>
            </a:avLst>
          </a:prstGeom>
          <a:ln w="158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Google Shape;1100;p91">
            <a:extLst>
              <a:ext uri="{FF2B5EF4-FFF2-40B4-BE49-F238E27FC236}">
                <a16:creationId xmlns:a16="http://schemas.microsoft.com/office/drawing/2014/main" id="{EAB9BCCA-B13A-6F64-C3A3-B6200EAC7196}"/>
              </a:ext>
            </a:extLst>
          </p:cNvPr>
          <p:cNvSpPr/>
          <p:nvPr/>
        </p:nvSpPr>
        <p:spPr>
          <a:xfrm>
            <a:off x="9804250" y="2488684"/>
            <a:ext cx="1721127" cy="302096"/>
          </a:xfrm>
          <a:prstGeom prst="roundRect">
            <a:avLst>
              <a:gd name="adj" fmla="val 16667"/>
            </a:avLst>
          </a:prstGeom>
          <a:solidFill>
            <a:srgbClr val="EAD1DC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100" i="1" dirty="0"/>
              <a:t>Voice Interface</a:t>
            </a:r>
            <a:endParaRPr sz="1100" i="1" dirty="0"/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25F75EBB-67D8-DBCB-47EC-D76310FBBD2D}"/>
              </a:ext>
            </a:extLst>
          </p:cNvPr>
          <p:cNvSpPr/>
          <p:nvPr/>
        </p:nvSpPr>
        <p:spPr>
          <a:xfrm>
            <a:off x="9802006" y="2889953"/>
            <a:ext cx="1721128" cy="1300165"/>
          </a:xfrm>
          <a:prstGeom prst="roundRect">
            <a:avLst>
              <a:gd name="adj" fmla="val 9249"/>
            </a:avLst>
          </a:prstGeom>
          <a:blipFill>
            <a:blip r:embed="rId9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35835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AA4D4BD3-0DE3-EFFB-3481-2AA30B2D7B36}"/>
              </a:ext>
            </a:extLst>
          </p:cNvPr>
          <p:cNvGrpSpPr/>
          <p:nvPr/>
        </p:nvGrpSpPr>
        <p:grpSpPr>
          <a:xfrm>
            <a:off x="925970" y="349303"/>
            <a:ext cx="10340059" cy="4721480"/>
            <a:chOff x="925970" y="29814"/>
            <a:chExt cx="10340059" cy="4721480"/>
          </a:xfrm>
        </p:grpSpPr>
        <p:sp>
          <p:nvSpPr>
            <p:cNvPr id="5178" name="TextBox 5177">
              <a:extLst>
                <a:ext uri="{FF2B5EF4-FFF2-40B4-BE49-F238E27FC236}">
                  <a16:creationId xmlns:a16="http://schemas.microsoft.com/office/drawing/2014/main" id="{B43CBDD4-5A35-B625-29EC-3B1810DA6EF2}"/>
                </a:ext>
              </a:extLst>
            </p:cNvPr>
            <p:cNvSpPr txBox="1"/>
            <p:nvPr/>
          </p:nvSpPr>
          <p:spPr>
            <a:xfrm>
              <a:off x="4908040" y="29814"/>
              <a:ext cx="206492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b="1" dirty="0"/>
                <a:t>Development Pipeline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2DBAD006-5586-52EA-DA77-AEA684C7A6A2}"/>
                </a:ext>
              </a:extLst>
            </p:cNvPr>
            <p:cNvSpPr/>
            <p:nvPr/>
          </p:nvSpPr>
          <p:spPr>
            <a:xfrm>
              <a:off x="9126932" y="405286"/>
              <a:ext cx="2139097" cy="434600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Chatbot as Interviewer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946958E-85E0-5E42-15B7-4D1B542DDE8E}"/>
                </a:ext>
              </a:extLst>
            </p:cNvPr>
            <p:cNvSpPr/>
            <p:nvPr/>
          </p:nvSpPr>
          <p:spPr>
            <a:xfrm>
              <a:off x="925970" y="397782"/>
              <a:ext cx="2057400" cy="434600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Human as Interviewer</a:t>
              </a:r>
            </a:p>
          </p:txBody>
        </p:sp>
        <p:cxnSp>
          <p:nvCxnSpPr>
            <p:cNvPr id="5154" name="Straight Arrow Connector 5153">
              <a:extLst>
                <a:ext uri="{FF2B5EF4-FFF2-40B4-BE49-F238E27FC236}">
                  <a16:creationId xmlns:a16="http://schemas.microsoft.com/office/drawing/2014/main" id="{E022B0E8-D0E6-E0B5-E9AF-08F15A8D8DC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51940" y="1479048"/>
              <a:ext cx="5461" cy="157649"/>
            </a:xfrm>
            <a:prstGeom prst="straightConnector1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E01C5E8-3C92-D664-24B0-B58BA0F180FB}"/>
                </a:ext>
              </a:extLst>
            </p:cNvPr>
            <p:cNvSpPr/>
            <p:nvPr/>
          </p:nvSpPr>
          <p:spPr>
            <a:xfrm>
              <a:off x="2978067" y="401534"/>
              <a:ext cx="3081528" cy="434225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Digital Twin</a:t>
              </a:r>
            </a:p>
          </p:txBody>
        </p:sp>
        <p:grpSp>
          <p:nvGrpSpPr>
            <p:cNvPr id="5138" name="Group 5137">
              <a:extLst>
                <a:ext uri="{FF2B5EF4-FFF2-40B4-BE49-F238E27FC236}">
                  <a16:creationId xmlns:a16="http://schemas.microsoft.com/office/drawing/2014/main" id="{255E09AA-5B6B-75F3-589F-981648D6767B}"/>
                </a:ext>
              </a:extLst>
            </p:cNvPr>
            <p:cNvGrpSpPr/>
            <p:nvPr/>
          </p:nvGrpSpPr>
          <p:grpSpPr>
            <a:xfrm>
              <a:off x="3194760" y="732015"/>
              <a:ext cx="2648142" cy="1138969"/>
              <a:chOff x="9055886" y="2608044"/>
              <a:chExt cx="2648142" cy="1138969"/>
            </a:xfrm>
          </p:grpSpPr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A86FAEAE-37A4-FC0C-CC20-21AB21B09210}"/>
                  </a:ext>
                </a:extLst>
              </p:cNvPr>
              <p:cNvSpPr/>
              <p:nvPr/>
            </p:nvSpPr>
            <p:spPr>
              <a:xfrm>
                <a:off x="9055886" y="2729448"/>
                <a:ext cx="2648142" cy="1017565"/>
              </a:xfrm>
              <a:prstGeom prst="roundRect">
                <a:avLst>
                  <a:gd name="adj" fmla="val 5242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rtl="0">
                  <a:spcBef>
                    <a:spcPts val="640"/>
                  </a:spcBef>
                  <a:spcAft>
                    <a:spcPts val="0"/>
                  </a:spcAft>
                </a:pPr>
                <a:endParaRPr lang="en-US" sz="9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8E59858F-A66A-F555-D399-B15758D172D8}"/>
                  </a:ext>
                </a:extLst>
              </p:cNvPr>
              <p:cNvSpPr/>
              <p:nvPr/>
            </p:nvSpPr>
            <p:spPr>
              <a:xfrm>
                <a:off x="9248912" y="3206372"/>
                <a:ext cx="2272847" cy="446642"/>
              </a:xfrm>
              <a:prstGeom prst="roundRect">
                <a:avLst>
                  <a:gd name="adj" fmla="val 11790"/>
                </a:avLst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rtl="0">
                  <a:spcBef>
                    <a:spcPts val="640"/>
                  </a:spcBef>
                  <a:spcAft>
                    <a:spcPts val="0"/>
                  </a:spcAft>
                </a:pPr>
                <a:r>
                  <a:rPr lang="en-US" sz="900" dirty="0">
                    <a:solidFill>
                      <a:schemeClr val="tx1"/>
                    </a:solidFill>
                  </a:rPr>
                  <a:t>Interviewer: </a:t>
                </a:r>
                <a:r>
                  <a:rPr 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Any fun to share? </a:t>
                </a:r>
                <a:br>
                  <a:rPr 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</a:br>
                <a:r>
                  <a:rPr lang="en-US" sz="900" dirty="0">
                    <a:solidFill>
                      <a:schemeClr val="tx1"/>
                    </a:solidFill>
                  </a:rPr>
                  <a:t>Patient: </a:t>
                </a:r>
                <a:r>
                  <a:rPr 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I went to &lt;LOCATION&gt; &lt;DATE&gt;.</a:t>
                </a:r>
              </a:p>
            </p:txBody>
          </p:sp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CCE523CD-A991-2BE3-5F90-44B72D6FCF72}"/>
                  </a:ext>
                </a:extLst>
              </p:cNvPr>
              <p:cNvSpPr/>
              <p:nvPr/>
            </p:nvSpPr>
            <p:spPr>
              <a:xfrm>
                <a:off x="9241009" y="2920952"/>
                <a:ext cx="2272847" cy="228333"/>
              </a:xfrm>
              <a:prstGeom prst="roundRect">
                <a:avLst>
                  <a:gd name="adj" fmla="val 11790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rtl="0">
                  <a:spcBef>
                    <a:spcPts val="640"/>
                  </a:spcBef>
                  <a:spcAft>
                    <a:spcPts val="0"/>
                  </a:spcAft>
                </a:pPr>
                <a:r>
                  <a:rPr lang="en-US" sz="900" dirty="0">
                    <a:solidFill>
                      <a:schemeClr val="tx1"/>
                    </a:solidFill>
                  </a:rPr>
                  <a:t>Record, transcribe, remove PIIs, filtering…</a:t>
                </a:r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3CC82DE7-0D53-537D-5582-89D1DABAE737}"/>
                  </a:ext>
                </a:extLst>
              </p:cNvPr>
              <p:cNvSpPr/>
              <p:nvPr/>
            </p:nvSpPr>
            <p:spPr>
              <a:xfrm>
                <a:off x="9793071" y="2608044"/>
                <a:ext cx="1173773" cy="243384"/>
              </a:xfrm>
              <a:prstGeom prst="roundRect">
                <a:avLst>
                  <a:gd name="adj" fmla="val 29116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>
                  <a:spcBef>
                    <a:spcPts val="640"/>
                  </a:spcBef>
                  <a:spcAft>
                    <a:spcPts val="0"/>
                  </a:spcAft>
                </a:pPr>
                <a:r>
                  <a:rPr lang="en-US" sz="900" dirty="0">
                    <a:solidFill>
                      <a:schemeClr val="tx1"/>
                    </a:solidFill>
                  </a:rPr>
                  <a:t>(1) Data Curation</a:t>
                </a:r>
              </a:p>
            </p:txBody>
          </p:sp>
        </p:grpSp>
        <p:grpSp>
          <p:nvGrpSpPr>
            <p:cNvPr id="5166" name="Group 5165">
              <a:extLst>
                <a:ext uri="{FF2B5EF4-FFF2-40B4-BE49-F238E27FC236}">
                  <a16:creationId xmlns:a16="http://schemas.microsoft.com/office/drawing/2014/main" id="{4527AAD0-0F25-138B-A443-601418138CC1}"/>
                </a:ext>
              </a:extLst>
            </p:cNvPr>
            <p:cNvGrpSpPr/>
            <p:nvPr/>
          </p:nvGrpSpPr>
          <p:grpSpPr>
            <a:xfrm>
              <a:off x="3202511" y="3437301"/>
              <a:ext cx="2632640" cy="1016558"/>
              <a:chOff x="6544884" y="1779455"/>
              <a:chExt cx="2632640" cy="1016558"/>
            </a:xfrm>
          </p:grpSpPr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BB2CB8AC-6838-B330-F9EE-1BD7206B6423}"/>
                  </a:ext>
                </a:extLst>
              </p:cNvPr>
              <p:cNvSpPr/>
              <p:nvPr/>
            </p:nvSpPr>
            <p:spPr>
              <a:xfrm>
                <a:off x="6544884" y="1901147"/>
                <a:ext cx="2632640" cy="894866"/>
              </a:xfrm>
              <a:prstGeom prst="roundRect">
                <a:avLst>
                  <a:gd name="adj" fmla="val 8865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rtl="0">
                  <a:spcBef>
                    <a:spcPts val="640"/>
                  </a:spcBef>
                  <a:spcAft>
                    <a:spcPts val="0"/>
                  </a:spcAft>
                </a:pPr>
                <a:endParaRPr lang="en-US" sz="9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Rounded Rectangle 26">
                <a:extLst>
                  <a:ext uri="{FF2B5EF4-FFF2-40B4-BE49-F238E27FC236}">
                    <a16:creationId xmlns:a16="http://schemas.microsoft.com/office/drawing/2014/main" id="{B4DAA39F-3AD5-1E4B-C0DF-871BFCCBDB78}"/>
                  </a:ext>
                </a:extLst>
              </p:cNvPr>
              <p:cNvSpPr/>
              <p:nvPr/>
            </p:nvSpPr>
            <p:spPr>
              <a:xfrm>
                <a:off x="7164983" y="1779455"/>
                <a:ext cx="1392442" cy="243384"/>
              </a:xfrm>
              <a:prstGeom prst="roundRect">
                <a:avLst>
                  <a:gd name="adj" fmla="val 29116"/>
                </a:avLst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>
                  <a:spcBef>
                    <a:spcPts val="640"/>
                  </a:spcBef>
                  <a:spcAft>
                    <a:spcPts val="0"/>
                  </a:spcAft>
                </a:pPr>
                <a:r>
                  <a:rPr lang="en-US" sz="900" dirty="0">
                    <a:solidFill>
                      <a:schemeClr val="bg1"/>
                    </a:solidFill>
                  </a:rPr>
                  <a:t>(5) Symptom Validation</a:t>
                </a:r>
              </a:p>
            </p:txBody>
          </p:sp>
        </p:grpSp>
        <p:cxnSp>
          <p:nvCxnSpPr>
            <p:cNvPr id="56" name="Elbow Connector 55">
              <a:extLst>
                <a:ext uri="{FF2B5EF4-FFF2-40B4-BE49-F238E27FC236}">
                  <a16:creationId xmlns:a16="http://schemas.microsoft.com/office/drawing/2014/main" id="{23DB34E2-8E50-EE7A-A560-79034003B82D}"/>
                </a:ext>
              </a:extLst>
            </p:cNvPr>
            <p:cNvCxnSpPr>
              <a:cxnSpLocks/>
              <a:stCxn id="28" idx="1"/>
              <a:endCxn id="13" idx="1"/>
            </p:cNvCxnSpPr>
            <p:nvPr/>
          </p:nvCxnSpPr>
          <p:spPr>
            <a:xfrm rot="10800000">
              <a:off x="3202511" y="2715544"/>
              <a:ext cx="12700" cy="1290882"/>
            </a:xfrm>
            <a:prstGeom prst="bentConnector3">
              <a:avLst>
                <a:gd name="adj1" fmla="val 1800000"/>
              </a:avLst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35" name="Elbow Connector 5134">
              <a:extLst>
                <a:ext uri="{FF2B5EF4-FFF2-40B4-BE49-F238E27FC236}">
                  <a16:creationId xmlns:a16="http://schemas.microsoft.com/office/drawing/2014/main" id="{E1E2E1CD-7DC0-6BAD-8144-CF8F5111B1A0}"/>
                </a:ext>
              </a:extLst>
            </p:cNvPr>
            <p:cNvCxnSpPr>
              <a:cxnSpLocks/>
              <a:stCxn id="10" idx="3"/>
              <a:endCxn id="6" idx="1"/>
            </p:cNvCxnSpPr>
            <p:nvPr/>
          </p:nvCxnSpPr>
          <p:spPr>
            <a:xfrm flipV="1">
              <a:off x="2839507" y="1362202"/>
              <a:ext cx="355253" cy="719984"/>
            </a:xfrm>
            <a:prstGeom prst="bentConnector3">
              <a:avLst>
                <a:gd name="adj1" fmla="val 40287"/>
              </a:avLst>
            </a:prstGeom>
            <a:ln w="158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B88EEC9-DFC0-C3B6-8C46-A487ED59EC3D}"/>
                </a:ext>
              </a:extLst>
            </p:cNvPr>
            <p:cNvSpPr/>
            <p:nvPr/>
          </p:nvSpPr>
          <p:spPr>
            <a:xfrm>
              <a:off x="6045405" y="405287"/>
              <a:ext cx="3081528" cy="434600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Chatbot</a:t>
              </a:r>
            </a:p>
          </p:txBody>
        </p:sp>
        <p:grpSp>
          <p:nvGrpSpPr>
            <p:cNvPr id="5145" name="Group 5144">
              <a:extLst>
                <a:ext uri="{FF2B5EF4-FFF2-40B4-BE49-F238E27FC236}">
                  <a16:creationId xmlns:a16="http://schemas.microsoft.com/office/drawing/2014/main" id="{1A5B8BF1-0256-C18B-98A2-8E708DD55DC3}"/>
                </a:ext>
              </a:extLst>
            </p:cNvPr>
            <p:cNvGrpSpPr/>
            <p:nvPr/>
          </p:nvGrpSpPr>
          <p:grpSpPr>
            <a:xfrm>
              <a:off x="3202511" y="2106545"/>
              <a:ext cx="2632640" cy="1088801"/>
              <a:chOff x="3153608" y="3879715"/>
              <a:chExt cx="2632640" cy="1088801"/>
            </a:xfrm>
          </p:grpSpPr>
          <p:grpSp>
            <p:nvGrpSpPr>
              <p:cNvPr id="5124" name="Group 5123">
                <a:extLst>
                  <a:ext uri="{FF2B5EF4-FFF2-40B4-BE49-F238E27FC236}">
                    <a16:creationId xmlns:a16="http://schemas.microsoft.com/office/drawing/2014/main" id="{AF610B75-AA08-25C2-4461-C39C4301FD40}"/>
                  </a:ext>
                </a:extLst>
              </p:cNvPr>
              <p:cNvGrpSpPr/>
              <p:nvPr/>
            </p:nvGrpSpPr>
            <p:grpSpPr>
              <a:xfrm>
                <a:off x="3153608" y="3879715"/>
                <a:ext cx="2632640" cy="1088801"/>
                <a:chOff x="4069132" y="4363380"/>
                <a:chExt cx="2632640" cy="1088801"/>
              </a:xfrm>
            </p:grpSpPr>
            <p:sp>
              <p:nvSpPr>
                <p:cNvPr id="13" name="Rounded Rectangle 12">
                  <a:extLst>
                    <a:ext uri="{FF2B5EF4-FFF2-40B4-BE49-F238E27FC236}">
                      <a16:creationId xmlns:a16="http://schemas.microsoft.com/office/drawing/2014/main" id="{3885FA25-8476-F7D8-6D9B-F7F8D9925C89}"/>
                    </a:ext>
                  </a:extLst>
                </p:cNvPr>
                <p:cNvSpPr/>
                <p:nvPr/>
              </p:nvSpPr>
              <p:spPr>
                <a:xfrm>
                  <a:off x="4069132" y="4492577"/>
                  <a:ext cx="2632640" cy="959604"/>
                </a:xfrm>
                <a:prstGeom prst="roundRect">
                  <a:avLst>
                    <a:gd name="adj" fmla="val 5242"/>
                  </a:avLst>
                </a:prstGeom>
                <a:solidFill>
                  <a:schemeClr val="bg1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rtl="0">
                    <a:spcBef>
                      <a:spcPts val="640"/>
                    </a:spcBef>
                    <a:spcAft>
                      <a:spcPts val="0"/>
                    </a:spcAft>
                  </a:pPr>
                  <a:endParaRPr lang="en-US" sz="9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4" name="Rounded Rectangle 13">
                  <a:extLst>
                    <a:ext uri="{FF2B5EF4-FFF2-40B4-BE49-F238E27FC236}">
                      <a16:creationId xmlns:a16="http://schemas.microsoft.com/office/drawing/2014/main" id="{F6887AF8-6C34-868C-B7DE-786BCCCA789D}"/>
                    </a:ext>
                  </a:extLst>
                </p:cNvPr>
                <p:cNvSpPr/>
                <p:nvPr/>
              </p:nvSpPr>
              <p:spPr>
                <a:xfrm>
                  <a:off x="4678659" y="4363380"/>
                  <a:ext cx="1413586" cy="243384"/>
                </a:xfrm>
                <a:prstGeom prst="roundRect">
                  <a:avLst>
                    <a:gd name="adj" fmla="val 29116"/>
                  </a:avLst>
                </a:prstGeom>
                <a:solidFill>
                  <a:schemeClr val="accent4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rtl="0">
                    <a:spcBef>
                      <a:spcPts val="640"/>
                    </a:spcBef>
                    <a:spcAft>
                      <a:spcPts val="0"/>
                    </a:spcAft>
                  </a:pPr>
                  <a:r>
                    <a:rPr lang="en-US" sz="900" dirty="0">
                      <a:solidFill>
                        <a:schemeClr val="bg1"/>
                      </a:solidFill>
                    </a:rPr>
                    <a:t>(2) Creating Digital-Twin</a:t>
                  </a:r>
                </a:p>
              </p:txBody>
            </p:sp>
            <p:pic>
              <p:nvPicPr>
                <p:cNvPr id="5122" name="Picture 2" descr="Digital Twin Icons - Free SVG &amp; PNG Digital Twin Images ...">
                  <a:extLst>
                    <a:ext uri="{FF2B5EF4-FFF2-40B4-BE49-F238E27FC236}">
                      <a16:creationId xmlns:a16="http://schemas.microsoft.com/office/drawing/2014/main" id="{95CEB0EE-2BAE-E589-C76D-59B5DEC7708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5662387" y="4649778"/>
                  <a:ext cx="735936" cy="735936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20" name="Rounded Rectangle 19">
                  <a:extLst>
                    <a:ext uri="{FF2B5EF4-FFF2-40B4-BE49-F238E27FC236}">
                      <a16:creationId xmlns:a16="http://schemas.microsoft.com/office/drawing/2014/main" id="{873AE036-DC57-D4A2-8CA2-AA400B9301C7}"/>
                    </a:ext>
                  </a:extLst>
                </p:cNvPr>
                <p:cNvSpPr/>
                <p:nvPr/>
              </p:nvSpPr>
              <p:spPr>
                <a:xfrm>
                  <a:off x="4258473" y="4689231"/>
                  <a:ext cx="954454" cy="657031"/>
                </a:xfrm>
                <a:prstGeom prst="roundRect">
                  <a:avLst>
                    <a:gd name="adj" fmla="val 11790"/>
                  </a:avLst>
                </a:prstGeom>
                <a:solidFill>
                  <a:schemeClr val="bg1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rtl="0">
                    <a:spcBef>
                      <a:spcPts val="640"/>
                    </a:spcBef>
                    <a:spcAft>
                      <a:spcPts val="0"/>
                    </a:spcAft>
                  </a:pPr>
                  <a:r>
                    <a:rPr lang="en-US" sz="900" dirty="0">
                      <a:solidFill>
                        <a:schemeClr val="tx1"/>
                      </a:solidFill>
                    </a:rPr>
                    <a:t>Fine-tune LLM</a:t>
                  </a:r>
                </a:p>
              </p:txBody>
            </p:sp>
          </p:grpSp>
          <p:pic>
            <p:nvPicPr>
              <p:cNvPr id="12290" name="Picture 2">
                <a:extLst>
                  <a:ext uri="{FF2B5EF4-FFF2-40B4-BE49-F238E27FC236}">
                    <a16:creationId xmlns:a16="http://schemas.microsoft.com/office/drawing/2014/main" id="{BCB99FAE-441C-CF1C-ABC9-AB02398C8A5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630679" y="4449917"/>
                <a:ext cx="368282" cy="346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66018C8A-2D15-34E6-3635-873F1C6B5077}"/>
                </a:ext>
              </a:extLst>
            </p:cNvPr>
            <p:cNvCxnSpPr>
              <a:cxnSpLocks/>
              <a:stCxn id="20" idx="3"/>
              <a:endCxn id="5122" idx="1"/>
            </p:cNvCxnSpPr>
            <p:nvPr/>
          </p:nvCxnSpPr>
          <p:spPr>
            <a:xfrm flipV="1">
              <a:off x="4346306" y="2760911"/>
              <a:ext cx="449460" cy="1"/>
            </a:xfrm>
            <a:prstGeom prst="straightConnector1">
              <a:avLst/>
            </a:prstGeom>
            <a:ln w="15875">
              <a:solidFill>
                <a:schemeClr val="accent4">
                  <a:lumMod val="7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00" name="Elbow Connector 12299">
              <a:extLst>
                <a:ext uri="{FF2B5EF4-FFF2-40B4-BE49-F238E27FC236}">
                  <a16:creationId xmlns:a16="http://schemas.microsoft.com/office/drawing/2014/main" id="{3F6C2417-2F15-420A-6514-41A3536E2B92}"/>
                </a:ext>
              </a:extLst>
            </p:cNvPr>
            <p:cNvCxnSpPr>
              <a:cxnSpLocks/>
              <a:stCxn id="15" idx="3"/>
              <a:endCxn id="12349" idx="1"/>
            </p:cNvCxnSpPr>
            <p:nvPr/>
          </p:nvCxnSpPr>
          <p:spPr>
            <a:xfrm flipV="1">
              <a:off x="8910240" y="1163991"/>
              <a:ext cx="353951" cy="19821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46" name="Rounded Rectangle 12345">
              <a:extLst>
                <a:ext uri="{FF2B5EF4-FFF2-40B4-BE49-F238E27FC236}">
                  <a16:creationId xmlns:a16="http://schemas.microsoft.com/office/drawing/2014/main" id="{E66501B2-4243-EEE9-D772-6111CBB18DBD}"/>
                </a:ext>
              </a:extLst>
            </p:cNvPr>
            <p:cNvSpPr/>
            <p:nvPr/>
          </p:nvSpPr>
          <p:spPr>
            <a:xfrm>
              <a:off x="9257945" y="1776985"/>
              <a:ext cx="1769674" cy="650181"/>
            </a:xfrm>
            <a:prstGeom prst="roundRect">
              <a:avLst>
                <a:gd name="adj" fmla="val 11790"/>
              </a:avLst>
            </a:prstGeom>
            <a:solidFill>
              <a:schemeClr val="bg1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rtl="0">
                <a:spcBef>
                  <a:spcPts val="640"/>
                </a:spcBef>
                <a:spcAft>
                  <a:spcPts val="0"/>
                </a:spcAft>
              </a:pPr>
              <a:endParaRPr lang="en-US" sz="900" dirty="0">
                <a:solidFill>
                  <a:schemeClr val="tx1"/>
                </a:solidFill>
              </a:endParaRPr>
            </a:p>
          </p:txBody>
        </p:sp>
        <p:cxnSp>
          <p:nvCxnSpPr>
            <p:cNvPr id="12347" name="Straight Arrow Connector 12346">
              <a:extLst>
                <a:ext uri="{FF2B5EF4-FFF2-40B4-BE49-F238E27FC236}">
                  <a16:creationId xmlns:a16="http://schemas.microsoft.com/office/drawing/2014/main" id="{33CA9F7C-15EE-4373-C09B-869AE823BB9B}"/>
                </a:ext>
              </a:extLst>
            </p:cNvPr>
            <p:cNvCxnSpPr>
              <a:cxnSpLocks/>
              <a:stCxn id="12349" idx="2"/>
              <a:endCxn id="5247" idx="0"/>
            </p:cNvCxnSpPr>
            <p:nvPr/>
          </p:nvCxnSpPr>
          <p:spPr>
            <a:xfrm>
              <a:off x="10149028" y="1479048"/>
              <a:ext cx="3123" cy="178815"/>
            </a:xfrm>
            <a:prstGeom prst="straightConnector1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348" name="Group 12347">
              <a:extLst>
                <a:ext uri="{FF2B5EF4-FFF2-40B4-BE49-F238E27FC236}">
                  <a16:creationId xmlns:a16="http://schemas.microsoft.com/office/drawing/2014/main" id="{106709EB-0B0F-BA80-78AF-DBAAF5751EC1}"/>
                </a:ext>
              </a:extLst>
            </p:cNvPr>
            <p:cNvGrpSpPr/>
            <p:nvPr/>
          </p:nvGrpSpPr>
          <p:grpSpPr>
            <a:xfrm>
              <a:off x="9264191" y="718502"/>
              <a:ext cx="1769674" cy="760546"/>
              <a:chOff x="524863" y="1714389"/>
              <a:chExt cx="1769674" cy="760546"/>
            </a:xfrm>
          </p:grpSpPr>
          <p:sp>
            <p:nvSpPr>
              <p:cNvPr id="12349" name="Rounded Rectangle 12348">
                <a:extLst>
                  <a:ext uri="{FF2B5EF4-FFF2-40B4-BE49-F238E27FC236}">
                    <a16:creationId xmlns:a16="http://schemas.microsoft.com/office/drawing/2014/main" id="{AD248F20-08E7-FA42-7500-149A0D7FAFB1}"/>
                  </a:ext>
                </a:extLst>
              </p:cNvPr>
              <p:cNvSpPr/>
              <p:nvPr/>
            </p:nvSpPr>
            <p:spPr>
              <a:xfrm>
                <a:off x="524863" y="1844820"/>
                <a:ext cx="1769674" cy="630115"/>
              </a:xfrm>
              <a:prstGeom prst="roundRect">
                <a:avLst>
                  <a:gd name="adj" fmla="val 11790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rtl="0">
                  <a:spcBef>
                    <a:spcPts val="640"/>
                  </a:spcBef>
                  <a:spcAft>
                    <a:spcPts val="0"/>
                  </a:spcAft>
                </a:pPr>
                <a:endParaRPr lang="en-US" sz="9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351" name="Rounded Rectangle 12350">
                <a:extLst>
                  <a:ext uri="{FF2B5EF4-FFF2-40B4-BE49-F238E27FC236}">
                    <a16:creationId xmlns:a16="http://schemas.microsoft.com/office/drawing/2014/main" id="{819B8667-6421-3537-DAA3-E9EE7079B374}"/>
                  </a:ext>
                </a:extLst>
              </p:cNvPr>
              <p:cNvSpPr/>
              <p:nvPr/>
            </p:nvSpPr>
            <p:spPr>
              <a:xfrm>
                <a:off x="1038158" y="1714389"/>
                <a:ext cx="747090" cy="243384"/>
              </a:xfrm>
              <a:prstGeom prst="roundRect">
                <a:avLst>
                  <a:gd name="adj" fmla="val 29116"/>
                </a:avLst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>
                  <a:spcBef>
                    <a:spcPts val="640"/>
                  </a:spcBef>
                  <a:spcAft>
                    <a:spcPts val="0"/>
                  </a:spcAft>
                </a:pPr>
                <a:r>
                  <a:rPr lang="en-US" sz="900" dirty="0">
                    <a:solidFill>
                      <a:schemeClr val="bg1"/>
                    </a:solidFill>
                  </a:rPr>
                  <a:t>Chat</a:t>
                </a:r>
              </a:p>
            </p:txBody>
          </p:sp>
          <p:pic>
            <p:nvPicPr>
              <p:cNvPr id="5184" name="Graphic 5183" descr="Male profile outline">
                <a:extLst>
                  <a:ext uri="{FF2B5EF4-FFF2-40B4-BE49-F238E27FC236}">
                    <a16:creationId xmlns:a16="http://schemas.microsoft.com/office/drawing/2014/main" id="{68FEC3A0-175F-5E46-F29E-CF186AFBAF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708618" y="1951000"/>
                <a:ext cx="481501" cy="481501"/>
              </a:xfrm>
              <a:prstGeom prst="rect">
                <a:avLst/>
              </a:prstGeom>
            </p:spPr>
          </p:pic>
          <p:pic>
            <p:nvPicPr>
              <p:cNvPr id="5186" name="Graphic 5185" descr="Transfer with solid fill">
                <a:extLst>
                  <a:ext uri="{FF2B5EF4-FFF2-40B4-BE49-F238E27FC236}">
                    <a16:creationId xmlns:a16="http://schemas.microsoft.com/office/drawing/2014/main" id="{7A6A9DAA-7967-A03C-E98E-3C153D4690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1269092" y="2052849"/>
                <a:ext cx="254554" cy="254554"/>
              </a:xfrm>
              <a:prstGeom prst="rect">
                <a:avLst/>
              </a:prstGeom>
            </p:spPr>
          </p:pic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AE824488-03AB-E0C3-F663-87967A380CCE}"/>
                </a:ext>
              </a:extLst>
            </p:cNvPr>
            <p:cNvGrpSpPr/>
            <p:nvPr/>
          </p:nvGrpSpPr>
          <p:grpSpPr>
            <a:xfrm>
              <a:off x="6262098" y="719431"/>
              <a:ext cx="2648142" cy="1151554"/>
              <a:chOff x="6258272" y="719431"/>
              <a:chExt cx="2648142" cy="1151554"/>
            </a:xfrm>
          </p:grpSpPr>
          <p:grpSp>
            <p:nvGrpSpPr>
              <p:cNvPr id="5180" name="Group 5179">
                <a:extLst>
                  <a:ext uri="{FF2B5EF4-FFF2-40B4-BE49-F238E27FC236}">
                    <a16:creationId xmlns:a16="http://schemas.microsoft.com/office/drawing/2014/main" id="{C491E5CF-5AB8-554A-B07D-9A692C9E6647}"/>
                  </a:ext>
                </a:extLst>
              </p:cNvPr>
              <p:cNvGrpSpPr/>
              <p:nvPr/>
            </p:nvGrpSpPr>
            <p:grpSpPr>
              <a:xfrm>
                <a:off x="6258272" y="719431"/>
                <a:ext cx="2648142" cy="1151554"/>
                <a:chOff x="1075208" y="1949685"/>
                <a:chExt cx="2648142" cy="1151554"/>
              </a:xfrm>
            </p:grpSpPr>
            <p:sp>
              <p:nvSpPr>
                <p:cNvPr id="15" name="Rounded Rectangle 14">
                  <a:extLst>
                    <a:ext uri="{FF2B5EF4-FFF2-40B4-BE49-F238E27FC236}">
                      <a16:creationId xmlns:a16="http://schemas.microsoft.com/office/drawing/2014/main" id="{7A36A5C0-B4BB-0C76-BC1B-A6BF80360FB4}"/>
                    </a:ext>
                  </a:extLst>
                </p:cNvPr>
                <p:cNvSpPr/>
                <p:nvPr/>
              </p:nvSpPr>
              <p:spPr>
                <a:xfrm>
                  <a:off x="1075208" y="2083673"/>
                  <a:ext cx="2648142" cy="1017566"/>
                </a:xfrm>
                <a:prstGeom prst="roundRect">
                  <a:avLst>
                    <a:gd name="adj" fmla="val 6517"/>
                  </a:avLst>
                </a:prstGeom>
                <a:solidFill>
                  <a:schemeClr val="bg1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rtl="0">
                    <a:spcBef>
                      <a:spcPts val="640"/>
                    </a:spcBef>
                    <a:spcAft>
                      <a:spcPts val="0"/>
                    </a:spcAft>
                  </a:pPr>
                  <a:endParaRPr lang="en-US" sz="9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Rounded Rectangle 17">
                  <a:extLst>
                    <a:ext uri="{FF2B5EF4-FFF2-40B4-BE49-F238E27FC236}">
                      <a16:creationId xmlns:a16="http://schemas.microsoft.com/office/drawing/2014/main" id="{8651FED9-52A0-6B63-A231-FF6D1DBF2E6F}"/>
                    </a:ext>
                  </a:extLst>
                </p:cNvPr>
                <p:cNvSpPr/>
                <p:nvPr/>
              </p:nvSpPr>
              <p:spPr>
                <a:xfrm>
                  <a:off x="1747924" y="1949685"/>
                  <a:ext cx="1324552" cy="243384"/>
                </a:xfrm>
                <a:prstGeom prst="roundRect">
                  <a:avLst>
                    <a:gd name="adj" fmla="val 29116"/>
                  </a:avLst>
                </a:prstGeom>
                <a:solidFill>
                  <a:schemeClr val="accent1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rtl="0">
                    <a:spcBef>
                      <a:spcPts val="640"/>
                    </a:spcBef>
                    <a:spcAft>
                      <a:spcPts val="0"/>
                    </a:spcAft>
                  </a:pPr>
                  <a:r>
                    <a:rPr lang="en-US" sz="900" dirty="0">
                      <a:solidFill>
                        <a:schemeClr val="bg1"/>
                      </a:solidFill>
                    </a:rPr>
                    <a:t>(3) Designing Chatbot</a:t>
                  </a:r>
                </a:p>
              </p:txBody>
            </p:sp>
            <p:sp>
              <p:nvSpPr>
                <p:cNvPr id="16" name="Rounded Rectangle 15">
                  <a:extLst>
                    <a:ext uri="{FF2B5EF4-FFF2-40B4-BE49-F238E27FC236}">
                      <a16:creationId xmlns:a16="http://schemas.microsoft.com/office/drawing/2014/main" id="{706CDD71-E7C3-D231-00EB-EF715AC42A8A}"/>
                    </a:ext>
                  </a:extLst>
                </p:cNvPr>
                <p:cNvSpPr/>
                <p:nvPr/>
              </p:nvSpPr>
              <p:spPr>
                <a:xfrm>
                  <a:off x="1278447" y="2228159"/>
                  <a:ext cx="1471535" cy="779080"/>
                </a:xfrm>
                <a:prstGeom prst="roundRect">
                  <a:avLst>
                    <a:gd name="adj" fmla="val 11790"/>
                  </a:avLst>
                </a:prstGeom>
                <a:solidFill>
                  <a:schemeClr val="bg1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rtl="0">
                    <a:spcBef>
                      <a:spcPts val="640"/>
                    </a:spcBef>
                    <a:spcAft>
                      <a:spcPts val="0"/>
                    </a:spcAft>
                  </a:pPr>
                  <a:r>
                    <a:rPr lang="en-US" sz="900" dirty="0">
                      <a:solidFill>
                        <a:schemeClr val="tx1"/>
                      </a:solidFill>
                    </a:rPr>
                    <a:t>Design choices: Prompt, behavior guide, finetuning etc.</a:t>
                  </a:r>
                </a:p>
              </p:txBody>
            </p:sp>
          </p:grpSp>
          <p:pic>
            <p:nvPicPr>
              <p:cNvPr id="5123" name="Picture 2">
                <a:extLst>
                  <a:ext uri="{FF2B5EF4-FFF2-40B4-BE49-F238E27FC236}">
                    <a16:creationId xmlns:a16="http://schemas.microsoft.com/office/drawing/2014/main" id="{8FD4BBF2-69E4-0811-CD4C-46BBD4EBABD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013137" y="1380355"/>
                <a:ext cx="368282" cy="346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5125" name="Straight Arrow Connector 5124">
                <a:extLst>
                  <a:ext uri="{FF2B5EF4-FFF2-40B4-BE49-F238E27FC236}">
                    <a16:creationId xmlns:a16="http://schemas.microsoft.com/office/drawing/2014/main" id="{DF7E5B2B-50B5-2998-A653-268661CDB721}"/>
                  </a:ext>
                </a:extLst>
              </p:cNvPr>
              <p:cNvCxnSpPr>
                <a:cxnSpLocks/>
                <a:stCxn id="16" idx="3"/>
              </p:cNvCxnSpPr>
              <p:nvPr/>
            </p:nvCxnSpPr>
            <p:spPr>
              <a:xfrm>
                <a:off x="7933046" y="1387445"/>
                <a:ext cx="322494" cy="0"/>
              </a:xfrm>
              <a:prstGeom prst="straightConnector1">
                <a:avLst/>
              </a:prstGeom>
              <a:ln w="15875">
                <a:solidFill>
                  <a:schemeClr val="accent1">
                    <a:lumMod val="75000"/>
                  </a:schemeClr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5189" name="Graphic 5188" descr="Robot outline">
                <a:extLst>
                  <a:ext uri="{FF2B5EF4-FFF2-40B4-BE49-F238E27FC236}">
                    <a16:creationId xmlns:a16="http://schemas.microsoft.com/office/drawing/2014/main" id="{B4E60BD6-F698-FE0E-04E4-338D22EB2A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8100819" y="995054"/>
                <a:ext cx="718592" cy="718592"/>
              </a:xfrm>
              <a:prstGeom prst="rect">
                <a:avLst/>
              </a:prstGeom>
            </p:spPr>
          </p:pic>
        </p:grpSp>
        <p:pic>
          <p:nvPicPr>
            <p:cNvPr id="5190" name="Graphic 5189" descr="Robot outline">
              <a:extLst>
                <a:ext uri="{FF2B5EF4-FFF2-40B4-BE49-F238E27FC236}">
                  <a16:creationId xmlns:a16="http://schemas.microsoft.com/office/drawing/2014/main" id="{45165D72-8CED-AA4F-477A-1317755877F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393296" y="957282"/>
              <a:ext cx="497183" cy="497183"/>
            </a:xfrm>
            <a:prstGeom prst="rect">
              <a:avLst/>
            </a:prstGeom>
          </p:spPr>
        </p:pic>
        <p:sp>
          <p:nvSpPr>
            <p:cNvPr id="5197" name="Rounded Rectangle 5196">
              <a:extLst>
                <a:ext uri="{FF2B5EF4-FFF2-40B4-BE49-F238E27FC236}">
                  <a16:creationId xmlns:a16="http://schemas.microsoft.com/office/drawing/2014/main" id="{6ACB6DF2-E0F9-1542-35E9-D64C58E60185}"/>
                </a:ext>
              </a:extLst>
            </p:cNvPr>
            <p:cNvSpPr/>
            <p:nvPr/>
          </p:nvSpPr>
          <p:spPr>
            <a:xfrm>
              <a:off x="6262098" y="2115355"/>
              <a:ext cx="2648142" cy="1457071"/>
            </a:xfrm>
            <a:prstGeom prst="roundRect">
              <a:avLst>
                <a:gd name="adj" fmla="val 5242"/>
              </a:avLst>
            </a:prstGeom>
            <a:solidFill>
              <a:schemeClr val="bg1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rtl="0">
                <a:spcBef>
                  <a:spcPts val="640"/>
                </a:spcBef>
                <a:spcAft>
                  <a:spcPts val="0"/>
                </a:spcAft>
              </a:pPr>
              <a:endParaRPr lang="en-US" sz="900" dirty="0">
                <a:solidFill>
                  <a:schemeClr val="tx1"/>
                </a:solidFill>
              </a:endParaRP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6379FD70-A71A-EE7E-9E6A-5C80B15CC714}"/>
                </a:ext>
              </a:extLst>
            </p:cNvPr>
            <p:cNvSpPr/>
            <p:nvPr/>
          </p:nvSpPr>
          <p:spPr>
            <a:xfrm>
              <a:off x="6449746" y="2737644"/>
              <a:ext cx="2272847" cy="746817"/>
            </a:xfrm>
            <a:prstGeom prst="roundRect">
              <a:avLst>
                <a:gd name="adj" fmla="val 11790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rtl="0">
                <a:spcBef>
                  <a:spcPts val="640"/>
                </a:spcBef>
                <a:spcAft>
                  <a:spcPts val="0"/>
                </a:spcAft>
              </a:pPr>
              <a:r>
                <a:rPr lang="en-US" sz="900" dirty="0">
                  <a:solidFill>
                    <a:schemeClr val="tx1"/>
                  </a:solidFill>
                </a:rPr>
                <a:t>Chatbot: </a:t>
              </a:r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Hello, how are you today?</a:t>
              </a:r>
              <a:b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Digital-Twin: </a:t>
              </a:r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Not bad. How are you</a:t>
              </a:r>
              <a:b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Chatbot: </a:t>
              </a:r>
              <a:r>
                <a:rPr 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Good. Would you like to talk about history today?</a:t>
              </a: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CD5EDD2E-3262-2A5C-F0A8-91BFFE1B1C67}"/>
                </a:ext>
              </a:extLst>
            </p:cNvPr>
            <p:cNvCxnSpPr>
              <a:cxnSpLocks/>
            </p:cNvCxnSpPr>
            <p:nvPr/>
          </p:nvCxnSpPr>
          <p:spPr>
            <a:xfrm>
              <a:off x="7586169" y="1870985"/>
              <a:ext cx="1" cy="866659"/>
            </a:xfrm>
            <a:prstGeom prst="straightConnector1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92" name="Elbow Connector 5191">
              <a:extLst>
                <a:ext uri="{FF2B5EF4-FFF2-40B4-BE49-F238E27FC236}">
                  <a16:creationId xmlns:a16="http://schemas.microsoft.com/office/drawing/2014/main" id="{C75A542C-0975-8CEF-DE81-3687D05E8B5E}"/>
                </a:ext>
              </a:extLst>
            </p:cNvPr>
            <p:cNvCxnSpPr>
              <a:cxnSpLocks/>
              <a:stCxn id="5122" idx="3"/>
              <a:endCxn id="24" idx="1"/>
            </p:cNvCxnSpPr>
            <p:nvPr/>
          </p:nvCxnSpPr>
          <p:spPr>
            <a:xfrm flipV="1">
              <a:off x="5531702" y="2462618"/>
              <a:ext cx="918043" cy="298293"/>
            </a:xfrm>
            <a:prstGeom prst="bentConnector3">
              <a:avLst>
                <a:gd name="adj1" fmla="val 53759"/>
              </a:avLst>
            </a:prstGeom>
            <a:ln w="158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Elbow Connector 51">
              <a:extLst>
                <a:ext uri="{FF2B5EF4-FFF2-40B4-BE49-F238E27FC236}">
                  <a16:creationId xmlns:a16="http://schemas.microsoft.com/office/drawing/2014/main" id="{75A62E39-5BC1-83C0-BECF-2AC3AE5F01D6}"/>
                </a:ext>
              </a:extLst>
            </p:cNvPr>
            <p:cNvCxnSpPr>
              <a:cxnSpLocks/>
              <a:stCxn id="21" idx="1"/>
              <a:endCxn id="28" idx="3"/>
            </p:cNvCxnSpPr>
            <p:nvPr/>
          </p:nvCxnSpPr>
          <p:spPr>
            <a:xfrm rot="10800000" flipV="1">
              <a:off x="5835152" y="3111052"/>
              <a:ext cx="614595" cy="895373"/>
            </a:xfrm>
            <a:prstGeom prst="bentConnector3">
              <a:avLst>
                <a:gd name="adj1" fmla="val 65440"/>
              </a:avLst>
            </a:prstGeom>
            <a:ln w="158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98" name="Rounded Rectangle 5197">
              <a:extLst>
                <a:ext uri="{FF2B5EF4-FFF2-40B4-BE49-F238E27FC236}">
                  <a16:creationId xmlns:a16="http://schemas.microsoft.com/office/drawing/2014/main" id="{B3234C00-B8D0-50F8-166F-21EE0B74D1C1}"/>
                </a:ext>
              </a:extLst>
            </p:cNvPr>
            <p:cNvSpPr/>
            <p:nvPr/>
          </p:nvSpPr>
          <p:spPr>
            <a:xfrm>
              <a:off x="7106109" y="1994628"/>
              <a:ext cx="960120" cy="243384"/>
            </a:xfrm>
            <a:prstGeom prst="roundRect">
              <a:avLst>
                <a:gd name="adj" fmla="val 29116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>
                <a:spcBef>
                  <a:spcPts val="640"/>
                </a:spcBef>
                <a:spcAft>
                  <a:spcPts val="0"/>
                </a:spcAft>
              </a:pPr>
              <a:r>
                <a:rPr lang="en-US" sz="900" dirty="0">
                  <a:solidFill>
                    <a:schemeClr val="tx1"/>
                  </a:solidFill>
                </a:rPr>
                <a:t>(4) Simulation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46E58603-71C4-6A50-EA64-E89AD577D90A}"/>
                </a:ext>
              </a:extLst>
            </p:cNvPr>
            <p:cNvSpPr/>
            <p:nvPr/>
          </p:nvSpPr>
          <p:spPr>
            <a:xfrm>
              <a:off x="6449745" y="2326694"/>
              <a:ext cx="2272848" cy="271847"/>
            </a:xfrm>
            <a:prstGeom prst="roundRect">
              <a:avLst>
                <a:gd name="adj" fmla="val 11790"/>
              </a:avLst>
            </a:prstGeom>
            <a:solidFill>
              <a:schemeClr val="bg1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rtl="0">
                <a:spcBef>
                  <a:spcPts val="640"/>
                </a:spcBef>
                <a:spcAft>
                  <a:spcPts val="0"/>
                </a:spcAft>
              </a:pPr>
              <a:r>
                <a:rPr lang="en-US" sz="900" dirty="0">
                  <a:solidFill>
                    <a:schemeClr val="tx1"/>
                  </a:solidFill>
                </a:rPr>
                <a:t>Conversation simulation</a:t>
              </a:r>
            </a:p>
          </p:txBody>
        </p:sp>
        <p:cxnSp>
          <p:nvCxnSpPr>
            <p:cNvPr id="5158" name="Straight Arrow Connector 5157">
              <a:extLst>
                <a:ext uri="{FF2B5EF4-FFF2-40B4-BE49-F238E27FC236}">
                  <a16:creationId xmlns:a16="http://schemas.microsoft.com/office/drawing/2014/main" id="{A466050E-A5AD-DEC5-92DB-264AB955F4BA}"/>
                </a:ext>
              </a:extLst>
            </p:cNvPr>
            <p:cNvCxnSpPr>
              <a:cxnSpLocks/>
              <a:stCxn id="7" idx="2"/>
              <a:endCxn id="14" idx="0"/>
            </p:cNvCxnSpPr>
            <p:nvPr/>
          </p:nvCxnSpPr>
          <p:spPr>
            <a:xfrm flipH="1">
              <a:off x="4518831" y="1776985"/>
              <a:ext cx="5379" cy="329560"/>
            </a:xfrm>
            <a:prstGeom prst="straightConnector1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238" name="Graphic 5237" descr="Checkbox Checked with solid fill">
              <a:extLst>
                <a:ext uri="{FF2B5EF4-FFF2-40B4-BE49-F238E27FC236}">
                  <a16:creationId xmlns:a16="http://schemas.microsoft.com/office/drawing/2014/main" id="{8D9FD9A5-2046-4E20-B2EB-F9E4302D20C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5279154" y="3917061"/>
              <a:ext cx="289063" cy="289063"/>
            </a:xfrm>
            <a:prstGeom prst="rect">
              <a:avLst/>
            </a:prstGeom>
          </p:spPr>
        </p:pic>
        <p:pic>
          <p:nvPicPr>
            <p:cNvPr id="5242" name="Graphic 5241" descr="Downward trend graph outline">
              <a:extLst>
                <a:ext uri="{FF2B5EF4-FFF2-40B4-BE49-F238E27FC236}">
                  <a16:creationId xmlns:a16="http://schemas.microsoft.com/office/drawing/2014/main" id="{B746E712-6B0E-E5D8-521E-F9A9ED0D5979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9833766" y="1836822"/>
              <a:ext cx="624732" cy="624732"/>
            </a:xfrm>
            <a:prstGeom prst="rect">
              <a:avLst/>
            </a:prstGeom>
          </p:spPr>
        </p:pic>
        <p:sp>
          <p:nvSpPr>
            <p:cNvPr id="5247" name="Rounded Rectangle 5246">
              <a:extLst>
                <a:ext uri="{FF2B5EF4-FFF2-40B4-BE49-F238E27FC236}">
                  <a16:creationId xmlns:a16="http://schemas.microsoft.com/office/drawing/2014/main" id="{D6BD03D1-C26B-C008-BB4B-F118EDA59872}"/>
                </a:ext>
              </a:extLst>
            </p:cNvPr>
            <p:cNvSpPr/>
            <p:nvPr/>
          </p:nvSpPr>
          <p:spPr>
            <a:xfrm>
              <a:off x="9708435" y="1657863"/>
              <a:ext cx="887432" cy="243384"/>
            </a:xfrm>
            <a:prstGeom prst="roundRect">
              <a:avLst>
                <a:gd name="adj" fmla="val 29116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>
                <a:spcBef>
                  <a:spcPts val="640"/>
                </a:spcBef>
                <a:spcAft>
                  <a:spcPts val="0"/>
                </a:spcAft>
              </a:pPr>
              <a:r>
                <a:rPr lang="en-US" sz="900" dirty="0">
                  <a:solidFill>
                    <a:schemeClr val="tx1"/>
                  </a:solidFill>
                </a:rPr>
                <a:t>MCI Symptom</a:t>
              </a:r>
            </a:p>
          </p:txBody>
        </p:sp>
        <p:grpSp>
          <p:nvGrpSpPr>
            <p:cNvPr id="12358" name="Group 12357">
              <a:extLst>
                <a:ext uri="{FF2B5EF4-FFF2-40B4-BE49-F238E27FC236}">
                  <a16:creationId xmlns:a16="http://schemas.microsoft.com/office/drawing/2014/main" id="{C77E258E-B1A8-7D2D-6868-36EB7A07DF0D}"/>
                </a:ext>
              </a:extLst>
            </p:cNvPr>
            <p:cNvGrpSpPr/>
            <p:nvPr/>
          </p:nvGrpSpPr>
          <p:grpSpPr>
            <a:xfrm>
              <a:off x="1069833" y="2567067"/>
              <a:ext cx="1769674" cy="803691"/>
              <a:chOff x="9670797" y="2806902"/>
              <a:chExt cx="1769674" cy="803691"/>
            </a:xfrm>
          </p:grpSpPr>
          <p:sp>
            <p:nvSpPr>
              <p:cNvPr id="12355" name="Rounded Rectangle 12354">
                <a:extLst>
                  <a:ext uri="{FF2B5EF4-FFF2-40B4-BE49-F238E27FC236}">
                    <a16:creationId xmlns:a16="http://schemas.microsoft.com/office/drawing/2014/main" id="{48E8C621-EAB9-7A0C-EA53-F295C1A71978}"/>
                  </a:ext>
                </a:extLst>
              </p:cNvPr>
              <p:cNvSpPr/>
              <p:nvPr/>
            </p:nvSpPr>
            <p:spPr>
              <a:xfrm>
                <a:off x="9670797" y="2926024"/>
                <a:ext cx="1769674" cy="650181"/>
              </a:xfrm>
              <a:prstGeom prst="roundRect">
                <a:avLst>
                  <a:gd name="adj" fmla="val 11790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rtl="0">
                  <a:spcBef>
                    <a:spcPts val="640"/>
                  </a:spcBef>
                  <a:spcAft>
                    <a:spcPts val="0"/>
                  </a:spcAft>
                </a:pPr>
                <a:endParaRPr lang="en-US" sz="900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12356" name="Graphic 12355" descr="Downward trend graph outline">
                <a:extLst>
                  <a:ext uri="{FF2B5EF4-FFF2-40B4-BE49-F238E27FC236}">
                    <a16:creationId xmlns:a16="http://schemas.microsoft.com/office/drawing/2014/main" id="{85ACF493-F718-4752-7120-9586014F9C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p:blipFill>
            <p:spPr>
              <a:xfrm>
                <a:off x="10246618" y="2985861"/>
                <a:ext cx="624732" cy="624732"/>
              </a:xfrm>
              <a:prstGeom prst="rect">
                <a:avLst/>
              </a:prstGeom>
            </p:spPr>
          </p:pic>
          <p:sp>
            <p:nvSpPr>
              <p:cNvPr id="12357" name="Rounded Rectangle 12356">
                <a:extLst>
                  <a:ext uri="{FF2B5EF4-FFF2-40B4-BE49-F238E27FC236}">
                    <a16:creationId xmlns:a16="http://schemas.microsoft.com/office/drawing/2014/main" id="{796A7BE4-3F1F-8721-4FAB-1DFCBE2335B1}"/>
                  </a:ext>
                </a:extLst>
              </p:cNvPr>
              <p:cNvSpPr/>
              <p:nvPr/>
            </p:nvSpPr>
            <p:spPr>
              <a:xfrm>
                <a:off x="10121287" y="2806902"/>
                <a:ext cx="887432" cy="243384"/>
              </a:xfrm>
              <a:prstGeom prst="roundRect">
                <a:avLst>
                  <a:gd name="adj" fmla="val 29116"/>
                </a:avLst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>
                  <a:spcBef>
                    <a:spcPts val="640"/>
                  </a:spcBef>
                  <a:spcAft>
                    <a:spcPts val="0"/>
                  </a:spcAft>
                </a:pPr>
                <a:r>
                  <a:rPr lang="en-US" sz="900" dirty="0">
                    <a:solidFill>
                      <a:schemeClr val="tx1"/>
                    </a:solidFill>
                  </a:rPr>
                  <a:t>MCI Symptom</a:t>
                </a:r>
              </a:p>
            </p:txBody>
          </p:sp>
        </p:grpSp>
        <p:grpSp>
          <p:nvGrpSpPr>
            <p:cNvPr id="12368" name="Group 12367">
              <a:extLst>
                <a:ext uri="{FF2B5EF4-FFF2-40B4-BE49-F238E27FC236}">
                  <a16:creationId xmlns:a16="http://schemas.microsoft.com/office/drawing/2014/main" id="{7998EBFE-42D5-BED1-9AB5-795A77F7C7A4}"/>
                </a:ext>
              </a:extLst>
            </p:cNvPr>
            <p:cNvGrpSpPr/>
            <p:nvPr/>
          </p:nvGrpSpPr>
          <p:grpSpPr>
            <a:xfrm>
              <a:off x="1069833" y="716508"/>
              <a:ext cx="1769674" cy="762540"/>
              <a:chOff x="524863" y="716508"/>
              <a:chExt cx="1769674" cy="762540"/>
            </a:xfrm>
          </p:grpSpPr>
          <p:sp>
            <p:nvSpPr>
              <p:cNvPr id="2" name="Rounded Rectangle 1">
                <a:extLst>
                  <a:ext uri="{FF2B5EF4-FFF2-40B4-BE49-F238E27FC236}">
                    <a16:creationId xmlns:a16="http://schemas.microsoft.com/office/drawing/2014/main" id="{E65BD7A2-CB03-45BF-C39B-9AA2A12ED74F}"/>
                  </a:ext>
                </a:extLst>
              </p:cNvPr>
              <p:cNvSpPr/>
              <p:nvPr/>
            </p:nvSpPr>
            <p:spPr>
              <a:xfrm>
                <a:off x="524863" y="837728"/>
                <a:ext cx="1769674" cy="641320"/>
              </a:xfrm>
              <a:prstGeom prst="roundRect">
                <a:avLst>
                  <a:gd name="adj" fmla="val 11790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rtl="0">
                  <a:spcBef>
                    <a:spcPts val="640"/>
                  </a:spcBef>
                  <a:spcAft>
                    <a:spcPts val="0"/>
                  </a:spcAft>
                </a:pPr>
                <a:endParaRPr lang="en-US" sz="9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360" name="Rounded Rectangle 12359">
                <a:extLst>
                  <a:ext uri="{FF2B5EF4-FFF2-40B4-BE49-F238E27FC236}">
                    <a16:creationId xmlns:a16="http://schemas.microsoft.com/office/drawing/2014/main" id="{8DC02E6D-206C-6082-73C0-77A51CDECD86}"/>
                  </a:ext>
                </a:extLst>
              </p:cNvPr>
              <p:cNvSpPr/>
              <p:nvPr/>
            </p:nvSpPr>
            <p:spPr>
              <a:xfrm>
                <a:off x="1122454" y="716508"/>
                <a:ext cx="591463" cy="243384"/>
              </a:xfrm>
              <a:prstGeom prst="roundRect">
                <a:avLst>
                  <a:gd name="adj" fmla="val 29116"/>
                </a:avLst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>
                  <a:spcBef>
                    <a:spcPts val="640"/>
                  </a:spcBef>
                  <a:spcAft>
                    <a:spcPts val="0"/>
                  </a:spcAft>
                </a:pPr>
                <a:r>
                  <a:rPr lang="en-US" sz="900" dirty="0">
                    <a:solidFill>
                      <a:schemeClr val="bg1"/>
                    </a:solidFill>
                  </a:rPr>
                  <a:t>Recruit</a:t>
                </a:r>
              </a:p>
            </p:txBody>
          </p:sp>
          <p:pic>
            <p:nvPicPr>
              <p:cNvPr id="12361" name="Graphic 12360" descr="Doctor male outline">
                <a:extLst>
                  <a:ext uri="{FF2B5EF4-FFF2-40B4-BE49-F238E27FC236}">
                    <a16:creationId xmlns:a16="http://schemas.microsoft.com/office/drawing/2014/main" id="{E84A2594-EB5D-BF72-5546-1967CE0C9C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/>
              </a:stretch>
            </p:blipFill>
            <p:spPr>
              <a:xfrm>
                <a:off x="684714" y="946755"/>
                <a:ext cx="452838" cy="452838"/>
              </a:xfrm>
              <a:prstGeom prst="rect">
                <a:avLst/>
              </a:prstGeom>
            </p:spPr>
          </p:pic>
          <p:sp>
            <p:nvSpPr>
              <p:cNvPr id="12367" name="Rounded Rectangle 12366">
                <a:extLst>
                  <a:ext uri="{FF2B5EF4-FFF2-40B4-BE49-F238E27FC236}">
                    <a16:creationId xmlns:a16="http://schemas.microsoft.com/office/drawing/2014/main" id="{C6EA95BA-19AB-C6B9-ADB1-6938371CE8F9}"/>
                  </a:ext>
                </a:extLst>
              </p:cNvPr>
              <p:cNvSpPr/>
              <p:nvPr/>
            </p:nvSpPr>
            <p:spPr>
              <a:xfrm>
                <a:off x="1173886" y="1077509"/>
                <a:ext cx="1008115" cy="240117"/>
              </a:xfrm>
              <a:prstGeom prst="roundRect">
                <a:avLst>
                  <a:gd name="adj" fmla="val 11790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rtl="0">
                  <a:spcBef>
                    <a:spcPts val="640"/>
                  </a:spcBef>
                  <a:spcAft>
                    <a:spcPts val="0"/>
                  </a:spcAft>
                </a:pPr>
                <a:r>
                  <a:rPr lang="en-US" sz="900" dirty="0">
                    <a:solidFill>
                      <a:schemeClr val="tx1"/>
                    </a:solidFill>
                  </a:rPr>
                  <a:t>Train interviewer</a:t>
                </a:r>
              </a:p>
            </p:txBody>
          </p:sp>
        </p:grpSp>
        <p:sp>
          <p:nvSpPr>
            <p:cNvPr id="26" name="Rounded Rectangle 25">
              <a:extLst>
                <a:ext uri="{FF2B5EF4-FFF2-40B4-BE49-F238E27FC236}">
                  <a16:creationId xmlns:a16="http://schemas.microsoft.com/office/drawing/2014/main" id="{3808AD5D-ED32-0510-6FE7-0C943E6CB6A8}"/>
                </a:ext>
              </a:extLst>
            </p:cNvPr>
            <p:cNvSpPr/>
            <p:nvPr/>
          </p:nvSpPr>
          <p:spPr>
            <a:xfrm>
              <a:off x="6271586" y="3803340"/>
              <a:ext cx="2629166" cy="666637"/>
            </a:xfrm>
            <a:prstGeom prst="roundRect">
              <a:avLst>
                <a:gd name="adj" fmla="val 10106"/>
              </a:avLst>
            </a:prstGeom>
            <a:solidFill>
              <a:schemeClr val="bg1"/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rtl="0">
                <a:spcBef>
                  <a:spcPts val="640"/>
                </a:spcBef>
                <a:spcAft>
                  <a:spcPts val="0"/>
                </a:spcAft>
              </a:pPr>
              <a:endParaRPr lang="en-US" sz="900" dirty="0">
                <a:solidFill>
                  <a:schemeClr val="tx1"/>
                </a:solidFill>
              </a:endParaRP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F66877A9-AE77-4EF5-1EE0-30B17519A3AC}"/>
                </a:ext>
              </a:extLst>
            </p:cNvPr>
            <p:cNvSpPr/>
            <p:nvPr/>
          </p:nvSpPr>
          <p:spPr>
            <a:xfrm>
              <a:off x="6483625" y="4038430"/>
              <a:ext cx="2205089" cy="352263"/>
            </a:xfrm>
            <a:prstGeom prst="roundRect">
              <a:avLst>
                <a:gd name="adj" fmla="val 11790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rtl="0">
                <a:spcBef>
                  <a:spcPts val="640"/>
                </a:spcBef>
                <a:spcAft>
                  <a:spcPts val="0"/>
                </a:spcAft>
              </a:pPr>
              <a:r>
                <a:rPr lang="en-US" sz="900" dirty="0">
                  <a:solidFill>
                    <a:schemeClr val="tx1"/>
                  </a:solidFill>
                </a:rPr>
                <a:t>Fluency: Good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Memory recall: Not often</a:t>
              </a: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02FF4F9-EA13-BDD2-0FCE-6FACCF4B9F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3516973" y="3734785"/>
              <a:ext cx="1781235" cy="608018"/>
            </a:xfrm>
            <a:prstGeom prst="rect">
              <a:avLst/>
            </a:prstGeom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C7CCBF5F-953B-E860-C34C-264C10FC3A68}"/>
                </a:ext>
              </a:extLst>
            </p:cNvPr>
            <p:cNvGrpSpPr/>
            <p:nvPr/>
          </p:nvGrpSpPr>
          <p:grpSpPr>
            <a:xfrm>
              <a:off x="1069833" y="1636697"/>
              <a:ext cx="1769674" cy="930370"/>
              <a:chOff x="1079951" y="1636697"/>
              <a:chExt cx="1769674" cy="930370"/>
            </a:xfrm>
          </p:grpSpPr>
          <p:cxnSp>
            <p:nvCxnSpPr>
              <p:cNvPr id="5127" name="Straight Arrow Connector 5126">
                <a:extLst>
                  <a:ext uri="{FF2B5EF4-FFF2-40B4-BE49-F238E27FC236}">
                    <a16:creationId xmlns:a16="http://schemas.microsoft.com/office/drawing/2014/main" id="{0F1B6B04-81C4-456E-3ABA-180865D7B81C}"/>
                  </a:ext>
                </a:extLst>
              </p:cNvPr>
              <p:cNvCxnSpPr>
                <a:cxnSpLocks/>
                <a:stCxn id="10" idx="2"/>
                <a:endCxn id="12357" idx="0"/>
              </p:cNvCxnSpPr>
              <p:nvPr/>
            </p:nvCxnSpPr>
            <p:spPr>
              <a:xfrm>
                <a:off x="1964788" y="2397243"/>
                <a:ext cx="1210" cy="169824"/>
              </a:xfrm>
              <a:prstGeom prst="straightConnector1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334" name="Group 12333">
                <a:extLst>
                  <a:ext uri="{FF2B5EF4-FFF2-40B4-BE49-F238E27FC236}">
                    <a16:creationId xmlns:a16="http://schemas.microsoft.com/office/drawing/2014/main" id="{382384AE-62D9-8814-45B4-122046FEEEAA}"/>
                  </a:ext>
                </a:extLst>
              </p:cNvPr>
              <p:cNvGrpSpPr/>
              <p:nvPr/>
            </p:nvGrpSpPr>
            <p:grpSpPr>
              <a:xfrm>
                <a:off x="1079951" y="1636697"/>
                <a:ext cx="1769674" cy="760546"/>
                <a:chOff x="524863" y="1714389"/>
                <a:chExt cx="1769674" cy="760546"/>
              </a:xfrm>
            </p:grpSpPr>
            <p:sp>
              <p:nvSpPr>
                <p:cNvPr id="10" name="Rounded Rectangle 9">
                  <a:extLst>
                    <a:ext uri="{FF2B5EF4-FFF2-40B4-BE49-F238E27FC236}">
                      <a16:creationId xmlns:a16="http://schemas.microsoft.com/office/drawing/2014/main" id="{08098806-FCAA-0283-368E-B04848D61973}"/>
                    </a:ext>
                  </a:extLst>
                </p:cNvPr>
                <p:cNvSpPr/>
                <p:nvPr/>
              </p:nvSpPr>
              <p:spPr>
                <a:xfrm>
                  <a:off x="524863" y="1844820"/>
                  <a:ext cx="1769674" cy="630115"/>
                </a:xfrm>
                <a:prstGeom prst="roundRect">
                  <a:avLst>
                    <a:gd name="adj" fmla="val 11790"/>
                  </a:avLst>
                </a:prstGeom>
                <a:solidFill>
                  <a:schemeClr val="bg1"/>
                </a:solidFill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rtl="0">
                    <a:spcBef>
                      <a:spcPts val="640"/>
                    </a:spcBef>
                    <a:spcAft>
                      <a:spcPts val="0"/>
                    </a:spcAft>
                  </a:pPr>
                  <a:endParaRPr lang="en-US" sz="900" dirty="0">
                    <a:solidFill>
                      <a:schemeClr val="tx1"/>
                    </a:solidFill>
                  </a:endParaRPr>
                </a:p>
              </p:txBody>
            </p:sp>
            <p:pic>
              <p:nvPicPr>
                <p:cNvPr id="5142" name="Graphic 5141" descr="Doctor male outline">
                  <a:extLst>
                    <a:ext uri="{FF2B5EF4-FFF2-40B4-BE49-F238E27FC236}">
                      <a16:creationId xmlns:a16="http://schemas.microsoft.com/office/drawing/2014/main" id="{51660113-E803-3F09-B4DD-1383B4CE60D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5">
                  <a:extLst>
                    <a:ext uri="{96DAC541-7B7A-43D3-8B79-37D633B846F1}">
                      <asvg:svgBlip xmlns:asvg="http://schemas.microsoft.com/office/drawing/2016/SVG/main" r:embed="rId1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606343" y="1924616"/>
                  <a:ext cx="514273" cy="514273"/>
                </a:xfrm>
                <a:prstGeom prst="rect">
                  <a:avLst/>
                </a:prstGeom>
              </p:spPr>
            </p:pic>
            <p:sp>
              <p:nvSpPr>
                <p:cNvPr id="12321" name="Rounded Rectangle 12320">
                  <a:extLst>
                    <a:ext uri="{FF2B5EF4-FFF2-40B4-BE49-F238E27FC236}">
                      <a16:creationId xmlns:a16="http://schemas.microsoft.com/office/drawing/2014/main" id="{65FD2C72-770A-E200-5C9A-55924CE9E6FE}"/>
                    </a:ext>
                  </a:extLst>
                </p:cNvPr>
                <p:cNvSpPr/>
                <p:nvPr/>
              </p:nvSpPr>
              <p:spPr>
                <a:xfrm>
                  <a:off x="1108507" y="1714389"/>
                  <a:ext cx="591463" cy="243384"/>
                </a:xfrm>
                <a:prstGeom prst="roundRect">
                  <a:avLst>
                    <a:gd name="adj" fmla="val 29116"/>
                  </a:avLst>
                </a:prstGeom>
                <a:solidFill>
                  <a:schemeClr val="accent6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rtl="0">
                    <a:spcBef>
                      <a:spcPts val="640"/>
                    </a:spcBef>
                    <a:spcAft>
                      <a:spcPts val="0"/>
                    </a:spcAft>
                  </a:pPr>
                  <a:r>
                    <a:rPr lang="en-US" sz="900" dirty="0">
                      <a:solidFill>
                        <a:schemeClr val="bg1"/>
                      </a:solidFill>
                    </a:rPr>
                    <a:t>Chat</a:t>
                  </a:r>
                </a:p>
              </p:txBody>
            </p:sp>
            <p:pic>
              <p:nvPicPr>
                <p:cNvPr id="12326" name="Graphic 12325" descr="Male profile outline">
                  <a:extLst>
                    <a:ext uri="{FF2B5EF4-FFF2-40B4-BE49-F238E27FC236}">
                      <a16:creationId xmlns:a16="http://schemas.microsoft.com/office/drawing/2014/main" id="{FF34F261-0A23-9387-805A-CA28D719C5F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08618" y="1951000"/>
                  <a:ext cx="481501" cy="481501"/>
                </a:xfrm>
                <a:prstGeom prst="rect">
                  <a:avLst/>
                </a:prstGeom>
              </p:spPr>
            </p:pic>
            <p:pic>
              <p:nvPicPr>
                <p:cNvPr id="12331" name="Graphic 12330" descr="Transfer with solid fill">
                  <a:extLst>
                    <a:ext uri="{FF2B5EF4-FFF2-40B4-BE49-F238E27FC236}">
                      <a16:creationId xmlns:a16="http://schemas.microsoft.com/office/drawing/2014/main" id="{850C6E8A-CEC7-74C9-9D0B-4A9790B9E83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69092" y="2052849"/>
                  <a:ext cx="254554" cy="254554"/>
                </a:xfrm>
                <a:prstGeom prst="rect">
                  <a:avLst/>
                </a:prstGeom>
              </p:spPr>
            </p:pic>
          </p:grp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E370424-9280-AF0F-148D-B4226904CB6A}"/>
                  </a:ext>
                </a:extLst>
              </p:cNvPr>
              <p:cNvSpPr txBox="1"/>
              <p:nvPr/>
            </p:nvSpPr>
            <p:spPr>
              <a:xfrm>
                <a:off x="1251620" y="2214803"/>
                <a:ext cx="521297" cy="2308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900" dirty="0">
                    <a:solidFill>
                      <a:schemeClr val="tx1"/>
                    </a:solidFill>
                  </a:rPr>
                  <a:t>Patient</a:t>
                </a:r>
                <a:endParaRPr lang="en-US" sz="1050" dirty="0"/>
              </a:p>
            </p:txBody>
          </p:sp>
        </p:grp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46DCD89F-7B55-DAA3-8A98-090E110DA00B}"/>
                </a:ext>
              </a:extLst>
            </p:cNvPr>
            <p:cNvCxnSpPr>
              <a:cxnSpLocks/>
            </p:cNvCxnSpPr>
            <p:nvPr/>
          </p:nvCxnSpPr>
          <p:spPr>
            <a:xfrm>
              <a:off x="7586169" y="3484461"/>
              <a:ext cx="0" cy="553969"/>
            </a:xfrm>
            <a:prstGeom prst="straightConnector1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69B1856D-E2A6-ECBB-1F83-D5D772F9D46A}"/>
                </a:ext>
              </a:extLst>
            </p:cNvPr>
            <p:cNvSpPr/>
            <p:nvPr/>
          </p:nvSpPr>
          <p:spPr>
            <a:xfrm>
              <a:off x="6898833" y="3685735"/>
              <a:ext cx="1374672" cy="243384"/>
            </a:xfrm>
            <a:prstGeom prst="roundRect">
              <a:avLst>
                <a:gd name="adj" fmla="val 29116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>
                <a:spcBef>
                  <a:spcPts val="640"/>
                </a:spcBef>
                <a:spcAft>
                  <a:spcPts val="0"/>
                </a:spcAft>
              </a:pPr>
              <a:r>
                <a:rPr lang="en-US" sz="900" dirty="0">
                  <a:solidFill>
                    <a:schemeClr val="bg1"/>
                  </a:solidFill>
                </a:rPr>
                <a:t>(6) Chatbot Evaluation</a:t>
              </a:r>
            </a:p>
          </p:txBody>
        </p:sp>
        <p:cxnSp>
          <p:nvCxnSpPr>
            <p:cNvPr id="5174" name="Elbow Connector 5173">
              <a:extLst>
                <a:ext uri="{FF2B5EF4-FFF2-40B4-BE49-F238E27FC236}">
                  <a16:creationId xmlns:a16="http://schemas.microsoft.com/office/drawing/2014/main" id="{D93162A8-4089-F3C2-41EE-4132FBAEA53A}"/>
                </a:ext>
              </a:extLst>
            </p:cNvPr>
            <p:cNvCxnSpPr>
              <a:cxnSpLocks/>
              <a:stCxn id="30" idx="1"/>
              <a:endCxn id="16" idx="1"/>
            </p:cNvCxnSpPr>
            <p:nvPr/>
          </p:nvCxnSpPr>
          <p:spPr>
            <a:xfrm rot="10800000">
              <a:off x="6465337" y="1387446"/>
              <a:ext cx="18288" cy="2827117"/>
            </a:xfrm>
            <a:prstGeom prst="bentConnector3">
              <a:avLst>
                <a:gd name="adj1" fmla="val 1963211"/>
              </a:avLst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771083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14464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1765</TotalTime>
  <Words>468</Words>
  <Application>Microsoft Macintosh PowerPoint</Application>
  <PresentationFormat>Widescreen</PresentationFormat>
  <Paragraphs>97</Paragraphs>
  <Slides>6</Slides>
  <Notes>3</Notes>
  <HiddenSlides>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Aptos Display</vt:lpstr>
      <vt:lpstr>Arial</vt:lpstr>
      <vt:lpstr>Courier New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Hong, Junyuan</dc:creator>
  <cp:lastModifiedBy>Hong, Junyuan</cp:lastModifiedBy>
  <cp:revision>22</cp:revision>
  <dcterms:created xsi:type="dcterms:W3CDTF">2026-01-31T20:05:29Z</dcterms:created>
  <dcterms:modified xsi:type="dcterms:W3CDTF">2026-02-02T06:53:07Z</dcterms:modified>
</cp:coreProperties>
</file>