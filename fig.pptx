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14" r:id="rId3"/>
    <p:sldId id="315" r:id="rId4"/>
    <p:sldId id="316" r:id="rId5"/>
    <p:sldId id="313" r:id="rId6"/>
    <p:sldId id="317" r:id="rId7"/>
    <p:sldId id="318" r:id="rId8"/>
    <p:sldId id="319" r:id="rId9"/>
    <p:sldId id="309" r:id="rId10"/>
    <p:sldId id="310" r:id="rId11"/>
    <p:sldId id="288" r:id="rId12"/>
    <p:sldId id="31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6"/>
    <p:restoredTop sz="94699"/>
  </p:normalViewPr>
  <p:slideViewPr>
    <p:cSldViewPr snapToGrid="0" showGuides="1">
      <p:cViewPr>
        <p:scale>
          <a:sx n="209" d="100"/>
          <a:sy n="209" d="100"/>
        </p:scale>
        <p:origin x="14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065C4-0FDC-2542-85DB-FBF33CB60B38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D8022-CF20-6F46-8192-26FED04C9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0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D8022-CF20-6F46-8192-26FED04C92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05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C4AFC-D6FC-81A1-6D22-12F5EB78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B93CA-92D4-E7FF-7C4B-9B497DCD6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02F8E-52AE-353E-7483-D3C491C18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525AE-B503-B1FE-156E-B86C041A7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D8022-CF20-6F46-8192-26FED04C92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91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75BA-98E9-318C-95AC-2820D7F2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80518-833C-BBD1-DBA5-25E34DADE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B2685-6726-6021-7854-39814FB5C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V3: Simplified some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3829A-B7DF-C84B-6099-913D0D58E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D8022-CF20-6F46-8192-26FED04C92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02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E1F1F-E9CF-C2A3-689E-8623BF0F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29F2B-1458-2F61-F520-97E840AEF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52BC1-D80F-5269-F394-9FB837D5D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V4: Add training for 3D generation. Remove study part.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C19B4-AD9B-3318-F36F-2918565E9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D8022-CF20-6F46-8192-26FED04C92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D8022-CF20-6F46-8192-26FED04C92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68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F2044-1492-FF4C-B3D8-0E33035C82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69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A7A2-8463-E6DC-04D2-D5B96628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D60EF-729F-4360-4AEA-0B909296E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53EDD-537F-5E18-6BB6-65A90BFE4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DEA72-EEEE-AC40-04E1-7613391BE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F2044-1492-FF4C-B3D8-0E33035C82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2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F2044-1492-FF4C-B3D8-0E33035C82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7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32EC-B1B5-1762-75FC-C2007AE5E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42104B-3FD2-4DA1-F596-19FF4ECED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07805-299A-5B43-EAC8-CE84812E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BF612-EBA9-5919-B075-B76AD01CD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9BB7F-CB70-301E-6D6A-22B65B1E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3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ADDD-8B88-E903-1251-ACA5950A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E9F84-D4FB-24B0-5CEC-07E689F9C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61E1A-007E-175C-0D36-244E7571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49F99-6E10-EBF4-C50C-D1AB63E6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65768-EA4B-2DFC-6C36-AC5D7431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5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FD1D2-5740-B2FA-6E9A-30937904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AA8E1-B4B0-6D3A-76BD-EADC0D7B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4A960-B688-3F99-F7B6-AFC001ED5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5B236-5DD7-4DDE-E2FF-083333CB8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6F6D8-D81B-A130-FAA6-A8D09A31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4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9BCD3-EF95-6725-318A-2B66C087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95607-A2E6-09B9-32B3-E38BDD37E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4A9A4-F03B-DC96-A7D5-DDB4128C0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6F145-3D60-DFAF-DBE3-C9B4514C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60E80-4C4F-D210-638E-DD98F6A4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A8E6C-7FB2-21FE-7257-9AC36F157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9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B753-125A-6CD2-A8DF-52999786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8D5F7-8D4E-D106-2B22-EF06D342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13849-937C-C9CC-C9EB-536E689D6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FC22D-158D-1EE4-106B-29908919C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8351D3-8689-DF8E-F691-5962C61025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18BA85-6E21-7A14-D303-422ADDF0D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C61C57-0666-6885-90DB-63A411A0F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2C4461-A02F-B0A0-9180-A5C53A7F0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7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CAC1-8CB3-66E1-1DA4-DFAADB66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9006DF-CFF8-7E79-6B22-57CB8617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6AD41-080B-F1D4-235D-E00A4ED5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3638B-EBBD-3BC7-6B7C-21355437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5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17D11-724C-3836-E61B-41D4690A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7BA5C-B039-D332-30BC-F692C116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25BCA-C1D0-AEC3-5B81-5CF5B6D4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7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A401-CD25-2A8F-E76B-BF29E91D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D73BB-8BFA-6FCB-DA49-77E4586E8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CFF10-47D6-E612-9F2A-007FF93AD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0EC0C-5BB4-1FE5-F11B-F69AEA25D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B461C-4CCD-6739-702C-1B07F70A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5F4E0-20D4-88D3-A8E0-D1DC09B5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7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CD65-C349-3679-53A4-6F02C378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4723DF-256C-88C4-4C5A-CF141B8AA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2D93E-DB06-904C-12D0-018988EFE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13131-220A-3E62-2466-4649DED3E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B43EC-49CD-E784-A79B-FCBB17CA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B7FF7-8AF1-30F5-F75A-AC0A71D3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8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DF1B-F24D-3CFA-270A-BA49884C6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C0E9D-FF76-5969-0931-208A2849F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7AFAC-6971-3A20-4D0A-F0147A8F6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9F02E-F581-F1BE-BB07-3C3C47F5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F2913-9316-92E6-B7BD-545FDD8F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0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F39AB1-3096-05F3-DF5B-77C2D0585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4EED2-7A6E-11B1-E4E3-68D199D39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34D9B-4A86-8941-BFB9-ABB572D7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6DDB6-C654-6269-FD0D-D901C42B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D9409-7229-4545-C2BB-8C15BE22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F3E94-BA2C-27A3-4268-C3DB1B22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71E35-6409-1182-CA1A-09385D65C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B6656-6ADD-F7BA-9153-015F5F5F0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BD2FF-6552-E449-8E00-29397A8A1274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6A1C5-D3BF-6738-FB6D-F0923EAF8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3F83F-2309-347B-F4AF-3EBE7F171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203F1-F1B7-3744-8192-9716B686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sv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sv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svg"/><Relationship Id="rId10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227;p96">
            <a:extLst>
              <a:ext uri="{FF2B5EF4-FFF2-40B4-BE49-F238E27FC236}">
                <a16:creationId xmlns:a16="http://schemas.microsoft.com/office/drawing/2014/main" id="{F9192AB5-019E-53B9-55A3-8CEEA52C01DB}"/>
              </a:ext>
            </a:extLst>
          </p:cNvPr>
          <p:cNvSpPr/>
          <p:nvPr/>
        </p:nvSpPr>
        <p:spPr>
          <a:xfrm>
            <a:off x="4530794" y="2464327"/>
            <a:ext cx="1809144" cy="1767580"/>
          </a:xfrm>
          <a:prstGeom prst="leftUpArrow">
            <a:avLst>
              <a:gd name="adj1" fmla="val 9893"/>
              <a:gd name="adj2" fmla="val 10336"/>
              <a:gd name="adj3" fmla="val 11641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Google Shape;1220;p96">
            <a:extLst>
              <a:ext uri="{FF2B5EF4-FFF2-40B4-BE49-F238E27FC236}">
                <a16:creationId xmlns:a16="http://schemas.microsoft.com/office/drawing/2014/main" id="{131C7FCF-73C6-843C-4A45-E6225BE9A093}"/>
              </a:ext>
            </a:extLst>
          </p:cNvPr>
          <p:cNvSpPr/>
          <p:nvPr/>
        </p:nvSpPr>
        <p:spPr>
          <a:xfrm>
            <a:off x="5202263" y="2017919"/>
            <a:ext cx="2171802" cy="627561"/>
          </a:xfrm>
          <a:prstGeom prst="rightArrow">
            <a:avLst>
              <a:gd name="adj1" fmla="val 50000"/>
              <a:gd name="adj2" fmla="val 56179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Google Shape;1227;p96">
            <a:extLst>
              <a:ext uri="{FF2B5EF4-FFF2-40B4-BE49-F238E27FC236}">
                <a16:creationId xmlns:a16="http://schemas.microsoft.com/office/drawing/2014/main" id="{FA56297A-2DC9-E80B-9EF8-D9DEA1267F03}"/>
              </a:ext>
            </a:extLst>
          </p:cNvPr>
          <p:cNvSpPr/>
          <p:nvPr/>
        </p:nvSpPr>
        <p:spPr>
          <a:xfrm>
            <a:off x="3946729" y="2674485"/>
            <a:ext cx="774496" cy="1525765"/>
          </a:xfrm>
          <a:prstGeom prst="leftUpArrow">
            <a:avLst>
              <a:gd name="adj1" fmla="val 18061"/>
              <a:gd name="adj2" fmla="val 16462"/>
              <a:gd name="adj3" fmla="val 177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Google Shape;1220;p96">
            <a:extLst>
              <a:ext uri="{FF2B5EF4-FFF2-40B4-BE49-F238E27FC236}">
                <a16:creationId xmlns:a16="http://schemas.microsoft.com/office/drawing/2014/main" id="{F1AB593D-FB7D-9579-BA1E-45762125E8E8}"/>
              </a:ext>
            </a:extLst>
          </p:cNvPr>
          <p:cNvSpPr/>
          <p:nvPr/>
        </p:nvSpPr>
        <p:spPr>
          <a:xfrm>
            <a:off x="187556" y="2009994"/>
            <a:ext cx="3937975" cy="627561"/>
          </a:xfrm>
          <a:prstGeom prst="rightArrow">
            <a:avLst>
              <a:gd name="adj1" fmla="val 50000"/>
              <a:gd name="adj2" fmla="val 56179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oogle Shape;1222;p96">
            <a:extLst>
              <a:ext uri="{FF2B5EF4-FFF2-40B4-BE49-F238E27FC236}">
                <a16:creationId xmlns:a16="http://schemas.microsoft.com/office/drawing/2014/main" id="{D7479F11-2EAA-9ED5-25CD-B76010112F6E}"/>
              </a:ext>
            </a:extLst>
          </p:cNvPr>
          <p:cNvGrpSpPr/>
          <p:nvPr/>
        </p:nvGrpSpPr>
        <p:grpSpPr>
          <a:xfrm>
            <a:off x="4043680" y="1942869"/>
            <a:ext cx="1555454" cy="745958"/>
            <a:chOff x="2555051" y="1573606"/>
            <a:chExt cx="1449965" cy="695367"/>
          </a:xfrm>
        </p:grpSpPr>
        <p:sp>
          <p:nvSpPr>
            <p:cNvPr id="3" name="Google Shape;1223;p96">
              <a:extLst>
                <a:ext uri="{FF2B5EF4-FFF2-40B4-BE49-F238E27FC236}">
                  <a16:creationId xmlns:a16="http://schemas.microsoft.com/office/drawing/2014/main" id="{A9EA69BA-534D-2CFB-A9F3-119BC473F449}"/>
                </a:ext>
              </a:extLst>
            </p:cNvPr>
            <p:cNvSpPr/>
            <p:nvPr/>
          </p:nvSpPr>
          <p:spPr>
            <a:xfrm>
              <a:off x="2555051" y="1573606"/>
              <a:ext cx="1337974" cy="695367"/>
            </a:xfrm>
            <a:prstGeom prst="roundRect">
              <a:avLst>
                <a:gd name="adj" fmla="val 1334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1224;p96">
              <a:extLst>
                <a:ext uri="{FF2B5EF4-FFF2-40B4-BE49-F238E27FC236}">
                  <a16:creationId xmlns:a16="http://schemas.microsoft.com/office/drawing/2014/main" id="{02D0B153-8FB9-1FEA-9E0F-37D227B7D7E4}"/>
                </a:ext>
              </a:extLst>
            </p:cNvPr>
            <p:cNvSpPr txBox="1"/>
            <p:nvPr/>
          </p:nvSpPr>
          <p:spPr>
            <a:xfrm>
              <a:off x="3016803" y="1640525"/>
              <a:ext cx="988213" cy="573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Prompted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LLM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" name="Google Shape;1225;p96" descr="ChatGPT Logo and symbol, meaning, history, PNG, brand">
              <a:extLst>
                <a:ext uri="{FF2B5EF4-FFF2-40B4-BE49-F238E27FC236}">
                  <a16:creationId xmlns:a16="http://schemas.microsoft.com/office/drawing/2014/main" id="{E4115A0D-2D7B-99AD-779D-E3E89EFB8E0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2631350" y="1684312"/>
              <a:ext cx="486950" cy="470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oogle Shape;1241;p96">
            <a:extLst>
              <a:ext uri="{FF2B5EF4-FFF2-40B4-BE49-F238E27FC236}">
                <a16:creationId xmlns:a16="http://schemas.microsoft.com/office/drawing/2014/main" id="{A3AF7C90-2E69-B6AA-E287-CFBD9D297E99}"/>
              </a:ext>
            </a:extLst>
          </p:cNvPr>
          <p:cNvGrpSpPr/>
          <p:nvPr/>
        </p:nvGrpSpPr>
        <p:grpSpPr>
          <a:xfrm>
            <a:off x="4334817" y="3758709"/>
            <a:ext cx="555280" cy="554351"/>
            <a:chOff x="7540309" y="2735044"/>
            <a:chExt cx="517622" cy="516756"/>
          </a:xfrm>
        </p:grpSpPr>
        <p:sp>
          <p:nvSpPr>
            <p:cNvPr id="8" name="Google Shape;1242;p96">
              <a:extLst>
                <a:ext uri="{FF2B5EF4-FFF2-40B4-BE49-F238E27FC236}">
                  <a16:creationId xmlns:a16="http://schemas.microsoft.com/office/drawing/2014/main" id="{6EBC36AC-45E2-6533-5FD1-E1894A38029F}"/>
                </a:ext>
              </a:extLst>
            </p:cNvPr>
            <p:cNvSpPr/>
            <p:nvPr/>
          </p:nvSpPr>
          <p:spPr>
            <a:xfrm>
              <a:off x="7540309" y="2735044"/>
              <a:ext cx="517622" cy="516756"/>
            </a:xfrm>
            <a:prstGeom prst="roundRect">
              <a:avLst>
                <a:gd name="adj" fmla="val 24855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Google Shape;1243;p96" descr="59,432 Conversation Icons - Free in SVG, PNG, ICO - IconScout">
              <a:extLst>
                <a:ext uri="{FF2B5EF4-FFF2-40B4-BE49-F238E27FC236}">
                  <a16:creationId xmlns:a16="http://schemas.microsoft.com/office/drawing/2014/main" id="{096E5D6F-CC68-DB81-4EC7-3938704D4538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35963" y="2844651"/>
              <a:ext cx="331500" cy="33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Google Shape;1233;p96">
            <a:extLst>
              <a:ext uri="{FF2B5EF4-FFF2-40B4-BE49-F238E27FC236}">
                <a16:creationId xmlns:a16="http://schemas.microsoft.com/office/drawing/2014/main" id="{68A0F20D-4A52-4C29-5C39-1530F11D8BFB}"/>
              </a:ext>
            </a:extLst>
          </p:cNvPr>
          <p:cNvGrpSpPr/>
          <p:nvPr/>
        </p:nvGrpSpPr>
        <p:grpSpPr>
          <a:xfrm>
            <a:off x="2240410" y="3604068"/>
            <a:ext cx="1721126" cy="923641"/>
            <a:chOff x="7334399" y="3809869"/>
            <a:chExt cx="1604400" cy="860999"/>
          </a:xfrm>
        </p:grpSpPr>
        <p:sp>
          <p:nvSpPr>
            <p:cNvPr id="11" name="Google Shape;1234;p96">
              <a:extLst>
                <a:ext uri="{FF2B5EF4-FFF2-40B4-BE49-F238E27FC236}">
                  <a16:creationId xmlns:a16="http://schemas.microsoft.com/office/drawing/2014/main" id="{A85E3388-9736-0922-D5D5-A4BEA5D151D1}"/>
                </a:ext>
              </a:extLst>
            </p:cNvPr>
            <p:cNvSpPr/>
            <p:nvPr/>
          </p:nvSpPr>
          <p:spPr>
            <a:xfrm>
              <a:off x="7334399" y="3809869"/>
              <a:ext cx="1604400" cy="860999"/>
            </a:xfrm>
            <a:prstGeom prst="roundRect">
              <a:avLst>
                <a:gd name="adj" fmla="val 1334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Google Shape;1235;p96" descr="Elder Icon #60510 - Free Icons Library">
              <a:extLst>
                <a:ext uri="{FF2B5EF4-FFF2-40B4-BE49-F238E27FC236}">
                  <a16:creationId xmlns:a16="http://schemas.microsoft.com/office/drawing/2014/main" id="{C6AB2792-66BE-E1FC-754A-ED2C941027A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4000" contrast="63000"/>
                      </a14:imgEffect>
                    </a14:imgLayer>
                  </a14:imgProps>
                </a:ext>
              </a:extLst>
            </a:blip>
            <a:srcRect l="26258" t="15380" r="26700" b="15862"/>
            <a:stretch/>
          </p:blipFill>
          <p:spPr>
            <a:xfrm flipH="1">
              <a:off x="8472451" y="3954022"/>
              <a:ext cx="391828" cy="572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236;p96">
              <a:extLst>
                <a:ext uri="{FF2B5EF4-FFF2-40B4-BE49-F238E27FC236}">
                  <a16:creationId xmlns:a16="http://schemas.microsoft.com/office/drawing/2014/main" id="{A9DBD257-811D-6DE8-0682-A0D4CD8352B9}"/>
                </a:ext>
              </a:extLst>
            </p:cNvPr>
            <p:cNvSpPr txBox="1"/>
            <p:nvPr/>
          </p:nvSpPr>
          <p:spPr>
            <a:xfrm>
              <a:off x="7334400" y="3886275"/>
              <a:ext cx="1348500" cy="717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ea typeface="Courier New"/>
                  <a:cs typeface="Arial" panose="020B0604020202020204" pitchFamily="34" charset="0"/>
                  <a:sym typeface="Courier New"/>
                </a:rPr>
                <a:t>Virtual User</a:t>
              </a:r>
              <a:endParaRPr sz="1200" b="1" dirty="0">
                <a:solidFill>
                  <a:schemeClr val="dk1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  <a:sym typeface="Courier New"/>
              </a:endParaRPr>
            </a:p>
            <a:p>
              <a:pPr algn="ctr"/>
              <a:r>
                <a:rPr lang="en" sz="1100" i="1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Fine-Tuned </a:t>
              </a:r>
              <a:br>
                <a:rPr lang="en" sz="1100" i="1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" sz="1100" i="1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LLM</a:t>
              </a:r>
              <a:endParaRPr sz="1100" i="1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Google Shape;1237;p96" descr="ChatGPT Logo and symbol, meaning, history, PNG, brand">
              <a:extLst>
                <a:ext uri="{FF2B5EF4-FFF2-40B4-BE49-F238E27FC236}">
                  <a16:creationId xmlns:a16="http://schemas.microsoft.com/office/drawing/2014/main" id="{BF5905EF-61EB-47B7-189E-E6EEC91F953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7389125" y="4236412"/>
              <a:ext cx="256224" cy="2475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2B33AF-F53A-22E3-D8B2-8F8FE8AE8BD5}"/>
              </a:ext>
            </a:extLst>
          </p:cNvPr>
          <p:cNvGrpSpPr/>
          <p:nvPr/>
        </p:nvGrpSpPr>
        <p:grpSpPr>
          <a:xfrm>
            <a:off x="5300861" y="2994667"/>
            <a:ext cx="1732025" cy="958145"/>
            <a:chOff x="6011919" y="2233342"/>
            <a:chExt cx="1732025" cy="9581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7E2DA0E-F555-D395-D64B-643E1171590F}"/>
                </a:ext>
              </a:extLst>
            </p:cNvPr>
            <p:cNvGrpSpPr/>
            <p:nvPr/>
          </p:nvGrpSpPr>
          <p:grpSpPr>
            <a:xfrm>
              <a:off x="6011919" y="2233342"/>
              <a:ext cx="1725967" cy="627895"/>
              <a:chOff x="3203732" y="2187585"/>
              <a:chExt cx="1725967" cy="627895"/>
            </a:xfrm>
          </p:grpSpPr>
          <p:sp>
            <p:nvSpPr>
              <p:cNvPr id="16" name="Google Shape;1098;p91">
                <a:extLst>
                  <a:ext uri="{FF2B5EF4-FFF2-40B4-BE49-F238E27FC236}">
                    <a16:creationId xmlns:a16="http://schemas.microsoft.com/office/drawing/2014/main" id="{7CC58034-1DD9-CD76-B3C3-DFAFD2D66E87}"/>
                  </a:ext>
                </a:extLst>
              </p:cNvPr>
              <p:cNvSpPr/>
              <p:nvPr/>
            </p:nvSpPr>
            <p:spPr>
              <a:xfrm>
                <a:off x="3208572" y="2187585"/>
                <a:ext cx="1721127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Reminiscence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Google Shape;1100;p91">
                <a:extLst>
                  <a:ext uri="{FF2B5EF4-FFF2-40B4-BE49-F238E27FC236}">
                    <a16:creationId xmlns:a16="http://schemas.microsoft.com/office/drawing/2014/main" id="{5E39701B-E354-A4B5-C261-16C4C843523C}"/>
                  </a:ext>
                </a:extLst>
              </p:cNvPr>
              <p:cNvSpPr/>
              <p:nvPr/>
            </p:nvSpPr>
            <p:spPr>
              <a:xfrm>
                <a:off x="3203732" y="2513384"/>
                <a:ext cx="1721127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Engagement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Google Shape;1100;p91">
              <a:extLst>
                <a:ext uri="{FF2B5EF4-FFF2-40B4-BE49-F238E27FC236}">
                  <a16:creationId xmlns:a16="http://schemas.microsoft.com/office/drawing/2014/main" id="{0BB4A52A-E586-B1AE-FF99-C3BA461EBDAB}"/>
                </a:ext>
              </a:extLst>
            </p:cNvPr>
            <p:cNvSpPr/>
            <p:nvPr/>
          </p:nvSpPr>
          <p:spPr>
            <a:xfrm>
              <a:off x="6022817" y="2889391"/>
              <a:ext cx="1721127" cy="302096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Vocabulary</a:t>
              </a:r>
              <a:endParaRPr sz="11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C5BB4F7-17AB-883A-DC64-99FE87C6D10D}"/>
              </a:ext>
            </a:extLst>
          </p:cNvPr>
          <p:cNvSpPr txBox="1"/>
          <p:nvPr/>
        </p:nvSpPr>
        <p:spPr>
          <a:xfrm>
            <a:off x="5777645" y="2703471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8EA283-14C3-1D15-2045-A0226E8DBAB9}"/>
              </a:ext>
            </a:extLst>
          </p:cNvPr>
          <p:cNvSpPr txBox="1"/>
          <p:nvPr/>
        </p:nvSpPr>
        <p:spPr>
          <a:xfrm>
            <a:off x="5848077" y="2168527"/>
            <a:ext cx="585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71835D0-3755-0422-0C50-1CE1789CF99E}"/>
              </a:ext>
            </a:extLst>
          </p:cNvPr>
          <p:cNvSpPr/>
          <p:nvPr/>
        </p:nvSpPr>
        <p:spPr>
          <a:xfrm>
            <a:off x="-847864" y="1751119"/>
            <a:ext cx="2795060" cy="2880742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Google Shape;1227;p96">
            <a:extLst>
              <a:ext uri="{FF2B5EF4-FFF2-40B4-BE49-F238E27FC236}">
                <a16:creationId xmlns:a16="http://schemas.microsoft.com/office/drawing/2014/main" id="{7997AF66-DACF-ED45-4FF6-D486FE563D2A}"/>
              </a:ext>
            </a:extLst>
          </p:cNvPr>
          <p:cNvSpPr/>
          <p:nvPr/>
        </p:nvSpPr>
        <p:spPr>
          <a:xfrm>
            <a:off x="930494" y="3218426"/>
            <a:ext cx="774496" cy="1000737"/>
          </a:xfrm>
          <a:prstGeom prst="leftUpArrow">
            <a:avLst>
              <a:gd name="adj1" fmla="val 18061"/>
              <a:gd name="adj2" fmla="val 16462"/>
              <a:gd name="adj3" fmla="val 177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Google Shape;1221;p96">
            <a:extLst>
              <a:ext uri="{FF2B5EF4-FFF2-40B4-BE49-F238E27FC236}">
                <a16:creationId xmlns:a16="http://schemas.microsoft.com/office/drawing/2014/main" id="{8FCB5FB8-E31C-5628-A957-8AFBCAA05477}"/>
              </a:ext>
            </a:extLst>
          </p:cNvPr>
          <p:cNvSpPr/>
          <p:nvPr/>
        </p:nvSpPr>
        <p:spPr>
          <a:xfrm>
            <a:off x="-781415" y="1805832"/>
            <a:ext cx="1059399" cy="1036602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00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Protocol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Google Shape;1228;p96">
            <a:extLst>
              <a:ext uri="{FF2B5EF4-FFF2-40B4-BE49-F238E27FC236}">
                <a16:creationId xmlns:a16="http://schemas.microsoft.com/office/drawing/2014/main" id="{3D83EA3B-FBA2-1FD6-8B49-8F7B57ECB3CF}"/>
              </a:ext>
            </a:extLst>
          </p:cNvPr>
          <p:cNvSpPr/>
          <p:nvPr/>
        </p:nvSpPr>
        <p:spPr>
          <a:xfrm>
            <a:off x="1566371" y="3870891"/>
            <a:ext cx="691810" cy="407210"/>
          </a:xfrm>
          <a:prstGeom prst="rightArrow">
            <a:avLst>
              <a:gd name="adj1" fmla="val 69303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oogle Shape;1229;p96">
            <a:extLst>
              <a:ext uri="{FF2B5EF4-FFF2-40B4-BE49-F238E27FC236}">
                <a16:creationId xmlns:a16="http://schemas.microsoft.com/office/drawing/2014/main" id="{4344639A-DDCC-91E3-FEBF-A03C70CF2475}"/>
              </a:ext>
            </a:extLst>
          </p:cNvPr>
          <p:cNvGrpSpPr/>
          <p:nvPr/>
        </p:nvGrpSpPr>
        <p:grpSpPr>
          <a:xfrm>
            <a:off x="-770072" y="3612675"/>
            <a:ext cx="1721126" cy="923642"/>
            <a:chOff x="7467525" y="3346425"/>
            <a:chExt cx="1604400" cy="861001"/>
          </a:xfrm>
        </p:grpSpPr>
        <p:sp>
          <p:nvSpPr>
            <p:cNvPr id="27" name="Google Shape;1230;p96">
              <a:extLst>
                <a:ext uri="{FF2B5EF4-FFF2-40B4-BE49-F238E27FC236}">
                  <a16:creationId xmlns:a16="http://schemas.microsoft.com/office/drawing/2014/main" id="{480E7EC8-916A-2806-38B2-8C1226279248}"/>
                </a:ext>
              </a:extLst>
            </p:cNvPr>
            <p:cNvSpPr/>
            <p:nvPr/>
          </p:nvSpPr>
          <p:spPr>
            <a:xfrm>
              <a:off x="7467525" y="3346425"/>
              <a:ext cx="1604400" cy="861001"/>
            </a:xfrm>
            <a:prstGeom prst="roundRect">
              <a:avLst>
                <a:gd name="adj" fmla="val 13347"/>
              </a:avLst>
            </a:prstGeom>
            <a:solidFill>
              <a:srgbClr val="EFEFE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" name="Google Shape;1231;p96" descr="Elder Icon #60510 - Free Icons Library">
              <a:extLst>
                <a:ext uri="{FF2B5EF4-FFF2-40B4-BE49-F238E27FC236}">
                  <a16:creationId xmlns:a16="http://schemas.microsoft.com/office/drawing/2014/main" id="{66935B42-5326-CAB0-810F-DF6446DF666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6258" t="15380" r="26700" b="15862"/>
            <a:stretch/>
          </p:blipFill>
          <p:spPr>
            <a:xfrm flipH="1">
              <a:off x="8472450" y="3474701"/>
              <a:ext cx="410400" cy="599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1232;p96">
              <a:extLst>
                <a:ext uri="{FF2B5EF4-FFF2-40B4-BE49-F238E27FC236}">
                  <a16:creationId xmlns:a16="http://schemas.microsoft.com/office/drawing/2014/main" id="{3171D230-FA1A-6BDF-0A59-83F089C7BF14}"/>
                </a:ext>
              </a:extLst>
            </p:cNvPr>
            <p:cNvSpPr txBox="1"/>
            <p:nvPr/>
          </p:nvSpPr>
          <p:spPr>
            <a:xfrm>
              <a:off x="7579607" y="3409685"/>
              <a:ext cx="780600" cy="745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MCI/NC Older Users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2523C96-932D-B29B-11EC-804CB86A7C02}"/>
              </a:ext>
            </a:extLst>
          </p:cNvPr>
          <p:cNvSpPr txBox="1"/>
          <p:nvPr/>
        </p:nvSpPr>
        <p:spPr>
          <a:xfrm>
            <a:off x="-390432" y="1458796"/>
            <a:ext cx="1880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I-CONECT Clinical Trial</a:t>
            </a:r>
          </a:p>
        </p:txBody>
      </p:sp>
      <p:sp>
        <p:nvSpPr>
          <p:cNvPr id="31" name="Google Shape;1221;p96">
            <a:extLst>
              <a:ext uri="{FF2B5EF4-FFF2-40B4-BE49-F238E27FC236}">
                <a16:creationId xmlns:a16="http://schemas.microsoft.com/office/drawing/2014/main" id="{4D5FD4F8-A415-6CF5-39EC-11EE7408BC48}"/>
              </a:ext>
            </a:extLst>
          </p:cNvPr>
          <p:cNvSpPr/>
          <p:nvPr/>
        </p:nvSpPr>
        <p:spPr>
          <a:xfrm>
            <a:off x="426410" y="2625188"/>
            <a:ext cx="1417539" cy="649029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Trained Interviewers</a:t>
            </a:r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5C765BDE-6854-F71B-5BC2-67E8093109E5}"/>
              </a:ext>
            </a:extLst>
          </p:cNvPr>
          <p:cNvSpPr/>
          <p:nvPr/>
        </p:nvSpPr>
        <p:spPr>
          <a:xfrm rot="5400000">
            <a:off x="805045" y="1878573"/>
            <a:ext cx="437432" cy="1026236"/>
          </a:xfrm>
          <a:prstGeom prst="bentArrow">
            <a:avLst>
              <a:gd name="adj1" fmla="val 71263"/>
              <a:gd name="adj2" fmla="val 50000"/>
              <a:gd name="adj3" fmla="val 22589"/>
              <a:gd name="adj4" fmla="val 63034"/>
            </a:avLst>
          </a:prstGeom>
          <a:gradFill flip="none" rotWithShape="1">
            <a:gsLst>
              <a:gs pos="78000">
                <a:srgbClr val="BBCFAD"/>
              </a:gs>
              <a:gs pos="0">
                <a:srgbClr val="CCCCCC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Google Shape;1241;p96">
            <a:extLst>
              <a:ext uri="{FF2B5EF4-FFF2-40B4-BE49-F238E27FC236}">
                <a16:creationId xmlns:a16="http://schemas.microsoft.com/office/drawing/2014/main" id="{BF92C47C-B59D-2293-7A92-DF8438CB2403}"/>
              </a:ext>
            </a:extLst>
          </p:cNvPr>
          <p:cNvGrpSpPr/>
          <p:nvPr/>
        </p:nvGrpSpPr>
        <p:grpSpPr>
          <a:xfrm>
            <a:off x="1244268" y="3797321"/>
            <a:ext cx="555280" cy="554351"/>
            <a:chOff x="7540309" y="2735044"/>
            <a:chExt cx="517622" cy="516756"/>
          </a:xfrm>
        </p:grpSpPr>
        <p:sp>
          <p:nvSpPr>
            <p:cNvPr id="34" name="Google Shape;1242;p96">
              <a:extLst>
                <a:ext uri="{FF2B5EF4-FFF2-40B4-BE49-F238E27FC236}">
                  <a16:creationId xmlns:a16="http://schemas.microsoft.com/office/drawing/2014/main" id="{7699848C-5172-F0CC-2BA2-556F030AF315}"/>
                </a:ext>
              </a:extLst>
            </p:cNvPr>
            <p:cNvSpPr/>
            <p:nvPr/>
          </p:nvSpPr>
          <p:spPr>
            <a:xfrm>
              <a:off x="7540309" y="2735044"/>
              <a:ext cx="517622" cy="516756"/>
            </a:xfrm>
            <a:prstGeom prst="roundRect">
              <a:avLst>
                <a:gd name="adj" fmla="val 24855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" name="Google Shape;1243;p96" descr="59,432 Conversation Icons - Free in SVG, PNG, ICO - IconScout">
              <a:extLst>
                <a:ext uri="{FF2B5EF4-FFF2-40B4-BE49-F238E27FC236}">
                  <a16:creationId xmlns:a16="http://schemas.microsoft.com/office/drawing/2014/main" id="{D6C873AA-3B44-8C99-7DA6-7D375724315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35963" y="2844651"/>
              <a:ext cx="331500" cy="33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" name="Google Shape;1222;p96">
            <a:extLst>
              <a:ext uri="{FF2B5EF4-FFF2-40B4-BE49-F238E27FC236}">
                <a16:creationId xmlns:a16="http://schemas.microsoft.com/office/drawing/2014/main" id="{D1FD2034-6DD6-26A4-6250-D26008634A43}"/>
              </a:ext>
            </a:extLst>
          </p:cNvPr>
          <p:cNvGrpSpPr/>
          <p:nvPr/>
        </p:nvGrpSpPr>
        <p:grpSpPr>
          <a:xfrm>
            <a:off x="7244854" y="1958720"/>
            <a:ext cx="1351175" cy="745958"/>
            <a:chOff x="2555051" y="1573606"/>
            <a:chExt cx="1259540" cy="695367"/>
          </a:xfrm>
        </p:grpSpPr>
        <p:sp>
          <p:nvSpPr>
            <p:cNvPr id="41" name="Google Shape;1223;p96">
              <a:extLst>
                <a:ext uri="{FF2B5EF4-FFF2-40B4-BE49-F238E27FC236}">
                  <a16:creationId xmlns:a16="http://schemas.microsoft.com/office/drawing/2014/main" id="{85E36EBB-ADDB-6AE4-7529-C10C762326C9}"/>
                </a:ext>
              </a:extLst>
            </p:cNvPr>
            <p:cNvSpPr/>
            <p:nvPr/>
          </p:nvSpPr>
          <p:spPr>
            <a:xfrm>
              <a:off x="2555051" y="1573606"/>
              <a:ext cx="1150216" cy="695367"/>
            </a:xfrm>
            <a:prstGeom prst="roundRect">
              <a:avLst>
                <a:gd name="adj" fmla="val 1334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Google Shape;1224;p96">
              <a:extLst>
                <a:ext uri="{FF2B5EF4-FFF2-40B4-BE49-F238E27FC236}">
                  <a16:creationId xmlns:a16="http://schemas.microsoft.com/office/drawing/2014/main" id="{3910B091-47C4-7026-ACF8-A00B779B9E5B}"/>
                </a:ext>
              </a:extLst>
            </p:cNvPr>
            <p:cNvSpPr txBox="1"/>
            <p:nvPr/>
          </p:nvSpPr>
          <p:spPr>
            <a:xfrm>
              <a:off x="3008978" y="1630071"/>
              <a:ext cx="805613" cy="573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Trained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LLM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3" name="Google Shape;1225;p96" descr="ChatGPT Logo and symbol, meaning, history, PNG, brand">
              <a:extLst>
                <a:ext uri="{FF2B5EF4-FFF2-40B4-BE49-F238E27FC236}">
                  <a16:creationId xmlns:a16="http://schemas.microsoft.com/office/drawing/2014/main" id="{35BBD5AA-A267-9775-C6D8-DEFE4443893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2631350" y="1684312"/>
              <a:ext cx="486950" cy="470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895E52C-12C7-19F2-62D6-A9906DA92364}"/>
              </a:ext>
            </a:extLst>
          </p:cNvPr>
          <p:cNvSpPr/>
          <p:nvPr/>
        </p:nvSpPr>
        <p:spPr>
          <a:xfrm>
            <a:off x="7238621" y="3585638"/>
            <a:ext cx="1312283" cy="991318"/>
          </a:xfrm>
          <a:prstGeom prst="roundRect">
            <a:avLst>
              <a:gd name="adj" fmla="val 9249"/>
            </a:avLst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oogle Shape;1222;p96">
            <a:extLst>
              <a:ext uri="{FF2B5EF4-FFF2-40B4-BE49-F238E27FC236}">
                <a16:creationId xmlns:a16="http://schemas.microsoft.com/office/drawing/2014/main" id="{97C3EE9B-7AD8-3E56-299B-85DBED912789}"/>
              </a:ext>
            </a:extLst>
          </p:cNvPr>
          <p:cNvGrpSpPr/>
          <p:nvPr/>
        </p:nvGrpSpPr>
        <p:grpSpPr>
          <a:xfrm>
            <a:off x="7232132" y="2763877"/>
            <a:ext cx="1363864" cy="745958"/>
            <a:chOff x="2555051" y="1573606"/>
            <a:chExt cx="1271368" cy="695367"/>
          </a:xfrm>
        </p:grpSpPr>
        <p:sp>
          <p:nvSpPr>
            <p:cNvPr id="47" name="Google Shape;1223;p96">
              <a:extLst>
                <a:ext uri="{FF2B5EF4-FFF2-40B4-BE49-F238E27FC236}">
                  <a16:creationId xmlns:a16="http://schemas.microsoft.com/office/drawing/2014/main" id="{F188A3ED-9C4D-D286-7917-A0DF47EC88AD}"/>
                </a:ext>
              </a:extLst>
            </p:cNvPr>
            <p:cNvSpPr/>
            <p:nvPr/>
          </p:nvSpPr>
          <p:spPr>
            <a:xfrm>
              <a:off x="2555051" y="1573606"/>
              <a:ext cx="1150216" cy="695367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Google Shape;1224;p96">
              <a:extLst>
                <a:ext uri="{FF2B5EF4-FFF2-40B4-BE49-F238E27FC236}">
                  <a16:creationId xmlns:a16="http://schemas.microsoft.com/office/drawing/2014/main" id="{D6C96916-D90C-DD62-D26C-4288C5DFBCFD}"/>
                </a:ext>
              </a:extLst>
            </p:cNvPr>
            <p:cNvSpPr txBox="1"/>
            <p:nvPr/>
          </p:nvSpPr>
          <p:spPr>
            <a:xfrm>
              <a:off x="2566911" y="1583665"/>
              <a:ext cx="1259508" cy="573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Real-time Voice Interface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6F521EF2-C017-047F-957B-AE9396F6115C}"/>
              </a:ext>
            </a:extLst>
          </p:cNvPr>
          <p:cNvSpPr txBox="1"/>
          <p:nvPr/>
        </p:nvSpPr>
        <p:spPr>
          <a:xfrm>
            <a:off x="7432153" y="4700804"/>
            <a:ext cx="2302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(4) Device and Interface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BB4E272-A825-F7F1-743D-B651679EBCC9}"/>
              </a:ext>
            </a:extLst>
          </p:cNvPr>
          <p:cNvSpPr/>
          <p:nvPr/>
        </p:nvSpPr>
        <p:spPr>
          <a:xfrm>
            <a:off x="3881594" y="1772848"/>
            <a:ext cx="2733590" cy="1194494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Google Shape;1222;p96">
            <a:extLst>
              <a:ext uri="{FF2B5EF4-FFF2-40B4-BE49-F238E27FC236}">
                <a16:creationId xmlns:a16="http://schemas.microsoft.com/office/drawing/2014/main" id="{888DBDC1-5F0A-0380-24EE-F0D8A27894EA}"/>
              </a:ext>
            </a:extLst>
          </p:cNvPr>
          <p:cNvGrpSpPr/>
          <p:nvPr/>
        </p:nvGrpSpPr>
        <p:grpSpPr>
          <a:xfrm>
            <a:off x="8613494" y="1952907"/>
            <a:ext cx="1363864" cy="745958"/>
            <a:chOff x="2555051" y="1573606"/>
            <a:chExt cx="1271368" cy="695367"/>
          </a:xfrm>
        </p:grpSpPr>
        <p:sp>
          <p:nvSpPr>
            <p:cNvPr id="54" name="Google Shape;1223;p96">
              <a:extLst>
                <a:ext uri="{FF2B5EF4-FFF2-40B4-BE49-F238E27FC236}">
                  <a16:creationId xmlns:a16="http://schemas.microsoft.com/office/drawing/2014/main" id="{E6C6B588-07EA-3FB4-32D2-C0B02DBD5A3C}"/>
                </a:ext>
              </a:extLst>
            </p:cNvPr>
            <p:cNvSpPr/>
            <p:nvPr/>
          </p:nvSpPr>
          <p:spPr>
            <a:xfrm>
              <a:off x="2555051" y="1573606"/>
              <a:ext cx="1150216" cy="695367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Google Shape;1224;p96">
              <a:extLst>
                <a:ext uri="{FF2B5EF4-FFF2-40B4-BE49-F238E27FC236}">
                  <a16:creationId xmlns:a16="http://schemas.microsoft.com/office/drawing/2014/main" id="{BD551089-7F60-9965-16F6-8077E257EDE0}"/>
                </a:ext>
              </a:extLst>
            </p:cNvPr>
            <p:cNvSpPr txBox="1"/>
            <p:nvPr/>
          </p:nvSpPr>
          <p:spPr>
            <a:xfrm>
              <a:off x="2566911" y="1583665"/>
              <a:ext cx="1259508" cy="573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(3)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 Monitoring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35ABB30-AAED-B483-E50B-C5E788D87CF6}"/>
              </a:ext>
            </a:extLst>
          </p:cNvPr>
          <p:cNvSpPr txBox="1"/>
          <p:nvPr/>
        </p:nvSpPr>
        <p:spPr>
          <a:xfrm>
            <a:off x="3583519" y="1450467"/>
            <a:ext cx="3237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(1) Optimizing AI for Protocol Compliance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4451E6F-94FB-AA90-1627-B4183D0454EA}"/>
              </a:ext>
            </a:extLst>
          </p:cNvPr>
          <p:cNvSpPr/>
          <p:nvPr/>
        </p:nvSpPr>
        <p:spPr>
          <a:xfrm>
            <a:off x="2143173" y="3509834"/>
            <a:ext cx="2817837" cy="1122027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C25F97-842E-C32F-DCFC-06E13D9A6BB3}"/>
              </a:ext>
            </a:extLst>
          </p:cNvPr>
          <p:cNvSpPr txBox="1"/>
          <p:nvPr/>
        </p:nvSpPr>
        <p:spPr>
          <a:xfrm>
            <a:off x="2380120" y="4684233"/>
            <a:ext cx="2372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(2) Simulate Human Feedback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E3AFF53-8A8C-3A20-01C5-AAEA40436C32}"/>
              </a:ext>
            </a:extLst>
          </p:cNvPr>
          <p:cNvSpPr/>
          <p:nvPr/>
        </p:nvSpPr>
        <p:spPr>
          <a:xfrm>
            <a:off x="7122998" y="2693613"/>
            <a:ext cx="2724394" cy="1938248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" name="Google Shape;1222;p96">
            <a:extLst>
              <a:ext uri="{FF2B5EF4-FFF2-40B4-BE49-F238E27FC236}">
                <a16:creationId xmlns:a16="http://schemas.microsoft.com/office/drawing/2014/main" id="{CDBD4815-D341-9D9B-E836-24367A015746}"/>
              </a:ext>
            </a:extLst>
          </p:cNvPr>
          <p:cNvGrpSpPr/>
          <p:nvPr/>
        </p:nvGrpSpPr>
        <p:grpSpPr>
          <a:xfrm>
            <a:off x="8600327" y="2772251"/>
            <a:ext cx="1233898" cy="810970"/>
            <a:chOff x="2555051" y="1573606"/>
            <a:chExt cx="1150216" cy="755970"/>
          </a:xfrm>
        </p:grpSpPr>
        <p:sp>
          <p:nvSpPr>
            <p:cNvPr id="63" name="Google Shape;1223;p96">
              <a:extLst>
                <a:ext uri="{FF2B5EF4-FFF2-40B4-BE49-F238E27FC236}">
                  <a16:creationId xmlns:a16="http://schemas.microsoft.com/office/drawing/2014/main" id="{9FC3B026-C564-5C04-D56D-35DDBBB662DA}"/>
                </a:ext>
              </a:extLst>
            </p:cNvPr>
            <p:cNvSpPr/>
            <p:nvPr/>
          </p:nvSpPr>
          <p:spPr>
            <a:xfrm>
              <a:off x="2555051" y="1573606"/>
              <a:ext cx="1150216" cy="695367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Google Shape;1224;p96">
              <a:extLst>
                <a:ext uri="{FF2B5EF4-FFF2-40B4-BE49-F238E27FC236}">
                  <a16:creationId xmlns:a16="http://schemas.microsoft.com/office/drawing/2014/main" id="{0EE30477-C140-71F6-603F-F471896C982B}"/>
                </a:ext>
              </a:extLst>
            </p:cNvPr>
            <p:cNvSpPr txBox="1"/>
            <p:nvPr/>
          </p:nvSpPr>
          <p:spPr>
            <a:xfrm>
              <a:off x="2566912" y="1583665"/>
              <a:ext cx="1045295" cy="745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Emotion Responsive Robot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B07FA84A-0B77-1DCE-4F2A-D4D56CBEDE26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14269" y="3550090"/>
            <a:ext cx="769758" cy="100801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70EBC511-13E8-AB85-17A8-AAC842CB2D17}"/>
              </a:ext>
            </a:extLst>
          </p:cNvPr>
          <p:cNvSpPr txBox="1"/>
          <p:nvPr/>
        </p:nvSpPr>
        <p:spPr>
          <a:xfrm>
            <a:off x="2352459" y="2168526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Instruct</a:t>
            </a:r>
          </a:p>
        </p:txBody>
      </p:sp>
      <p:grpSp>
        <p:nvGrpSpPr>
          <p:cNvPr id="6" name="Google Shape;1229;p96">
            <a:extLst>
              <a:ext uri="{FF2B5EF4-FFF2-40B4-BE49-F238E27FC236}">
                <a16:creationId xmlns:a16="http://schemas.microsoft.com/office/drawing/2014/main" id="{C4184211-F8CE-0369-5FC5-CD16CAC9A410}"/>
              </a:ext>
            </a:extLst>
          </p:cNvPr>
          <p:cNvGrpSpPr/>
          <p:nvPr/>
        </p:nvGrpSpPr>
        <p:grpSpPr>
          <a:xfrm>
            <a:off x="10808635" y="3574063"/>
            <a:ext cx="1721126" cy="923642"/>
            <a:chOff x="7467525" y="3346425"/>
            <a:chExt cx="1604400" cy="861001"/>
          </a:xfrm>
        </p:grpSpPr>
        <p:sp>
          <p:nvSpPr>
            <p:cNvPr id="37" name="Google Shape;1230;p96">
              <a:extLst>
                <a:ext uri="{FF2B5EF4-FFF2-40B4-BE49-F238E27FC236}">
                  <a16:creationId xmlns:a16="http://schemas.microsoft.com/office/drawing/2014/main" id="{2A454B64-E41E-9363-B579-F58029E674FA}"/>
                </a:ext>
              </a:extLst>
            </p:cNvPr>
            <p:cNvSpPr/>
            <p:nvPr/>
          </p:nvSpPr>
          <p:spPr>
            <a:xfrm>
              <a:off x="7467525" y="3346425"/>
              <a:ext cx="1604400" cy="861001"/>
            </a:xfrm>
            <a:prstGeom prst="roundRect">
              <a:avLst>
                <a:gd name="adj" fmla="val 13347"/>
              </a:avLst>
            </a:prstGeom>
            <a:solidFill>
              <a:srgbClr val="EFEFE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9" name="Google Shape;1231;p96" descr="Elder Icon #60510 - Free Icons Library">
              <a:extLst>
                <a:ext uri="{FF2B5EF4-FFF2-40B4-BE49-F238E27FC236}">
                  <a16:creationId xmlns:a16="http://schemas.microsoft.com/office/drawing/2014/main" id="{4370595B-6C4D-08B3-324C-623BB181BD5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6258" t="15380" r="26700" b="15862"/>
            <a:stretch/>
          </p:blipFill>
          <p:spPr>
            <a:xfrm flipH="1">
              <a:off x="8472450" y="3474701"/>
              <a:ext cx="410400" cy="599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1232;p96">
              <a:extLst>
                <a:ext uri="{FF2B5EF4-FFF2-40B4-BE49-F238E27FC236}">
                  <a16:creationId xmlns:a16="http://schemas.microsoft.com/office/drawing/2014/main" id="{10E95717-C92A-E462-FF19-D4FB4EB19797}"/>
                </a:ext>
              </a:extLst>
            </p:cNvPr>
            <p:cNvSpPr txBox="1"/>
            <p:nvPr/>
          </p:nvSpPr>
          <p:spPr>
            <a:xfrm>
              <a:off x="7579607" y="3409685"/>
              <a:ext cx="780600" cy="745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MCI/NC Older Users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005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D62018-9A83-EA09-D0EA-07983CCA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Up-Down Arrow 79">
            <a:extLst>
              <a:ext uri="{FF2B5EF4-FFF2-40B4-BE49-F238E27FC236}">
                <a16:creationId xmlns:a16="http://schemas.microsoft.com/office/drawing/2014/main" id="{A8DA16C8-85D6-F8D0-D142-D10DC1DB05F7}"/>
              </a:ext>
            </a:extLst>
          </p:cNvPr>
          <p:cNvSpPr/>
          <p:nvPr/>
        </p:nvSpPr>
        <p:spPr>
          <a:xfrm>
            <a:off x="10921975" y="2648486"/>
            <a:ext cx="432112" cy="87059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Google Shape;1220;p96">
            <a:extLst>
              <a:ext uri="{FF2B5EF4-FFF2-40B4-BE49-F238E27FC236}">
                <a16:creationId xmlns:a16="http://schemas.microsoft.com/office/drawing/2014/main" id="{19731194-14F6-1664-911A-290552CACB76}"/>
              </a:ext>
            </a:extLst>
          </p:cNvPr>
          <p:cNvSpPr/>
          <p:nvPr/>
        </p:nvSpPr>
        <p:spPr>
          <a:xfrm>
            <a:off x="9706758" y="1975710"/>
            <a:ext cx="1157381" cy="627561"/>
          </a:xfrm>
          <a:prstGeom prst="rightArrow">
            <a:avLst>
              <a:gd name="adj1" fmla="val 50000"/>
              <a:gd name="adj2" fmla="val 56179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Alert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Google Shape;1227;p96">
            <a:extLst>
              <a:ext uri="{FF2B5EF4-FFF2-40B4-BE49-F238E27FC236}">
                <a16:creationId xmlns:a16="http://schemas.microsoft.com/office/drawing/2014/main" id="{BF640AD1-BD9C-9504-65E2-FC52348F0806}"/>
              </a:ext>
            </a:extLst>
          </p:cNvPr>
          <p:cNvSpPr/>
          <p:nvPr/>
        </p:nvSpPr>
        <p:spPr>
          <a:xfrm>
            <a:off x="8282690" y="2729778"/>
            <a:ext cx="880458" cy="504098"/>
          </a:xfrm>
          <a:prstGeom prst="leftUpArrow">
            <a:avLst>
              <a:gd name="adj1" fmla="val 26007"/>
              <a:gd name="adj2" fmla="val 22231"/>
              <a:gd name="adj3" fmla="val 19366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Google Shape;1227;p96">
            <a:extLst>
              <a:ext uri="{FF2B5EF4-FFF2-40B4-BE49-F238E27FC236}">
                <a16:creationId xmlns:a16="http://schemas.microsoft.com/office/drawing/2014/main" id="{5AC5F68B-0C5F-A418-32E3-948018F39AB5}"/>
              </a:ext>
            </a:extLst>
          </p:cNvPr>
          <p:cNvSpPr/>
          <p:nvPr/>
        </p:nvSpPr>
        <p:spPr>
          <a:xfrm>
            <a:off x="5129179" y="2423986"/>
            <a:ext cx="1246006" cy="1767580"/>
          </a:xfrm>
          <a:prstGeom prst="leftUpArrow">
            <a:avLst>
              <a:gd name="adj1" fmla="val 9893"/>
              <a:gd name="adj2" fmla="val 10336"/>
              <a:gd name="adj3" fmla="val 11641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Google Shape;1220;p96">
            <a:extLst>
              <a:ext uri="{FF2B5EF4-FFF2-40B4-BE49-F238E27FC236}">
                <a16:creationId xmlns:a16="http://schemas.microsoft.com/office/drawing/2014/main" id="{BE03496B-317B-0E4A-B5C8-C4E4C7135E19}"/>
              </a:ext>
            </a:extLst>
          </p:cNvPr>
          <p:cNvSpPr/>
          <p:nvPr/>
        </p:nvSpPr>
        <p:spPr>
          <a:xfrm>
            <a:off x="5568843" y="1983662"/>
            <a:ext cx="1574282" cy="627561"/>
          </a:xfrm>
          <a:prstGeom prst="rightArrow">
            <a:avLst>
              <a:gd name="adj1" fmla="val 50000"/>
              <a:gd name="adj2" fmla="val 56179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Google Shape;1227;p96">
            <a:extLst>
              <a:ext uri="{FF2B5EF4-FFF2-40B4-BE49-F238E27FC236}">
                <a16:creationId xmlns:a16="http://schemas.microsoft.com/office/drawing/2014/main" id="{06D9D4D6-59E4-14F2-4B2B-D3D889A8CA6C}"/>
              </a:ext>
            </a:extLst>
          </p:cNvPr>
          <p:cNvSpPr/>
          <p:nvPr/>
        </p:nvSpPr>
        <p:spPr>
          <a:xfrm>
            <a:off x="4689217" y="2634144"/>
            <a:ext cx="630392" cy="1525765"/>
          </a:xfrm>
          <a:prstGeom prst="leftUpArrow">
            <a:avLst>
              <a:gd name="adj1" fmla="val 18061"/>
              <a:gd name="adj2" fmla="val 16462"/>
              <a:gd name="adj3" fmla="val 177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Google Shape;1220;p96">
            <a:extLst>
              <a:ext uri="{FF2B5EF4-FFF2-40B4-BE49-F238E27FC236}">
                <a16:creationId xmlns:a16="http://schemas.microsoft.com/office/drawing/2014/main" id="{BAC65924-C723-7D06-6E09-998F8FC64D34}"/>
              </a:ext>
            </a:extLst>
          </p:cNvPr>
          <p:cNvSpPr/>
          <p:nvPr/>
        </p:nvSpPr>
        <p:spPr>
          <a:xfrm>
            <a:off x="1128851" y="1969653"/>
            <a:ext cx="3448236" cy="627561"/>
          </a:xfrm>
          <a:prstGeom prst="rightArrow">
            <a:avLst>
              <a:gd name="adj1" fmla="val 50000"/>
              <a:gd name="adj2" fmla="val 56179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oogle Shape;1222;p96">
            <a:extLst>
              <a:ext uri="{FF2B5EF4-FFF2-40B4-BE49-F238E27FC236}">
                <a16:creationId xmlns:a16="http://schemas.microsoft.com/office/drawing/2014/main" id="{83305794-D466-366D-8AA5-A86ADAF60371}"/>
              </a:ext>
            </a:extLst>
          </p:cNvPr>
          <p:cNvGrpSpPr/>
          <p:nvPr/>
        </p:nvGrpSpPr>
        <p:grpSpPr>
          <a:xfrm>
            <a:off x="4433632" y="1902528"/>
            <a:ext cx="1555454" cy="745958"/>
            <a:chOff x="2555051" y="1573606"/>
            <a:chExt cx="1449965" cy="695367"/>
          </a:xfrm>
        </p:grpSpPr>
        <p:sp>
          <p:nvSpPr>
            <p:cNvPr id="3" name="Google Shape;1223;p96">
              <a:extLst>
                <a:ext uri="{FF2B5EF4-FFF2-40B4-BE49-F238E27FC236}">
                  <a16:creationId xmlns:a16="http://schemas.microsoft.com/office/drawing/2014/main" id="{44B52F66-4170-7AFC-4B52-1E4849687E9C}"/>
                </a:ext>
              </a:extLst>
            </p:cNvPr>
            <p:cNvSpPr/>
            <p:nvPr/>
          </p:nvSpPr>
          <p:spPr>
            <a:xfrm>
              <a:off x="2555051" y="1573606"/>
              <a:ext cx="1337974" cy="695367"/>
            </a:xfrm>
            <a:prstGeom prst="roundRect">
              <a:avLst>
                <a:gd name="adj" fmla="val 1334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1224;p96">
              <a:extLst>
                <a:ext uri="{FF2B5EF4-FFF2-40B4-BE49-F238E27FC236}">
                  <a16:creationId xmlns:a16="http://schemas.microsoft.com/office/drawing/2014/main" id="{67187D92-FAD3-A4BA-45B0-59F4E3B9422E}"/>
                </a:ext>
              </a:extLst>
            </p:cNvPr>
            <p:cNvSpPr txBox="1"/>
            <p:nvPr/>
          </p:nvSpPr>
          <p:spPr>
            <a:xfrm>
              <a:off x="3016803" y="1640525"/>
              <a:ext cx="988213" cy="573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Prompted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LLM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" name="Google Shape;1225;p96" descr="ChatGPT Logo and symbol, meaning, history, PNG, brand">
              <a:extLst>
                <a:ext uri="{FF2B5EF4-FFF2-40B4-BE49-F238E27FC236}">
                  <a16:creationId xmlns:a16="http://schemas.microsoft.com/office/drawing/2014/main" id="{82C47DAA-42B8-E47C-86B8-F474B810DCF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2631350" y="1684312"/>
              <a:ext cx="486950" cy="470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Google Shape;1241;p96">
            <a:extLst>
              <a:ext uri="{FF2B5EF4-FFF2-40B4-BE49-F238E27FC236}">
                <a16:creationId xmlns:a16="http://schemas.microsoft.com/office/drawing/2014/main" id="{C7B04A6E-B4A3-0768-C3C0-A1400DB401AB}"/>
              </a:ext>
            </a:extLst>
          </p:cNvPr>
          <p:cNvGrpSpPr/>
          <p:nvPr/>
        </p:nvGrpSpPr>
        <p:grpSpPr>
          <a:xfrm>
            <a:off x="4933201" y="3718368"/>
            <a:ext cx="555280" cy="554351"/>
            <a:chOff x="7540309" y="2735044"/>
            <a:chExt cx="517622" cy="516756"/>
          </a:xfrm>
        </p:grpSpPr>
        <p:sp>
          <p:nvSpPr>
            <p:cNvPr id="8" name="Google Shape;1242;p96">
              <a:extLst>
                <a:ext uri="{FF2B5EF4-FFF2-40B4-BE49-F238E27FC236}">
                  <a16:creationId xmlns:a16="http://schemas.microsoft.com/office/drawing/2014/main" id="{58C51110-007C-3E02-BF0F-671596EBEF52}"/>
                </a:ext>
              </a:extLst>
            </p:cNvPr>
            <p:cNvSpPr/>
            <p:nvPr/>
          </p:nvSpPr>
          <p:spPr>
            <a:xfrm>
              <a:off x="7540309" y="2735044"/>
              <a:ext cx="517622" cy="516756"/>
            </a:xfrm>
            <a:prstGeom prst="roundRect">
              <a:avLst>
                <a:gd name="adj" fmla="val 24855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Google Shape;1243;p96" descr="59,432 Conversation Icons - Free in SVG, PNG, ICO - IconScout">
              <a:extLst>
                <a:ext uri="{FF2B5EF4-FFF2-40B4-BE49-F238E27FC236}">
                  <a16:creationId xmlns:a16="http://schemas.microsoft.com/office/drawing/2014/main" id="{5C13EEFA-B6CE-350B-E5D8-4694599DC184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35963" y="2844651"/>
              <a:ext cx="331500" cy="33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Google Shape;1233;p96">
            <a:extLst>
              <a:ext uri="{FF2B5EF4-FFF2-40B4-BE49-F238E27FC236}">
                <a16:creationId xmlns:a16="http://schemas.microsoft.com/office/drawing/2014/main" id="{7E4776A8-0E6C-11BF-49BE-F999297FEC81}"/>
              </a:ext>
            </a:extLst>
          </p:cNvPr>
          <p:cNvGrpSpPr/>
          <p:nvPr/>
        </p:nvGrpSpPr>
        <p:grpSpPr>
          <a:xfrm>
            <a:off x="3181702" y="3563727"/>
            <a:ext cx="1569361" cy="923641"/>
            <a:chOff x="7334399" y="3809869"/>
            <a:chExt cx="1462928" cy="860999"/>
          </a:xfrm>
        </p:grpSpPr>
        <p:sp>
          <p:nvSpPr>
            <p:cNvPr id="11" name="Google Shape;1234;p96">
              <a:extLst>
                <a:ext uri="{FF2B5EF4-FFF2-40B4-BE49-F238E27FC236}">
                  <a16:creationId xmlns:a16="http://schemas.microsoft.com/office/drawing/2014/main" id="{CA18AA15-764F-02DE-EB15-50DB365F71D0}"/>
                </a:ext>
              </a:extLst>
            </p:cNvPr>
            <p:cNvSpPr/>
            <p:nvPr/>
          </p:nvSpPr>
          <p:spPr>
            <a:xfrm>
              <a:off x="7334399" y="3809869"/>
              <a:ext cx="1462928" cy="860999"/>
            </a:xfrm>
            <a:prstGeom prst="roundRect">
              <a:avLst>
                <a:gd name="adj" fmla="val 1334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Google Shape;1235;p96" descr="Elder Icon #60510 - Free Icons Library">
              <a:extLst>
                <a:ext uri="{FF2B5EF4-FFF2-40B4-BE49-F238E27FC236}">
                  <a16:creationId xmlns:a16="http://schemas.microsoft.com/office/drawing/2014/main" id="{30C146D4-60F4-ADE8-35AA-076491C1921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4000" contrast="63000"/>
                      </a14:imgEffect>
                    </a14:imgLayer>
                  </a14:imgProps>
                </a:ext>
              </a:extLst>
            </a:blip>
            <a:srcRect l="26258" t="15380" r="26700" b="15862"/>
            <a:stretch/>
          </p:blipFill>
          <p:spPr>
            <a:xfrm flipH="1">
              <a:off x="8329681" y="3946169"/>
              <a:ext cx="391828" cy="572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236;p96">
              <a:extLst>
                <a:ext uri="{FF2B5EF4-FFF2-40B4-BE49-F238E27FC236}">
                  <a16:creationId xmlns:a16="http://schemas.microsoft.com/office/drawing/2014/main" id="{1CD11C35-1399-5B02-74B2-4FAF916D5DA0}"/>
                </a:ext>
              </a:extLst>
            </p:cNvPr>
            <p:cNvSpPr txBox="1"/>
            <p:nvPr/>
          </p:nvSpPr>
          <p:spPr>
            <a:xfrm>
              <a:off x="7334400" y="3886275"/>
              <a:ext cx="1115980" cy="717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ea typeface="Courier New"/>
                  <a:cs typeface="Arial" panose="020B0604020202020204" pitchFamily="34" charset="0"/>
                  <a:sym typeface="Courier New"/>
                </a:rPr>
                <a:t>Virtual User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ea typeface="Courier New"/>
                  <a:cs typeface="Arial" panose="020B0604020202020204" pitchFamily="34" charset="0"/>
                  <a:sym typeface="Courier New"/>
                </a:rPr>
                <a:t>s</a:t>
              </a:r>
              <a:endParaRPr sz="1200" b="1" dirty="0">
                <a:solidFill>
                  <a:schemeClr val="dk1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  <a:sym typeface="Courier New"/>
              </a:endParaRPr>
            </a:p>
            <a:p>
              <a:pPr algn="ctr"/>
              <a:r>
                <a:rPr lang="en" sz="1100" i="1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Fine-Tuned </a:t>
              </a:r>
              <a:br>
                <a:rPr lang="en" sz="1100" i="1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" sz="1100" i="1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LLM</a:t>
              </a:r>
              <a:endParaRPr sz="1100" i="1" dirty="0">
                <a:solidFill>
                  <a:srgbClr val="6666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Google Shape;1237;p96" descr="ChatGPT Logo and symbol, meaning, history, PNG, brand">
              <a:extLst>
                <a:ext uri="{FF2B5EF4-FFF2-40B4-BE49-F238E27FC236}">
                  <a16:creationId xmlns:a16="http://schemas.microsoft.com/office/drawing/2014/main" id="{A70E1CD3-FCA4-77D4-7786-2694B071DCF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7375377" y="4318313"/>
              <a:ext cx="256224" cy="2475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9C1B23-E9CC-439F-B6BE-C29CE9DAD2F2}"/>
              </a:ext>
            </a:extLst>
          </p:cNvPr>
          <p:cNvGrpSpPr/>
          <p:nvPr/>
        </p:nvGrpSpPr>
        <p:grpSpPr>
          <a:xfrm>
            <a:off x="5423034" y="2723642"/>
            <a:ext cx="1396664" cy="958145"/>
            <a:chOff x="6011919" y="2233342"/>
            <a:chExt cx="1732025" cy="9581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647F261-3736-CCD7-B4BA-1437C4778D2E}"/>
                </a:ext>
              </a:extLst>
            </p:cNvPr>
            <p:cNvGrpSpPr/>
            <p:nvPr/>
          </p:nvGrpSpPr>
          <p:grpSpPr>
            <a:xfrm>
              <a:off x="6011919" y="2233342"/>
              <a:ext cx="1725967" cy="627895"/>
              <a:chOff x="3203732" y="2187585"/>
              <a:chExt cx="1725967" cy="627895"/>
            </a:xfrm>
          </p:grpSpPr>
          <p:sp>
            <p:nvSpPr>
              <p:cNvPr id="16" name="Google Shape;1098;p91">
                <a:extLst>
                  <a:ext uri="{FF2B5EF4-FFF2-40B4-BE49-F238E27FC236}">
                    <a16:creationId xmlns:a16="http://schemas.microsoft.com/office/drawing/2014/main" id="{014443C0-4635-985A-2CE7-4AB2A5FE9CE6}"/>
                  </a:ext>
                </a:extLst>
              </p:cNvPr>
              <p:cNvSpPr/>
              <p:nvPr/>
            </p:nvSpPr>
            <p:spPr>
              <a:xfrm>
                <a:off x="3208572" y="2187585"/>
                <a:ext cx="1721127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Reminiscence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Google Shape;1100;p91">
                <a:extLst>
                  <a:ext uri="{FF2B5EF4-FFF2-40B4-BE49-F238E27FC236}">
                    <a16:creationId xmlns:a16="http://schemas.microsoft.com/office/drawing/2014/main" id="{F335EAB2-E345-8534-1686-E6067F3B813E}"/>
                  </a:ext>
                </a:extLst>
              </p:cNvPr>
              <p:cNvSpPr/>
              <p:nvPr/>
            </p:nvSpPr>
            <p:spPr>
              <a:xfrm>
                <a:off x="3203732" y="2513384"/>
                <a:ext cx="1721127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Engagement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Google Shape;1100;p91">
              <a:extLst>
                <a:ext uri="{FF2B5EF4-FFF2-40B4-BE49-F238E27FC236}">
                  <a16:creationId xmlns:a16="http://schemas.microsoft.com/office/drawing/2014/main" id="{92619FBC-FF76-DA7E-272F-FF2CE40D7EF4}"/>
                </a:ext>
              </a:extLst>
            </p:cNvPr>
            <p:cNvSpPr/>
            <p:nvPr/>
          </p:nvSpPr>
          <p:spPr>
            <a:xfrm>
              <a:off x="6022817" y="2889391"/>
              <a:ext cx="1721127" cy="302096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Vocabulary</a:t>
              </a:r>
              <a:endParaRPr sz="11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28F8DBF-A24C-E650-9E95-079CAAB4E0EF}"/>
              </a:ext>
            </a:extLst>
          </p:cNvPr>
          <p:cNvSpPr txBox="1"/>
          <p:nvPr/>
        </p:nvSpPr>
        <p:spPr>
          <a:xfrm>
            <a:off x="5899817" y="2432446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67FD579-3483-E644-DD92-7C1EE42DACC5}"/>
              </a:ext>
            </a:extLst>
          </p:cNvPr>
          <p:cNvSpPr/>
          <p:nvPr/>
        </p:nvSpPr>
        <p:spPr>
          <a:xfrm>
            <a:off x="462500" y="1710778"/>
            <a:ext cx="2425989" cy="2880742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Google Shape;1227;p96">
            <a:extLst>
              <a:ext uri="{FF2B5EF4-FFF2-40B4-BE49-F238E27FC236}">
                <a16:creationId xmlns:a16="http://schemas.microsoft.com/office/drawing/2014/main" id="{A77FB564-77BC-5D22-93E2-16958643599D}"/>
              </a:ext>
            </a:extLst>
          </p:cNvPr>
          <p:cNvSpPr/>
          <p:nvPr/>
        </p:nvSpPr>
        <p:spPr>
          <a:xfrm>
            <a:off x="1871788" y="3178085"/>
            <a:ext cx="774496" cy="1000737"/>
          </a:xfrm>
          <a:prstGeom prst="leftUpArrow">
            <a:avLst>
              <a:gd name="adj1" fmla="val 18061"/>
              <a:gd name="adj2" fmla="val 16462"/>
              <a:gd name="adj3" fmla="val 177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Google Shape;1228;p96">
            <a:extLst>
              <a:ext uri="{FF2B5EF4-FFF2-40B4-BE49-F238E27FC236}">
                <a16:creationId xmlns:a16="http://schemas.microsoft.com/office/drawing/2014/main" id="{20749A7F-BB12-C880-6932-B5CACB72F7FA}"/>
              </a:ext>
            </a:extLst>
          </p:cNvPr>
          <p:cNvSpPr/>
          <p:nvPr/>
        </p:nvSpPr>
        <p:spPr>
          <a:xfrm>
            <a:off x="2507665" y="3830550"/>
            <a:ext cx="691810" cy="407210"/>
          </a:xfrm>
          <a:prstGeom prst="rightArrow">
            <a:avLst>
              <a:gd name="adj1" fmla="val 69303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oogle Shape;1229;p96">
            <a:extLst>
              <a:ext uri="{FF2B5EF4-FFF2-40B4-BE49-F238E27FC236}">
                <a16:creationId xmlns:a16="http://schemas.microsoft.com/office/drawing/2014/main" id="{EED1EDE3-1FEE-B9DE-3B37-36E60971A24D}"/>
              </a:ext>
            </a:extLst>
          </p:cNvPr>
          <p:cNvGrpSpPr/>
          <p:nvPr/>
        </p:nvGrpSpPr>
        <p:grpSpPr>
          <a:xfrm>
            <a:off x="495498" y="3572334"/>
            <a:ext cx="1396851" cy="923642"/>
            <a:chOff x="7769808" y="3346425"/>
            <a:chExt cx="1302117" cy="861001"/>
          </a:xfrm>
        </p:grpSpPr>
        <p:sp>
          <p:nvSpPr>
            <p:cNvPr id="27" name="Google Shape;1230;p96">
              <a:extLst>
                <a:ext uri="{FF2B5EF4-FFF2-40B4-BE49-F238E27FC236}">
                  <a16:creationId xmlns:a16="http://schemas.microsoft.com/office/drawing/2014/main" id="{B9A7A153-0CC2-7900-7B20-D8429E0219E6}"/>
                </a:ext>
              </a:extLst>
            </p:cNvPr>
            <p:cNvSpPr/>
            <p:nvPr/>
          </p:nvSpPr>
          <p:spPr>
            <a:xfrm>
              <a:off x="7821416" y="3346425"/>
              <a:ext cx="1250509" cy="861001"/>
            </a:xfrm>
            <a:prstGeom prst="roundRect">
              <a:avLst>
                <a:gd name="adj" fmla="val 13347"/>
              </a:avLst>
            </a:prstGeom>
            <a:solidFill>
              <a:srgbClr val="EFEFE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" name="Google Shape;1231;p96" descr="Elder Icon #60510 - Free Icons Library">
              <a:extLst>
                <a:ext uri="{FF2B5EF4-FFF2-40B4-BE49-F238E27FC236}">
                  <a16:creationId xmlns:a16="http://schemas.microsoft.com/office/drawing/2014/main" id="{C448B5A9-C4BB-B3BF-76EC-4012563768D5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6258" t="15380" r="26700" b="15862"/>
            <a:stretch/>
          </p:blipFill>
          <p:spPr>
            <a:xfrm flipH="1">
              <a:off x="8472450" y="3474701"/>
              <a:ext cx="410400" cy="599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1232;p96">
              <a:extLst>
                <a:ext uri="{FF2B5EF4-FFF2-40B4-BE49-F238E27FC236}">
                  <a16:creationId xmlns:a16="http://schemas.microsoft.com/office/drawing/2014/main" id="{DAAC4561-5FFA-DFF5-AD2A-6BCBD72536DA}"/>
                </a:ext>
              </a:extLst>
            </p:cNvPr>
            <p:cNvSpPr txBox="1"/>
            <p:nvPr/>
          </p:nvSpPr>
          <p:spPr>
            <a:xfrm>
              <a:off x="7769808" y="3409685"/>
              <a:ext cx="780600" cy="745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MCI/NC Older Users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15302EE-0C29-F194-FF01-C1711C2AC3FE}"/>
              </a:ext>
            </a:extLst>
          </p:cNvPr>
          <p:cNvSpPr txBox="1"/>
          <p:nvPr/>
        </p:nvSpPr>
        <p:spPr>
          <a:xfrm>
            <a:off x="749420" y="1418998"/>
            <a:ext cx="18801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I-CONECT Clinical Trial</a:t>
            </a:r>
          </a:p>
        </p:txBody>
      </p:sp>
      <p:sp>
        <p:nvSpPr>
          <p:cNvPr id="31" name="Google Shape;1221;p96">
            <a:extLst>
              <a:ext uri="{FF2B5EF4-FFF2-40B4-BE49-F238E27FC236}">
                <a16:creationId xmlns:a16="http://schemas.microsoft.com/office/drawing/2014/main" id="{7B90F5BB-58C7-2F3D-4FB7-C5C1CDB53667}"/>
              </a:ext>
            </a:extLst>
          </p:cNvPr>
          <p:cNvSpPr/>
          <p:nvPr/>
        </p:nvSpPr>
        <p:spPr>
          <a:xfrm>
            <a:off x="1615826" y="2584847"/>
            <a:ext cx="1237429" cy="649029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Trained Interviewers</a:t>
            </a:r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2B849954-3814-E302-4591-B585A5183EDE}"/>
              </a:ext>
            </a:extLst>
          </p:cNvPr>
          <p:cNvSpPr/>
          <p:nvPr/>
        </p:nvSpPr>
        <p:spPr>
          <a:xfrm rot="5400000">
            <a:off x="1746339" y="1838232"/>
            <a:ext cx="437432" cy="1026236"/>
          </a:xfrm>
          <a:prstGeom prst="bentArrow">
            <a:avLst>
              <a:gd name="adj1" fmla="val 71263"/>
              <a:gd name="adj2" fmla="val 50000"/>
              <a:gd name="adj3" fmla="val 22589"/>
              <a:gd name="adj4" fmla="val 63034"/>
            </a:avLst>
          </a:prstGeom>
          <a:gradFill flip="none" rotWithShape="1">
            <a:gsLst>
              <a:gs pos="78000">
                <a:srgbClr val="BBCFAD"/>
              </a:gs>
              <a:gs pos="0">
                <a:srgbClr val="CCCCCC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Google Shape;1241;p96">
            <a:extLst>
              <a:ext uri="{FF2B5EF4-FFF2-40B4-BE49-F238E27FC236}">
                <a16:creationId xmlns:a16="http://schemas.microsoft.com/office/drawing/2014/main" id="{0F859FB1-12B4-AADA-D691-3B9F4DB9A976}"/>
              </a:ext>
            </a:extLst>
          </p:cNvPr>
          <p:cNvGrpSpPr/>
          <p:nvPr/>
        </p:nvGrpSpPr>
        <p:grpSpPr>
          <a:xfrm>
            <a:off x="2185562" y="3756980"/>
            <a:ext cx="555280" cy="554351"/>
            <a:chOff x="7540309" y="2735044"/>
            <a:chExt cx="517622" cy="516756"/>
          </a:xfrm>
        </p:grpSpPr>
        <p:sp>
          <p:nvSpPr>
            <p:cNvPr id="34" name="Google Shape;1242;p96">
              <a:extLst>
                <a:ext uri="{FF2B5EF4-FFF2-40B4-BE49-F238E27FC236}">
                  <a16:creationId xmlns:a16="http://schemas.microsoft.com/office/drawing/2014/main" id="{7D10A4E0-E863-F1FD-7D63-B0095D4609A9}"/>
                </a:ext>
              </a:extLst>
            </p:cNvPr>
            <p:cNvSpPr/>
            <p:nvPr/>
          </p:nvSpPr>
          <p:spPr>
            <a:xfrm>
              <a:off x="7540309" y="2735044"/>
              <a:ext cx="517622" cy="516756"/>
            </a:xfrm>
            <a:prstGeom prst="roundRect">
              <a:avLst>
                <a:gd name="adj" fmla="val 24855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" name="Google Shape;1243;p96" descr="59,432 Conversation Icons - Free in SVG, PNG, ICO - IconScout">
              <a:extLst>
                <a:ext uri="{FF2B5EF4-FFF2-40B4-BE49-F238E27FC236}">
                  <a16:creationId xmlns:a16="http://schemas.microsoft.com/office/drawing/2014/main" id="{FB170F82-8388-D1A4-E033-B2D8448BE947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35963" y="2844651"/>
              <a:ext cx="331500" cy="33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" name="Google Shape;1222;p96">
            <a:extLst>
              <a:ext uri="{FF2B5EF4-FFF2-40B4-BE49-F238E27FC236}">
                <a16:creationId xmlns:a16="http://schemas.microsoft.com/office/drawing/2014/main" id="{FBBC4E04-C105-7F50-3853-9530D9A96701}"/>
              </a:ext>
            </a:extLst>
          </p:cNvPr>
          <p:cNvGrpSpPr/>
          <p:nvPr/>
        </p:nvGrpSpPr>
        <p:grpSpPr>
          <a:xfrm>
            <a:off x="7070039" y="1918379"/>
            <a:ext cx="1351175" cy="745958"/>
            <a:chOff x="2555051" y="1573606"/>
            <a:chExt cx="1259540" cy="695367"/>
          </a:xfrm>
        </p:grpSpPr>
        <p:sp>
          <p:nvSpPr>
            <p:cNvPr id="41" name="Google Shape;1223;p96">
              <a:extLst>
                <a:ext uri="{FF2B5EF4-FFF2-40B4-BE49-F238E27FC236}">
                  <a16:creationId xmlns:a16="http://schemas.microsoft.com/office/drawing/2014/main" id="{7D352991-2BB4-9CFD-09C5-037B81F423DC}"/>
                </a:ext>
              </a:extLst>
            </p:cNvPr>
            <p:cNvSpPr/>
            <p:nvPr/>
          </p:nvSpPr>
          <p:spPr>
            <a:xfrm>
              <a:off x="2555051" y="1573606"/>
              <a:ext cx="1150216" cy="695367"/>
            </a:xfrm>
            <a:prstGeom prst="roundRect">
              <a:avLst>
                <a:gd name="adj" fmla="val 1334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Google Shape;1224;p96">
              <a:extLst>
                <a:ext uri="{FF2B5EF4-FFF2-40B4-BE49-F238E27FC236}">
                  <a16:creationId xmlns:a16="http://schemas.microsoft.com/office/drawing/2014/main" id="{D4139824-4B2A-E92C-01A5-E5D54176C331}"/>
                </a:ext>
              </a:extLst>
            </p:cNvPr>
            <p:cNvSpPr txBox="1"/>
            <p:nvPr/>
          </p:nvSpPr>
          <p:spPr>
            <a:xfrm>
              <a:off x="3008978" y="1630071"/>
              <a:ext cx="805613" cy="573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Trained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LLM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3" name="Google Shape;1225;p96" descr="ChatGPT Logo and symbol, meaning, history, PNG, brand">
              <a:extLst>
                <a:ext uri="{FF2B5EF4-FFF2-40B4-BE49-F238E27FC236}">
                  <a16:creationId xmlns:a16="http://schemas.microsoft.com/office/drawing/2014/main" id="{15B3DFE3-199E-CD25-ED25-5B9F7006104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2631350" y="1684312"/>
              <a:ext cx="486950" cy="470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C92FBDB-EBF6-4966-BAC3-691EDBB27F43}"/>
              </a:ext>
            </a:extLst>
          </p:cNvPr>
          <p:cNvSpPr/>
          <p:nvPr/>
        </p:nvSpPr>
        <p:spPr>
          <a:xfrm>
            <a:off x="8515178" y="3601298"/>
            <a:ext cx="1086107" cy="819543"/>
          </a:xfrm>
          <a:prstGeom prst="roundRect">
            <a:avLst>
              <a:gd name="adj" fmla="val 9249"/>
            </a:avLst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Google Shape;1223;p96">
            <a:extLst>
              <a:ext uri="{FF2B5EF4-FFF2-40B4-BE49-F238E27FC236}">
                <a16:creationId xmlns:a16="http://schemas.microsoft.com/office/drawing/2014/main" id="{202BBD5D-7E48-29EF-82A8-2DA2252DABAC}"/>
              </a:ext>
            </a:extLst>
          </p:cNvPr>
          <p:cNvSpPr/>
          <p:nvPr/>
        </p:nvSpPr>
        <p:spPr>
          <a:xfrm>
            <a:off x="7087932" y="3609977"/>
            <a:ext cx="1233898" cy="745958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Voice Interface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6843A1-68A5-ABC1-4DFD-0F13022398CA}"/>
              </a:ext>
            </a:extLst>
          </p:cNvPr>
          <p:cNvSpPr txBox="1"/>
          <p:nvPr/>
        </p:nvSpPr>
        <p:spPr>
          <a:xfrm>
            <a:off x="7270093" y="5193952"/>
            <a:ext cx="2302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(4) Device and Interface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2966361-3F88-F282-2913-E192649A070A}"/>
              </a:ext>
            </a:extLst>
          </p:cNvPr>
          <p:cNvSpPr/>
          <p:nvPr/>
        </p:nvSpPr>
        <p:spPr>
          <a:xfrm>
            <a:off x="4314182" y="1732506"/>
            <a:ext cx="2579879" cy="2620893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9670B7-7FBE-DA67-12B8-CF31CA42A662}"/>
              </a:ext>
            </a:extLst>
          </p:cNvPr>
          <p:cNvSpPr txBox="1"/>
          <p:nvPr/>
        </p:nvSpPr>
        <p:spPr>
          <a:xfrm>
            <a:off x="4181903" y="1410126"/>
            <a:ext cx="3237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(1) Optimizing AI for Protocol Compliance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BE52F2A-09FE-C7A1-9760-9DB9600FE6B6}"/>
              </a:ext>
            </a:extLst>
          </p:cNvPr>
          <p:cNvSpPr/>
          <p:nvPr/>
        </p:nvSpPr>
        <p:spPr>
          <a:xfrm>
            <a:off x="3084467" y="3469493"/>
            <a:ext cx="2528325" cy="1122027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8229B5-0C6B-0A93-FD13-26EE569BD676}"/>
              </a:ext>
            </a:extLst>
          </p:cNvPr>
          <p:cNvSpPr txBox="1"/>
          <p:nvPr/>
        </p:nvSpPr>
        <p:spPr>
          <a:xfrm>
            <a:off x="3184360" y="4643892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(2) Simulate Human Conversation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F1DA5014-5E06-5E58-E59B-C5DA7E9B8BAF}"/>
              </a:ext>
            </a:extLst>
          </p:cNvPr>
          <p:cNvSpPr/>
          <p:nvPr/>
        </p:nvSpPr>
        <p:spPr>
          <a:xfrm>
            <a:off x="6978798" y="3539713"/>
            <a:ext cx="2724394" cy="1647628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Google Shape;1223;p96">
            <a:extLst>
              <a:ext uri="{FF2B5EF4-FFF2-40B4-BE49-F238E27FC236}">
                <a16:creationId xmlns:a16="http://schemas.microsoft.com/office/drawing/2014/main" id="{80C2CD12-A614-19F9-CD9A-DEE074F02FFB}"/>
              </a:ext>
            </a:extLst>
          </p:cNvPr>
          <p:cNvSpPr/>
          <p:nvPr/>
        </p:nvSpPr>
        <p:spPr>
          <a:xfrm>
            <a:off x="7103288" y="4377730"/>
            <a:ext cx="1233898" cy="745958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Emotion Responsive Robot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07615C0-A9C4-7CAC-0099-70A5A6A3104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41313" y="4248391"/>
            <a:ext cx="630087" cy="82511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C8320E5B-7E1C-2064-2D19-89DB84385F23}"/>
              </a:ext>
            </a:extLst>
          </p:cNvPr>
          <p:cNvSpPr txBox="1"/>
          <p:nvPr/>
        </p:nvSpPr>
        <p:spPr>
          <a:xfrm>
            <a:off x="3293753" y="2128185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Instruct</a:t>
            </a:r>
          </a:p>
        </p:txBody>
      </p:sp>
      <p:grpSp>
        <p:nvGrpSpPr>
          <p:cNvPr id="6" name="Google Shape;1229;p96">
            <a:extLst>
              <a:ext uri="{FF2B5EF4-FFF2-40B4-BE49-F238E27FC236}">
                <a16:creationId xmlns:a16="http://schemas.microsoft.com/office/drawing/2014/main" id="{D9D5BFDD-1A9E-655A-30DC-813CA204A2DE}"/>
              </a:ext>
            </a:extLst>
          </p:cNvPr>
          <p:cNvGrpSpPr/>
          <p:nvPr/>
        </p:nvGrpSpPr>
        <p:grpSpPr>
          <a:xfrm>
            <a:off x="10277469" y="3533722"/>
            <a:ext cx="1721126" cy="923642"/>
            <a:chOff x="7467525" y="3346425"/>
            <a:chExt cx="1604400" cy="861001"/>
          </a:xfrm>
        </p:grpSpPr>
        <p:sp>
          <p:nvSpPr>
            <p:cNvPr id="37" name="Google Shape;1230;p96">
              <a:extLst>
                <a:ext uri="{FF2B5EF4-FFF2-40B4-BE49-F238E27FC236}">
                  <a16:creationId xmlns:a16="http://schemas.microsoft.com/office/drawing/2014/main" id="{47B6AD43-793B-65E0-5F07-3FB0AEEE9711}"/>
                </a:ext>
              </a:extLst>
            </p:cNvPr>
            <p:cNvSpPr/>
            <p:nvPr/>
          </p:nvSpPr>
          <p:spPr>
            <a:xfrm>
              <a:off x="7467525" y="3346425"/>
              <a:ext cx="1604400" cy="861001"/>
            </a:xfrm>
            <a:prstGeom prst="roundRect">
              <a:avLst>
                <a:gd name="adj" fmla="val 13347"/>
              </a:avLst>
            </a:prstGeom>
            <a:solidFill>
              <a:srgbClr val="EFEFE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9" name="Google Shape;1231;p96" descr="Elder Icon #60510 - Free Icons Library">
              <a:extLst>
                <a:ext uri="{FF2B5EF4-FFF2-40B4-BE49-F238E27FC236}">
                  <a16:creationId xmlns:a16="http://schemas.microsoft.com/office/drawing/2014/main" id="{70428B71-C453-46EC-D9F2-DE6225A34F3F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26258" t="15380" r="26700" b="15862"/>
            <a:stretch/>
          </p:blipFill>
          <p:spPr>
            <a:xfrm flipH="1">
              <a:off x="8472450" y="3474701"/>
              <a:ext cx="410400" cy="599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1232;p96">
              <a:extLst>
                <a:ext uri="{FF2B5EF4-FFF2-40B4-BE49-F238E27FC236}">
                  <a16:creationId xmlns:a16="http://schemas.microsoft.com/office/drawing/2014/main" id="{9A024B2A-72ED-779C-71E0-964ED331C61C}"/>
                </a:ext>
              </a:extLst>
            </p:cNvPr>
            <p:cNvSpPr txBox="1"/>
            <p:nvPr/>
          </p:nvSpPr>
          <p:spPr>
            <a:xfrm>
              <a:off x="7579607" y="3409685"/>
              <a:ext cx="780600" cy="745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MCI/NC Older Users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1" name="Up-Down Arrow 60">
            <a:extLst>
              <a:ext uri="{FF2B5EF4-FFF2-40B4-BE49-F238E27FC236}">
                <a16:creationId xmlns:a16="http://schemas.microsoft.com/office/drawing/2014/main" id="{625DF769-A9A0-5026-4F3E-8DD93DC49709}"/>
              </a:ext>
            </a:extLst>
          </p:cNvPr>
          <p:cNvSpPr/>
          <p:nvPr/>
        </p:nvSpPr>
        <p:spPr>
          <a:xfrm>
            <a:off x="7556990" y="2663130"/>
            <a:ext cx="432112" cy="87059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6DD64A7-D1A8-544A-E579-4BB4F90B1CD0}"/>
              </a:ext>
            </a:extLst>
          </p:cNvPr>
          <p:cNvGrpSpPr/>
          <p:nvPr/>
        </p:nvGrpSpPr>
        <p:grpSpPr>
          <a:xfrm>
            <a:off x="8393179" y="1813815"/>
            <a:ext cx="1436320" cy="958145"/>
            <a:chOff x="6011919" y="2233342"/>
            <a:chExt cx="1732025" cy="95814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31ED292-D34D-B187-4F66-9418E6BE9E0B}"/>
                </a:ext>
              </a:extLst>
            </p:cNvPr>
            <p:cNvGrpSpPr/>
            <p:nvPr/>
          </p:nvGrpSpPr>
          <p:grpSpPr>
            <a:xfrm>
              <a:off x="6011919" y="2233342"/>
              <a:ext cx="1725967" cy="627895"/>
              <a:chOff x="3203732" y="2187585"/>
              <a:chExt cx="1725967" cy="627895"/>
            </a:xfrm>
          </p:grpSpPr>
          <p:sp>
            <p:nvSpPr>
              <p:cNvPr id="69" name="Google Shape;1098;p91">
                <a:extLst>
                  <a:ext uri="{FF2B5EF4-FFF2-40B4-BE49-F238E27FC236}">
                    <a16:creationId xmlns:a16="http://schemas.microsoft.com/office/drawing/2014/main" id="{86DCE8BC-4597-F17B-85CD-4CD04BA5EF77}"/>
                  </a:ext>
                </a:extLst>
              </p:cNvPr>
              <p:cNvSpPr/>
              <p:nvPr/>
            </p:nvSpPr>
            <p:spPr>
              <a:xfrm>
                <a:off x="3208572" y="2187585"/>
                <a:ext cx="1721127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Low</a:t>
                </a:r>
                <a:r>
                  <a:rPr lang="zh-CN" altLang="en-US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Emotion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Google Shape;1100;p91">
                <a:extLst>
                  <a:ext uri="{FF2B5EF4-FFF2-40B4-BE49-F238E27FC236}">
                    <a16:creationId xmlns:a16="http://schemas.microsoft.com/office/drawing/2014/main" id="{6A5669A1-B5EC-3E02-2742-956575A63FCB}"/>
                  </a:ext>
                </a:extLst>
              </p:cNvPr>
              <p:cNvSpPr/>
              <p:nvPr/>
            </p:nvSpPr>
            <p:spPr>
              <a:xfrm>
                <a:off x="3203732" y="2513384"/>
                <a:ext cx="1721127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Suicidal</a:t>
                </a:r>
                <a:r>
                  <a:rPr lang="zh-CN" altLang="en-US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Tendence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8" name="Google Shape;1100;p91">
              <a:extLst>
                <a:ext uri="{FF2B5EF4-FFF2-40B4-BE49-F238E27FC236}">
                  <a16:creationId xmlns:a16="http://schemas.microsoft.com/office/drawing/2014/main" id="{6F95E37E-413B-ED6D-7A5A-C6F10F605E06}"/>
                </a:ext>
              </a:extLst>
            </p:cNvPr>
            <p:cNvSpPr/>
            <p:nvPr/>
          </p:nvSpPr>
          <p:spPr>
            <a:xfrm>
              <a:off x="6022817" y="2889391"/>
              <a:ext cx="1721127" cy="302096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zh-CN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Harmful</a:t>
              </a:r>
              <a:r>
                <a:rPr lang="zh-CN" altLang="en-US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100" i="1" dirty="0"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  <a:endParaRPr sz="11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4" name="Google Shape;1223;p96">
            <a:extLst>
              <a:ext uri="{FF2B5EF4-FFF2-40B4-BE49-F238E27FC236}">
                <a16:creationId xmlns:a16="http://schemas.microsoft.com/office/drawing/2014/main" id="{819680E9-6122-CBB9-C38C-77E8CBBF0F49}"/>
              </a:ext>
            </a:extLst>
          </p:cNvPr>
          <p:cNvSpPr/>
          <p:nvPr/>
        </p:nvSpPr>
        <p:spPr>
          <a:xfrm>
            <a:off x="6978798" y="2967736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Monitoring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Google Shape;1221;p96">
            <a:extLst>
              <a:ext uri="{FF2B5EF4-FFF2-40B4-BE49-F238E27FC236}">
                <a16:creationId xmlns:a16="http://schemas.microsoft.com/office/drawing/2014/main" id="{9C672E13-343D-9E03-A040-E7AFEDCD0D59}"/>
              </a:ext>
            </a:extLst>
          </p:cNvPr>
          <p:cNvSpPr/>
          <p:nvPr/>
        </p:nvSpPr>
        <p:spPr>
          <a:xfrm>
            <a:off x="10712215" y="1949125"/>
            <a:ext cx="1044417" cy="649029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</a:t>
            </a:r>
            <a:r>
              <a:rPr lang="zh-CN" alt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Up-Down Arrow 75">
            <a:extLst>
              <a:ext uri="{FF2B5EF4-FFF2-40B4-BE49-F238E27FC236}">
                <a16:creationId xmlns:a16="http://schemas.microsoft.com/office/drawing/2014/main" id="{6662DE25-9082-EB4A-AAA3-7454A9538547}"/>
              </a:ext>
            </a:extLst>
          </p:cNvPr>
          <p:cNvSpPr/>
          <p:nvPr/>
        </p:nvSpPr>
        <p:spPr>
          <a:xfrm rot="5400000">
            <a:off x="9929671" y="3633288"/>
            <a:ext cx="432112" cy="87059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Google Shape;1223;p96">
            <a:extLst>
              <a:ext uri="{FF2B5EF4-FFF2-40B4-BE49-F238E27FC236}">
                <a16:creationId xmlns:a16="http://schemas.microsoft.com/office/drawing/2014/main" id="{FD14863A-77A0-ACA2-C13C-9DA153251FE2}"/>
              </a:ext>
            </a:extLst>
          </p:cNvPr>
          <p:cNvSpPr/>
          <p:nvPr/>
        </p:nvSpPr>
        <p:spPr>
          <a:xfrm>
            <a:off x="10208679" y="2953355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Check-in</a:t>
            </a:r>
            <a:r>
              <a:rPr lang="zh-CN" alt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Google Shape;1223;p96">
            <a:extLst>
              <a:ext uri="{FF2B5EF4-FFF2-40B4-BE49-F238E27FC236}">
                <a16:creationId xmlns:a16="http://schemas.microsoft.com/office/drawing/2014/main" id="{E6E6D795-8150-039F-0DD1-3E50E6B4395E}"/>
              </a:ext>
            </a:extLst>
          </p:cNvPr>
          <p:cNvSpPr/>
          <p:nvPr/>
        </p:nvSpPr>
        <p:spPr>
          <a:xfrm>
            <a:off x="10139890" y="5014617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Final</a:t>
            </a:r>
            <a:r>
              <a:rPr lang="zh-CN" alt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Google Shape;1223;p96">
            <a:extLst>
              <a:ext uri="{FF2B5EF4-FFF2-40B4-BE49-F238E27FC236}">
                <a16:creationId xmlns:a16="http://schemas.microsoft.com/office/drawing/2014/main" id="{6F5258AD-46D4-7F79-7BB6-1E66F9EDB725}"/>
              </a:ext>
            </a:extLst>
          </p:cNvPr>
          <p:cNvSpPr/>
          <p:nvPr/>
        </p:nvSpPr>
        <p:spPr>
          <a:xfrm>
            <a:off x="10127787" y="5354690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Adherence</a:t>
            </a:r>
            <a:r>
              <a:rPr lang="zh-CN" alt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Down Arrow 80">
            <a:extLst>
              <a:ext uri="{FF2B5EF4-FFF2-40B4-BE49-F238E27FC236}">
                <a16:creationId xmlns:a16="http://schemas.microsoft.com/office/drawing/2014/main" id="{321E483C-9DBF-0502-B7CF-F6240BFC5918}"/>
              </a:ext>
            </a:extLst>
          </p:cNvPr>
          <p:cNvSpPr/>
          <p:nvPr/>
        </p:nvSpPr>
        <p:spPr>
          <a:xfrm>
            <a:off x="10886276" y="4591520"/>
            <a:ext cx="436501" cy="5958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oogle Shape;1241;p96">
            <a:extLst>
              <a:ext uri="{FF2B5EF4-FFF2-40B4-BE49-F238E27FC236}">
                <a16:creationId xmlns:a16="http://schemas.microsoft.com/office/drawing/2014/main" id="{900427A9-531B-7661-946C-D586DEA546E8}"/>
              </a:ext>
            </a:extLst>
          </p:cNvPr>
          <p:cNvGrpSpPr/>
          <p:nvPr/>
        </p:nvGrpSpPr>
        <p:grpSpPr>
          <a:xfrm>
            <a:off x="9921484" y="3775193"/>
            <a:ext cx="555280" cy="554351"/>
            <a:chOff x="7540309" y="2735044"/>
            <a:chExt cx="517622" cy="516756"/>
          </a:xfrm>
        </p:grpSpPr>
        <p:sp>
          <p:nvSpPr>
            <p:cNvPr id="83" name="Google Shape;1242;p96">
              <a:extLst>
                <a:ext uri="{FF2B5EF4-FFF2-40B4-BE49-F238E27FC236}">
                  <a16:creationId xmlns:a16="http://schemas.microsoft.com/office/drawing/2014/main" id="{356991D9-DEB7-DBE3-DB62-8CEFA382C33C}"/>
                </a:ext>
              </a:extLst>
            </p:cNvPr>
            <p:cNvSpPr/>
            <p:nvPr/>
          </p:nvSpPr>
          <p:spPr>
            <a:xfrm>
              <a:off x="7540309" y="2735044"/>
              <a:ext cx="517622" cy="516756"/>
            </a:xfrm>
            <a:prstGeom prst="roundRect">
              <a:avLst>
                <a:gd name="adj" fmla="val 24855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4" name="Google Shape;1243;p96" descr="59,432 Conversation Icons - Free in SVG, PNG, ICO - IconScout">
              <a:extLst>
                <a:ext uri="{FF2B5EF4-FFF2-40B4-BE49-F238E27FC236}">
                  <a16:creationId xmlns:a16="http://schemas.microsoft.com/office/drawing/2014/main" id="{AFA1DE5B-BC1D-065A-F3EA-BF676A636E18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35963" y="2844651"/>
              <a:ext cx="331500" cy="33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E27D125E-B064-EEA2-7D5E-6F754EECC4FB}"/>
              </a:ext>
            </a:extLst>
          </p:cNvPr>
          <p:cNvSpPr txBox="1"/>
          <p:nvPr/>
        </p:nvSpPr>
        <p:spPr>
          <a:xfrm>
            <a:off x="8177613" y="1556348"/>
            <a:ext cx="1879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Social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Isolation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7" name="Graphic 86" descr="Radio microphone outline">
            <a:extLst>
              <a:ext uri="{FF2B5EF4-FFF2-40B4-BE49-F238E27FC236}">
                <a16:creationId xmlns:a16="http://schemas.microsoft.com/office/drawing/2014/main" id="{3C87BD34-E826-F401-0BAD-BDF5EFD0A7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9063" y="3786138"/>
            <a:ext cx="410792" cy="410792"/>
          </a:xfrm>
          <a:prstGeom prst="rect">
            <a:avLst/>
          </a:prstGeom>
        </p:spPr>
      </p:pic>
      <p:sp>
        <p:nvSpPr>
          <p:cNvPr id="24" name="Google Shape;1221;p96">
            <a:extLst>
              <a:ext uri="{FF2B5EF4-FFF2-40B4-BE49-F238E27FC236}">
                <a16:creationId xmlns:a16="http://schemas.microsoft.com/office/drawing/2014/main" id="{DE31FDFB-0160-7061-C6D8-AAE1810D7FA6}"/>
              </a:ext>
            </a:extLst>
          </p:cNvPr>
          <p:cNvSpPr/>
          <p:nvPr/>
        </p:nvSpPr>
        <p:spPr>
          <a:xfrm>
            <a:off x="541818" y="1813815"/>
            <a:ext cx="1059399" cy="1036602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00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Protocol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64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3825C-EFCE-3D77-CC6F-305425214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3FEA3C6A-A8E8-49AD-509A-1E1AADEB82BD}"/>
              </a:ext>
            </a:extLst>
          </p:cNvPr>
          <p:cNvGrpSpPr/>
          <p:nvPr/>
        </p:nvGrpSpPr>
        <p:grpSpPr>
          <a:xfrm>
            <a:off x="190447" y="1463025"/>
            <a:ext cx="11641466" cy="3575024"/>
            <a:chOff x="190447" y="1463025"/>
            <a:chExt cx="11641466" cy="3575024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B394AA1B-AE45-39F0-D3E1-3ACEE40ED3B6}"/>
                </a:ext>
              </a:extLst>
            </p:cNvPr>
            <p:cNvSpPr/>
            <p:nvPr/>
          </p:nvSpPr>
          <p:spPr>
            <a:xfrm>
              <a:off x="4042129" y="1785405"/>
              <a:ext cx="2579879" cy="2620893"/>
            </a:xfrm>
            <a:prstGeom prst="roundRect">
              <a:avLst>
                <a:gd name="adj" fmla="val 7032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Up-Down Arrow 79">
              <a:extLst>
                <a:ext uri="{FF2B5EF4-FFF2-40B4-BE49-F238E27FC236}">
                  <a16:creationId xmlns:a16="http://schemas.microsoft.com/office/drawing/2014/main" id="{ED8A0314-BDEF-C966-D7C2-73D170C40A06}"/>
                </a:ext>
              </a:extLst>
            </p:cNvPr>
            <p:cNvSpPr/>
            <p:nvPr/>
          </p:nvSpPr>
          <p:spPr>
            <a:xfrm>
              <a:off x="10823723" y="2225259"/>
              <a:ext cx="261227" cy="823588"/>
            </a:xfrm>
            <a:prstGeom prst="upDownArrow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Google Shape;1220;p96">
              <a:extLst>
                <a:ext uri="{FF2B5EF4-FFF2-40B4-BE49-F238E27FC236}">
                  <a16:creationId xmlns:a16="http://schemas.microsoft.com/office/drawing/2014/main" id="{8378168F-F2C4-6614-D51A-01734BC4E2E1}"/>
                </a:ext>
              </a:extLst>
            </p:cNvPr>
            <p:cNvSpPr/>
            <p:nvPr/>
          </p:nvSpPr>
          <p:spPr>
            <a:xfrm>
              <a:off x="8696323" y="1723018"/>
              <a:ext cx="1157381" cy="627561"/>
            </a:xfrm>
            <a:prstGeom prst="rightArrow">
              <a:avLst>
                <a:gd name="adj1" fmla="val 50000"/>
                <a:gd name="adj2" fmla="val 56179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Alert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Google Shape;1227;p96">
              <a:extLst>
                <a:ext uri="{FF2B5EF4-FFF2-40B4-BE49-F238E27FC236}">
                  <a16:creationId xmlns:a16="http://schemas.microsoft.com/office/drawing/2014/main" id="{38AEFD18-D3AD-BD41-8893-7A12BAF52009}"/>
                </a:ext>
              </a:extLst>
            </p:cNvPr>
            <p:cNvSpPr/>
            <p:nvPr/>
          </p:nvSpPr>
          <p:spPr>
            <a:xfrm>
              <a:off x="4857126" y="2714515"/>
              <a:ext cx="1246006" cy="1529949"/>
            </a:xfrm>
            <a:prstGeom prst="leftUpArrow">
              <a:avLst>
                <a:gd name="adj1" fmla="val 9893"/>
                <a:gd name="adj2" fmla="val 10336"/>
                <a:gd name="adj3" fmla="val 11641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Google Shape;1227;p96">
              <a:extLst>
                <a:ext uri="{FF2B5EF4-FFF2-40B4-BE49-F238E27FC236}">
                  <a16:creationId xmlns:a16="http://schemas.microsoft.com/office/drawing/2014/main" id="{72C70138-2902-22D3-25A1-28BC7D9C2FC9}"/>
                </a:ext>
              </a:extLst>
            </p:cNvPr>
            <p:cNvSpPr/>
            <p:nvPr/>
          </p:nvSpPr>
          <p:spPr>
            <a:xfrm>
              <a:off x="4417164" y="2687043"/>
              <a:ext cx="630392" cy="1525765"/>
            </a:xfrm>
            <a:prstGeom prst="leftUpArrow">
              <a:avLst>
                <a:gd name="adj1" fmla="val 18061"/>
                <a:gd name="adj2" fmla="val 16462"/>
                <a:gd name="adj3" fmla="val 177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Google Shape;1220;p96">
              <a:extLst>
                <a:ext uri="{FF2B5EF4-FFF2-40B4-BE49-F238E27FC236}">
                  <a16:creationId xmlns:a16="http://schemas.microsoft.com/office/drawing/2014/main" id="{DF551206-CD06-6F45-AEE5-973D95BFE30F}"/>
                </a:ext>
              </a:extLst>
            </p:cNvPr>
            <p:cNvSpPr/>
            <p:nvPr/>
          </p:nvSpPr>
          <p:spPr>
            <a:xfrm>
              <a:off x="856797" y="2022552"/>
              <a:ext cx="3830449" cy="627561"/>
            </a:xfrm>
            <a:prstGeom prst="rightArrow">
              <a:avLst>
                <a:gd name="adj1" fmla="val 50000"/>
                <a:gd name="adj2" fmla="val 56179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" name="Google Shape;1222;p96">
              <a:extLst>
                <a:ext uri="{FF2B5EF4-FFF2-40B4-BE49-F238E27FC236}">
                  <a16:creationId xmlns:a16="http://schemas.microsoft.com/office/drawing/2014/main" id="{97137329-C4AD-071C-1AA9-6A87443288F0}"/>
                </a:ext>
              </a:extLst>
            </p:cNvPr>
            <p:cNvGrpSpPr/>
            <p:nvPr/>
          </p:nvGrpSpPr>
          <p:grpSpPr>
            <a:xfrm>
              <a:off x="4687246" y="1949089"/>
              <a:ext cx="1435315" cy="745958"/>
              <a:chOff x="2555051" y="1573606"/>
              <a:chExt cx="1337974" cy="695367"/>
            </a:xfrm>
          </p:grpSpPr>
          <p:sp>
            <p:nvSpPr>
              <p:cNvPr id="3" name="Google Shape;1223;p96">
                <a:extLst>
                  <a:ext uri="{FF2B5EF4-FFF2-40B4-BE49-F238E27FC236}">
                    <a16:creationId xmlns:a16="http://schemas.microsoft.com/office/drawing/2014/main" id="{8A2582B7-DA70-87F9-2703-1B328C1CCD46}"/>
                  </a:ext>
                </a:extLst>
              </p:cNvPr>
              <p:cNvSpPr/>
              <p:nvPr/>
            </p:nvSpPr>
            <p:spPr>
              <a:xfrm>
                <a:off x="2555051" y="1573606"/>
                <a:ext cx="1337974" cy="695367"/>
              </a:xfrm>
              <a:prstGeom prst="roundRect">
                <a:avLst>
                  <a:gd name="adj" fmla="val 1334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" name="Google Shape;1224;p96">
                <a:extLst>
                  <a:ext uri="{FF2B5EF4-FFF2-40B4-BE49-F238E27FC236}">
                    <a16:creationId xmlns:a16="http://schemas.microsoft.com/office/drawing/2014/main" id="{818B552A-C10C-788D-0B13-8753CD12C220}"/>
                  </a:ext>
                </a:extLst>
              </p:cNvPr>
              <p:cNvSpPr txBox="1"/>
              <p:nvPr/>
            </p:nvSpPr>
            <p:spPr>
              <a:xfrm>
                <a:off x="3102270" y="1723626"/>
                <a:ext cx="599097" cy="401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r>
                  <a:rPr lang="en-US" sz="12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LLM</a:t>
                </a:r>
                <a:endParaRPr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" name="Google Shape;1225;p96" descr="ChatGPT Logo and symbol, meaning, history, PNG, brand">
                <a:extLst>
                  <a:ext uri="{FF2B5EF4-FFF2-40B4-BE49-F238E27FC236}">
                    <a16:creationId xmlns:a16="http://schemas.microsoft.com/office/drawing/2014/main" id="{0703A7B6-CCA4-2BC1-F942-1158D116F7DA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5319" t="5918" r="25265" b="9292"/>
              <a:stretch/>
            </p:blipFill>
            <p:spPr>
              <a:xfrm>
                <a:off x="2631350" y="1684312"/>
                <a:ext cx="486950" cy="4704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" name="Google Shape;1241;p96">
              <a:extLst>
                <a:ext uri="{FF2B5EF4-FFF2-40B4-BE49-F238E27FC236}">
                  <a16:creationId xmlns:a16="http://schemas.microsoft.com/office/drawing/2014/main" id="{33E6394B-EC61-F6DC-D800-C7A442A10459}"/>
                </a:ext>
              </a:extLst>
            </p:cNvPr>
            <p:cNvGrpSpPr/>
            <p:nvPr/>
          </p:nvGrpSpPr>
          <p:grpSpPr>
            <a:xfrm>
              <a:off x="4661148" y="3771267"/>
              <a:ext cx="555280" cy="554351"/>
              <a:chOff x="7540309" y="2735044"/>
              <a:chExt cx="517622" cy="516756"/>
            </a:xfrm>
          </p:grpSpPr>
          <p:sp>
            <p:nvSpPr>
              <p:cNvPr id="8" name="Google Shape;1242;p96">
                <a:extLst>
                  <a:ext uri="{FF2B5EF4-FFF2-40B4-BE49-F238E27FC236}">
                    <a16:creationId xmlns:a16="http://schemas.microsoft.com/office/drawing/2014/main" id="{67EDD741-7E97-DFA5-17FA-618C1153074B}"/>
                  </a:ext>
                </a:extLst>
              </p:cNvPr>
              <p:cNvSpPr/>
              <p:nvPr/>
            </p:nvSpPr>
            <p:spPr>
              <a:xfrm>
                <a:off x="7540309" y="2735044"/>
                <a:ext cx="517622" cy="516756"/>
              </a:xfrm>
              <a:prstGeom prst="roundRect">
                <a:avLst>
                  <a:gd name="adj" fmla="val 24855"/>
                </a:avLst>
              </a:prstGeom>
              <a:solidFill>
                <a:srgbClr val="BACAE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2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9" name="Google Shape;1243;p96" descr="59,432 Conversation Icons - Free in SVG, PNG, ICO - IconScout">
                <a:extLst>
                  <a:ext uri="{FF2B5EF4-FFF2-40B4-BE49-F238E27FC236}">
                    <a16:creationId xmlns:a16="http://schemas.microsoft.com/office/drawing/2014/main" id="{033316F1-4F0A-B357-4516-D50966464D22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635963" y="2844651"/>
                <a:ext cx="331500" cy="33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" name="Google Shape;1233;p96">
              <a:extLst>
                <a:ext uri="{FF2B5EF4-FFF2-40B4-BE49-F238E27FC236}">
                  <a16:creationId xmlns:a16="http://schemas.microsoft.com/office/drawing/2014/main" id="{2BD2859C-43B8-AD0A-00FB-1DC101DDFF79}"/>
                </a:ext>
              </a:extLst>
            </p:cNvPr>
            <p:cNvGrpSpPr/>
            <p:nvPr/>
          </p:nvGrpSpPr>
          <p:grpSpPr>
            <a:xfrm>
              <a:off x="2909649" y="3616626"/>
              <a:ext cx="1569361" cy="923641"/>
              <a:chOff x="7334399" y="3809869"/>
              <a:chExt cx="1462928" cy="860999"/>
            </a:xfrm>
          </p:grpSpPr>
          <p:sp>
            <p:nvSpPr>
              <p:cNvPr id="11" name="Google Shape;1234;p96">
                <a:extLst>
                  <a:ext uri="{FF2B5EF4-FFF2-40B4-BE49-F238E27FC236}">
                    <a16:creationId xmlns:a16="http://schemas.microsoft.com/office/drawing/2014/main" id="{A85BFB10-1DCC-C2BC-D6F8-17F7ADF57B34}"/>
                  </a:ext>
                </a:extLst>
              </p:cNvPr>
              <p:cNvSpPr/>
              <p:nvPr/>
            </p:nvSpPr>
            <p:spPr>
              <a:xfrm>
                <a:off x="7334399" y="3809869"/>
                <a:ext cx="1462928" cy="860999"/>
              </a:xfrm>
              <a:prstGeom prst="roundRect">
                <a:avLst>
                  <a:gd name="adj" fmla="val 13347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Google Shape;1235;p96" descr="Elder Icon #60510 - Free Icons Library">
                <a:extLst>
                  <a:ext uri="{FF2B5EF4-FFF2-40B4-BE49-F238E27FC236}">
                    <a16:creationId xmlns:a16="http://schemas.microsoft.com/office/drawing/2014/main" id="{AAAAD285-87EF-A506-2231-DED060F0BF31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44000" contrast="63000"/>
                        </a14:imgEffect>
                      </a14:imgLayer>
                    </a14:imgProps>
                  </a:ext>
                </a:extLst>
              </a:blip>
              <a:srcRect l="26258" t="15380" r="26700" b="15862"/>
              <a:stretch/>
            </p:blipFill>
            <p:spPr>
              <a:xfrm flipH="1">
                <a:off x="8329681" y="3946169"/>
                <a:ext cx="391828" cy="5726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" name="Google Shape;1236;p96">
                <a:extLst>
                  <a:ext uri="{FF2B5EF4-FFF2-40B4-BE49-F238E27FC236}">
                    <a16:creationId xmlns:a16="http://schemas.microsoft.com/office/drawing/2014/main" id="{01C2BC3D-4764-D386-C43F-A60C52562F97}"/>
                  </a:ext>
                </a:extLst>
              </p:cNvPr>
              <p:cNvSpPr txBox="1"/>
              <p:nvPr/>
            </p:nvSpPr>
            <p:spPr>
              <a:xfrm>
                <a:off x="7334400" y="3886275"/>
                <a:ext cx="1115980" cy="7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" sz="1200" b="1" dirty="0">
                    <a:solidFill>
                      <a:schemeClr val="dk1"/>
                    </a:solidFill>
                    <a:latin typeface="Arial" panose="020B0604020202020204" pitchFamily="34" charset="0"/>
                    <a:ea typeface="Courier New"/>
                    <a:cs typeface="Arial" panose="020B0604020202020204" pitchFamily="34" charset="0"/>
                    <a:sym typeface="Courier New"/>
                  </a:rPr>
                  <a:t>Virtual User</a:t>
                </a:r>
                <a:r>
                  <a:rPr lang="en-US" altLang="zh-CN" sz="1200" b="1" dirty="0">
                    <a:solidFill>
                      <a:schemeClr val="dk1"/>
                    </a:solidFill>
                    <a:latin typeface="Arial" panose="020B0604020202020204" pitchFamily="34" charset="0"/>
                    <a:ea typeface="Courier New"/>
                    <a:cs typeface="Arial" panose="020B0604020202020204" pitchFamily="34" charset="0"/>
                    <a:sym typeface="Courier New"/>
                  </a:rPr>
                  <a:t>s</a:t>
                </a:r>
                <a:endParaRPr sz="1200" b="1" dirty="0">
                  <a:solidFill>
                    <a:schemeClr val="dk1"/>
                  </a:solidFill>
                  <a:latin typeface="Arial" panose="020B0604020202020204" pitchFamily="34" charset="0"/>
                  <a:ea typeface="Courier New"/>
                  <a:cs typeface="Arial" panose="020B0604020202020204" pitchFamily="34" charset="0"/>
                  <a:sym typeface="Courier New"/>
                </a:endParaRPr>
              </a:p>
              <a:p>
                <a:pPr algn="ctr"/>
                <a:r>
                  <a:rPr lang="en" sz="1100" i="1" dirty="0">
                    <a:solidFill>
                      <a:srgbClr val="66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Fine-Tuned </a:t>
                </a:r>
                <a:br>
                  <a:rPr lang="en" sz="1100" i="1" dirty="0">
                    <a:solidFill>
                      <a:srgbClr val="66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" sz="1100" i="1" dirty="0">
                    <a:solidFill>
                      <a:srgbClr val="66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LLM</a:t>
                </a:r>
                <a:endParaRPr sz="1100" i="1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Google Shape;1237;p96" descr="ChatGPT Logo and symbol, meaning, history, PNG, brand">
                <a:extLst>
                  <a:ext uri="{FF2B5EF4-FFF2-40B4-BE49-F238E27FC236}">
                    <a16:creationId xmlns:a16="http://schemas.microsoft.com/office/drawing/2014/main" id="{70D4DC1E-F616-F5F6-4A5E-E6C36561754A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5319" t="5918" r="25265" b="9292"/>
              <a:stretch/>
            </p:blipFill>
            <p:spPr>
              <a:xfrm>
                <a:off x="7375377" y="4318313"/>
                <a:ext cx="256224" cy="2475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6E36CEE-8A20-9C1D-E85F-0424D754143C}"/>
                </a:ext>
              </a:extLst>
            </p:cNvPr>
            <p:cNvGrpSpPr/>
            <p:nvPr/>
          </p:nvGrpSpPr>
          <p:grpSpPr>
            <a:xfrm>
              <a:off x="5180946" y="2987528"/>
              <a:ext cx="1396664" cy="958145"/>
              <a:chOff x="6011919" y="2233342"/>
              <a:chExt cx="1732025" cy="95814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1ECA65CA-9374-8EC4-0E68-A4B4662DAF67}"/>
                  </a:ext>
                </a:extLst>
              </p:cNvPr>
              <p:cNvGrpSpPr/>
              <p:nvPr/>
            </p:nvGrpSpPr>
            <p:grpSpPr>
              <a:xfrm>
                <a:off x="6011919" y="2233342"/>
                <a:ext cx="1725967" cy="627895"/>
                <a:chOff x="3203732" y="2187585"/>
                <a:chExt cx="1725967" cy="627895"/>
              </a:xfrm>
            </p:grpSpPr>
            <p:sp>
              <p:nvSpPr>
                <p:cNvPr id="16" name="Google Shape;1098;p91">
                  <a:extLst>
                    <a:ext uri="{FF2B5EF4-FFF2-40B4-BE49-F238E27FC236}">
                      <a16:creationId xmlns:a16="http://schemas.microsoft.com/office/drawing/2014/main" id="{33DF01FD-7190-04AB-3798-2425AF635936}"/>
                    </a:ext>
                  </a:extLst>
                </p:cNvPr>
                <p:cNvSpPr/>
                <p:nvPr/>
              </p:nvSpPr>
              <p:spPr>
                <a:xfrm>
                  <a:off x="3208572" y="2187585"/>
                  <a:ext cx="1721127" cy="3020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AD1D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algn="ctr"/>
                  <a:r>
                    <a:rPr lang="en" sz="11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Reminiscence</a:t>
                  </a:r>
                  <a:endParaRPr sz="11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Google Shape;1100;p91">
                  <a:extLst>
                    <a:ext uri="{FF2B5EF4-FFF2-40B4-BE49-F238E27FC236}">
                      <a16:creationId xmlns:a16="http://schemas.microsoft.com/office/drawing/2014/main" id="{438E41FB-7136-B5F0-1BBF-CC94E74303BA}"/>
                    </a:ext>
                  </a:extLst>
                </p:cNvPr>
                <p:cNvSpPr/>
                <p:nvPr/>
              </p:nvSpPr>
              <p:spPr>
                <a:xfrm>
                  <a:off x="3203732" y="2513384"/>
                  <a:ext cx="1721127" cy="3020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AD1D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algn="ctr"/>
                  <a:r>
                    <a:rPr lang="en" sz="11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Engagement</a:t>
                  </a:r>
                  <a:endParaRPr sz="11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" name="Google Shape;1100;p91">
                <a:extLst>
                  <a:ext uri="{FF2B5EF4-FFF2-40B4-BE49-F238E27FC236}">
                    <a16:creationId xmlns:a16="http://schemas.microsoft.com/office/drawing/2014/main" id="{F30153A8-20CF-A64B-4604-9827E40A8906}"/>
                  </a:ext>
                </a:extLst>
              </p:cNvPr>
              <p:cNvSpPr/>
              <p:nvPr/>
            </p:nvSpPr>
            <p:spPr>
              <a:xfrm>
                <a:off x="6022817" y="2889391"/>
                <a:ext cx="1721127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Vocabulary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7893D489-81EB-E3DC-CF59-9F047F9FF2C3}"/>
                </a:ext>
              </a:extLst>
            </p:cNvPr>
            <p:cNvSpPr/>
            <p:nvPr/>
          </p:nvSpPr>
          <p:spPr>
            <a:xfrm>
              <a:off x="190447" y="1763677"/>
              <a:ext cx="2425989" cy="2880742"/>
            </a:xfrm>
            <a:prstGeom prst="roundRect">
              <a:avLst>
                <a:gd name="adj" fmla="val 7032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Google Shape;1227;p96">
              <a:extLst>
                <a:ext uri="{FF2B5EF4-FFF2-40B4-BE49-F238E27FC236}">
                  <a16:creationId xmlns:a16="http://schemas.microsoft.com/office/drawing/2014/main" id="{1346E528-C605-03A6-C92D-820862AFD7C7}"/>
                </a:ext>
              </a:extLst>
            </p:cNvPr>
            <p:cNvSpPr/>
            <p:nvPr/>
          </p:nvSpPr>
          <p:spPr>
            <a:xfrm>
              <a:off x="1599735" y="3230984"/>
              <a:ext cx="774496" cy="1000737"/>
            </a:xfrm>
            <a:prstGeom prst="leftUpArrow">
              <a:avLst>
                <a:gd name="adj1" fmla="val 18061"/>
                <a:gd name="adj2" fmla="val 16462"/>
                <a:gd name="adj3" fmla="val 177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Google Shape;1229;p96">
              <a:extLst>
                <a:ext uri="{FF2B5EF4-FFF2-40B4-BE49-F238E27FC236}">
                  <a16:creationId xmlns:a16="http://schemas.microsoft.com/office/drawing/2014/main" id="{5469C097-C449-803A-33C2-5BD8A68B5CCC}"/>
                </a:ext>
              </a:extLst>
            </p:cNvPr>
            <p:cNvGrpSpPr/>
            <p:nvPr/>
          </p:nvGrpSpPr>
          <p:grpSpPr>
            <a:xfrm>
              <a:off x="223445" y="3625233"/>
              <a:ext cx="1396851" cy="923642"/>
              <a:chOff x="7769808" y="3346425"/>
              <a:chExt cx="1302117" cy="861001"/>
            </a:xfrm>
          </p:grpSpPr>
          <p:sp>
            <p:nvSpPr>
              <p:cNvPr id="27" name="Google Shape;1230;p96">
                <a:extLst>
                  <a:ext uri="{FF2B5EF4-FFF2-40B4-BE49-F238E27FC236}">
                    <a16:creationId xmlns:a16="http://schemas.microsoft.com/office/drawing/2014/main" id="{ECEBEE2E-6433-F505-E351-8827E72DF1A5}"/>
                  </a:ext>
                </a:extLst>
              </p:cNvPr>
              <p:cNvSpPr/>
              <p:nvPr/>
            </p:nvSpPr>
            <p:spPr>
              <a:xfrm>
                <a:off x="7821416" y="3346425"/>
                <a:ext cx="1250509" cy="861001"/>
              </a:xfrm>
              <a:prstGeom prst="roundRect">
                <a:avLst>
                  <a:gd name="adj" fmla="val 13347"/>
                </a:avLst>
              </a:prstGeom>
              <a:solidFill>
                <a:srgbClr val="EFEFEF"/>
              </a:solidFill>
              <a:ln w="1905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8" name="Google Shape;1231;p96" descr="Elder Icon #60510 - Free Icons Library">
                <a:extLst>
                  <a:ext uri="{FF2B5EF4-FFF2-40B4-BE49-F238E27FC236}">
                    <a16:creationId xmlns:a16="http://schemas.microsoft.com/office/drawing/2014/main" id="{C6CC10F5-5F57-EFC6-FE69-43994543FD35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l="26258" t="15380" r="26700" b="15862"/>
              <a:stretch/>
            </p:blipFill>
            <p:spPr>
              <a:xfrm flipH="1">
                <a:off x="8472450" y="3474701"/>
                <a:ext cx="410400" cy="5998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Google Shape;1232;p96">
                <a:extLst>
                  <a:ext uri="{FF2B5EF4-FFF2-40B4-BE49-F238E27FC236}">
                    <a16:creationId xmlns:a16="http://schemas.microsoft.com/office/drawing/2014/main" id="{F393E0A1-CD47-9F9E-E9C4-B51A8A9F261D}"/>
                  </a:ext>
                </a:extLst>
              </p:cNvPr>
              <p:cNvSpPr txBox="1"/>
              <p:nvPr/>
            </p:nvSpPr>
            <p:spPr>
              <a:xfrm>
                <a:off x="7769808" y="3409685"/>
                <a:ext cx="780600" cy="745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" sz="12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MCI/NC Older Users</a:t>
                </a:r>
                <a:endParaRPr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CA2C9B-EF6E-1F84-3916-95F1411615FE}"/>
                </a:ext>
              </a:extLst>
            </p:cNvPr>
            <p:cNvSpPr txBox="1"/>
            <p:nvPr/>
          </p:nvSpPr>
          <p:spPr>
            <a:xfrm>
              <a:off x="477367" y="1471897"/>
              <a:ext cx="18801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I-CONECT Clinical Trial</a:t>
              </a:r>
            </a:p>
          </p:txBody>
        </p:sp>
        <p:sp>
          <p:nvSpPr>
            <p:cNvPr id="31" name="Google Shape;1221;p96">
              <a:extLst>
                <a:ext uri="{FF2B5EF4-FFF2-40B4-BE49-F238E27FC236}">
                  <a16:creationId xmlns:a16="http://schemas.microsoft.com/office/drawing/2014/main" id="{48BC96F0-FCC4-05DD-4920-DF3CD16117B5}"/>
                </a:ext>
              </a:extLst>
            </p:cNvPr>
            <p:cNvSpPr/>
            <p:nvPr/>
          </p:nvSpPr>
          <p:spPr>
            <a:xfrm>
              <a:off x="1343773" y="2637746"/>
              <a:ext cx="1237429" cy="649029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Trained Interviewers</a:t>
              </a:r>
              <a:endParaRPr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Bent Arrow 31">
              <a:extLst>
                <a:ext uri="{FF2B5EF4-FFF2-40B4-BE49-F238E27FC236}">
                  <a16:creationId xmlns:a16="http://schemas.microsoft.com/office/drawing/2014/main" id="{E4F75CD0-55CB-EAB6-893C-9D67AB39E6FE}"/>
                </a:ext>
              </a:extLst>
            </p:cNvPr>
            <p:cNvSpPr/>
            <p:nvPr/>
          </p:nvSpPr>
          <p:spPr>
            <a:xfrm rot="5400000">
              <a:off x="1474286" y="1891131"/>
              <a:ext cx="437432" cy="1026236"/>
            </a:xfrm>
            <a:prstGeom prst="bentArrow">
              <a:avLst>
                <a:gd name="adj1" fmla="val 71263"/>
                <a:gd name="adj2" fmla="val 50000"/>
                <a:gd name="adj3" fmla="val 22589"/>
                <a:gd name="adj4" fmla="val 63034"/>
              </a:avLst>
            </a:prstGeom>
            <a:gradFill flip="none" rotWithShape="1">
              <a:gsLst>
                <a:gs pos="78000">
                  <a:srgbClr val="BBCFAD"/>
                </a:gs>
                <a:gs pos="0">
                  <a:srgbClr val="CCCCCC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B9808D2-A695-FB40-DBBE-FDF91552B0DF}"/>
                </a:ext>
              </a:extLst>
            </p:cNvPr>
            <p:cNvSpPr/>
            <p:nvPr/>
          </p:nvSpPr>
          <p:spPr>
            <a:xfrm>
              <a:off x="8181368" y="3138576"/>
              <a:ext cx="1086107" cy="819543"/>
            </a:xfrm>
            <a:prstGeom prst="roundRect">
              <a:avLst>
                <a:gd name="adj" fmla="val 9249"/>
              </a:avLst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Google Shape;1223;p96">
              <a:extLst>
                <a:ext uri="{FF2B5EF4-FFF2-40B4-BE49-F238E27FC236}">
                  <a16:creationId xmlns:a16="http://schemas.microsoft.com/office/drawing/2014/main" id="{020BA6B3-F9F8-19B7-CB74-604DA4F81040}"/>
                </a:ext>
              </a:extLst>
            </p:cNvPr>
            <p:cNvSpPr/>
            <p:nvPr/>
          </p:nvSpPr>
          <p:spPr>
            <a:xfrm>
              <a:off x="6859452" y="3119111"/>
              <a:ext cx="1233898" cy="745958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Real-time Voice Interface</a:t>
              </a:r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A51B91-F4EB-CC7E-A522-578D3CB706B7}"/>
                </a:ext>
              </a:extLst>
            </p:cNvPr>
            <p:cNvSpPr txBox="1"/>
            <p:nvPr/>
          </p:nvSpPr>
          <p:spPr>
            <a:xfrm>
              <a:off x="7041613" y="4703086"/>
              <a:ext cx="2302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(4) Device and Interface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1FEE576-A646-D2E8-8D58-FA02D61DB779}"/>
                </a:ext>
              </a:extLst>
            </p:cNvPr>
            <p:cNvSpPr txBox="1"/>
            <p:nvPr/>
          </p:nvSpPr>
          <p:spPr>
            <a:xfrm>
              <a:off x="3909850" y="1463025"/>
              <a:ext cx="32374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(1) Optimizing AI for Protocol Compliance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D1C4CB85-B824-1FD1-22B7-6137309982FD}"/>
                </a:ext>
              </a:extLst>
            </p:cNvPr>
            <p:cNvSpPr/>
            <p:nvPr/>
          </p:nvSpPr>
          <p:spPr>
            <a:xfrm>
              <a:off x="2812414" y="3522392"/>
              <a:ext cx="2528325" cy="1122027"/>
            </a:xfrm>
            <a:prstGeom prst="roundRect">
              <a:avLst>
                <a:gd name="adj" fmla="val 7032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CEF227B-4A3F-C707-B014-A0A927CCEB84}"/>
                </a:ext>
              </a:extLst>
            </p:cNvPr>
            <p:cNvSpPr txBox="1"/>
            <p:nvPr/>
          </p:nvSpPr>
          <p:spPr>
            <a:xfrm>
              <a:off x="2912307" y="4696791"/>
              <a:ext cx="26468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(2) Simulate Human Conversation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0D375D71-3B4A-682E-519C-5059E8BFB855}"/>
                </a:ext>
              </a:extLst>
            </p:cNvPr>
            <p:cNvSpPr/>
            <p:nvPr/>
          </p:nvSpPr>
          <p:spPr>
            <a:xfrm>
              <a:off x="6750318" y="3048847"/>
              <a:ext cx="2587074" cy="1647628"/>
            </a:xfrm>
            <a:prstGeom prst="roundRect">
              <a:avLst>
                <a:gd name="adj" fmla="val 7032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Google Shape;1223;p96">
              <a:extLst>
                <a:ext uri="{FF2B5EF4-FFF2-40B4-BE49-F238E27FC236}">
                  <a16:creationId xmlns:a16="http://schemas.microsoft.com/office/drawing/2014/main" id="{F0786B27-9305-E262-D7E8-FDBDF1811016}"/>
                </a:ext>
              </a:extLst>
            </p:cNvPr>
            <p:cNvSpPr/>
            <p:nvPr/>
          </p:nvSpPr>
          <p:spPr>
            <a:xfrm>
              <a:off x="6874808" y="3886864"/>
              <a:ext cx="1233898" cy="745958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Emotion Responsive Robot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A184590-3855-1592-39FE-80A545900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423849" y="3762842"/>
              <a:ext cx="630087" cy="825114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0D2BC4C-EB7D-5A37-B4DB-3A372613D0F8}"/>
                </a:ext>
              </a:extLst>
            </p:cNvPr>
            <p:cNvSpPr txBox="1"/>
            <p:nvPr/>
          </p:nvSpPr>
          <p:spPr>
            <a:xfrm>
              <a:off x="3021700" y="2181084"/>
              <a:ext cx="7713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Instruct</a:t>
              </a:r>
            </a:p>
          </p:txBody>
        </p:sp>
        <p:grpSp>
          <p:nvGrpSpPr>
            <p:cNvPr id="6" name="Google Shape;1229;p96">
              <a:extLst>
                <a:ext uri="{FF2B5EF4-FFF2-40B4-BE49-F238E27FC236}">
                  <a16:creationId xmlns:a16="http://schemas.microsoft.com/office/drawing/2014/main" id="{68204AAB-4DA1-83C2-13E2-A9F01014286F}"/>
                </a:ext>
              </a:extLst>
            </p:cNvPr>
            <p:cNvGrpSpPr/>
            <p:nvPr/>
          </p:nvGrpSpPr>
          <p:grpSpPr>
            <a:xfrm>
              <a:off x="9996586" y="2998457"/>
              <a:ext cx="1721126" cy="923642"/>
              <a:chOff x="7467525" y="3346425"/>
              <a:chExt cx="1604400" cy="861001"/>
            </a:xfrm>
          </p:grpSpPr>
          <p:sp>
            <p:nvSpPr>
              <p:cNvPr id="37" name="Google Shape;1230;p96">
                <a:extLst>
                  <a:ext uri="{FF2B5EF4-FFF2-40B4-BE49-F238E27FC236}">
                    <a16:creationId xmlns:a16="http://schemas.microsoft.com/office/drawing/2014/main" id="{AB217554-264B-A60C-37C8-69E2EA0DB161}"/>
                  </a:ext>
                </a:extLst>
              </p:cNvPr>
              <p:cNvSpPr/>
              <p:nvPr/>
            </p:nvSpPr>
            <p:spPr>
              <a:xfrm>
                <a:off x="7467525" y="3346425"/>
                <a:ext cx="1604400" cy="861001"/>
              </a:xfrm>
              <a:prstGeom prst="roundRect">
                <a:avLst>
                  <a:gd name="adj" fmla="val 13347"/>
                </a:avLst>
              </a:prstGeom>
              <a:solidFill>
                <a:srgbClr val="EFEFEF"/>
              </a:solidFill>
              <a:ln w="1905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9" name="Google Shape;1231;p96" descr="Elder Icon #60510 - Free Icons Library">
                <a:extLst>
                  <a:ext uri="{FF2B5EF4-FFF2-40B4-BE49-F238E27FC236}">
                    <a16:creationId xmlns:a16="http://schemas.microsoft.com/office/drawing/2014/main" id="{F74E00A3-093C-6658-DB69-0C152F8DDA48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l="26258" t="15380" r="26700" b="15862"/>
              <a:stretch/>
            </p:blipFill>
            <p:spPr>
              <a:xfrm flipH="1">
                <a:off x="8472450" y="3474701"/>
                <a:ext cx="410400" cy="5998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" name="Google Shape;1232;p96">
                <a:extLst>
                  <a:ext uri="{FF2B5EF4-FFF2-40B4-BE49-F238E27FC236}">
                    <a16:creationId xmlns:a16="http://schemas.microsoft.com/office/drawing/2014/main" id="{B44A2399-DC59-61E3-75EE-9D5625549B61}"/>
                  </a:ext>
                </a:extLst>
              </p:cNvPr>
              <p:cNvSpPr txBox="1"/>
              <p:nvPr/>
            </p:nvSpPr>
            <p:spPr>
              <a:xfrm>
                <a:off x="7579607" y="3409685"/>
                <a:ext cx="780600" cy="745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" sz="12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MCI/NC Older Users</a:t>
                </a:r>
                <a:endParaRPr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1270439-DA0B-450D-C565-E30802583E48}"/>
                </a:ext>
              </a:extLst>
            </p:cNvPr>
            <p:cNvGrpSpPr/>
            <p:nvPr/>
          </p:nvGrpSpPr>
          <p:grpSpPr>
            <a:xfrm>
              <a:off x="7382744" y="1561123"/>
              <a:ext cx="1436320" cy="958145"/>
              <a:chOff x="6011919" y="2233342"/>
              <a:chExt cx="1732025" cy="958145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9DD6D062-712C-8EF2-CE2C-8C3C50BC5B01}"/>
                  </a:ext>
                </a:extLst>
              </p:cNvPr>
              <p:cNvGrpSpPr/>
              <p:nvPr/>
            </p:nvGrpSpPr>
            <p:grpSpPr>
              <a:xfrm>
                <a:off x="6011919" y="2233342"/>
                <a:ext cx="1725967" cy="627895"/>
                <a:chOff x="3203732" y="2187585"/>
                <a:chExt cx="1725967" cy="627895"/>
              </a:xfrm>
            </p:grpSpPr>
            <p:sp>
              <p:nvSpPr>
                <p:cNvPr id="69" name="Google Shape;1098;p91">
                  <a:extLst>
                    <a:ext uri="{FF2B5EF4-FFF2-40B4-BE49-F238E27FC236}">
                      <a16:creationId xmlns:a16="http://schemas.microsoft.com/office/drawing/2014/main" id="{2B5FB718-B45D-3007-247E-3866D09B4AEB}"/>
                    </a:ext>
                  </a:extLst>
                </p:cNvPr>
                <p:cNvSpPr/>
                <p:nvPr/>
              </p:nvSpPr>
              <p:spPr>
                <a:xfrm>
                  <a:off x="3208572" y="2187585"/>
                  <a:ext cx="1721127" cy="3020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AD1D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algn="ctr"/>
                  <a:r>
                    <a:rPr lang="en-US" altLang="zh-CN" sz="11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Negative</a:t>
                  </a:r>
                  <a:r>
                    <a:rPr lang="zh-CN" altLang="en-US" sz="11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zh-CN" sz="11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Emotion</a:t>
                  </a:r>
                  <a:endParaRPr sz="11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Google Shape;1100;p91">
                  <a:extLst>
                    <a:ext uri="{FF2B5EF4-FFF2-40B4-BE49-F238E27FC236}">
                      <a16:creationId xmlns:a16="http://schemas.microsoft.com/office/drawing/2014/main" id="{37870EC9-7E13-3ACE-2304-1B483A2DBAF8}"/>
                    </a:ext>
                  </a:extLst>
                </p:cNvPr>
                <p:cNvSpPr/>
                <p:nvPr/>
              </p:nvSpPr>
              <p:spPr>
                <a:xfrm>
                  <a:off x="3203732" y="2513384"/>
                  <a:ext cx="1721127" cy="3020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AD1D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algn="ctr"/>
                  <a:r>
                    <a:rPr lang="en-US" altLang="zh-CN" sz="11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Suicidal</a:t>
                  </a:r>
                  <a:r>
                    <a:rPr lang="zh-CN" altLang="en-US" sz="11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zh-CN" sz="11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Tendence</a:t>
                  </a:r>
                  <a:endParaRPr sz="11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8" name="Google Shape;1100;p91">
                <a:extLst>
                  <a:ext uri="{FF2B5EF4-FFF2-40B4-BE49-F238E27FC236}">
                    <a16:creationId xmlns:a16="http://schemas.microsoft.com/office/drawing/2014/main" id="{C25813C2-F46D-ECA0-6C4E-15DA1C06919F}"/>
                  </a:ext>
                </a:extLst>
              </p:cNvPr>
              <p:cNvSpPr/>
              <p:nvPr/>
            </p:nvSpPr>
            <p:spPr>
              <a:xfrm>
                <a:off x="6022817" y="2889391"/>
                <a:ext cx="1721127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Harmful</a:t>
                </a:r>
                <a:r>
                  <a:rPr lang="zh-CN" altLang="en-US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4" name="Google Shape;1223;p96">
              <a:extLst>
                <a:ext uri="{FF2B5EF4-FFF2-40B4-BE49-F238E27FC236}">
                  <a16:creationId xmlns:a16="http://schemas.microsoft.com/office/drawing/2014/main" id="{1A7A4D79-BF91-996E-2993-28969C47F582}"/>
                </a:ext>
              </a:extLst>
            </p:cNvPr>
            <p:cNvSpPr/>
            <p:nvPr/>
          </p:nvSpPr>
          <p:spPr>
            <a:xfrm>
              <a:off x="7195231" y="2535994"/>
              <a:ext cx="1858705" cy="302097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(3)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 Monitoring</a:t>
              </a:r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Google Shape;1221;p96">
              <a:extLst>
                <a:ext uri="{FF2B5EF4-FFF2-40B4-BE49-F238E27FC236}">
                  <a16:creationId xmlns:a16="http://schemas.microsoft.com/office/drawing/2014/main" id="{F92F29BD-8612-9216-F496-B5395989BFA0}"/>
                </a:ext>
              </a:extLst>
            </p:cNvPr>
            <p:cNvSpPr/>
            <p:nvPr/>
          </p:nvSpPr>
          <p:spPr>
            <a:xfrm>
              <a:off x="9834255" y="1748896"/>
              <a:ext cx="1379494" cy="506848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Study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Staff</a:t>
              </a:r>
              <a:endParaRPr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Google Shape;1223;p96">
              <a:extLst>
                <a:ext uri="{FF2B5EF4-FFF2-40B4-BE49-F238E27FC236}">
                  <a16:creationId xmlns:a16="http://schemas.microsoft.com/office/drawing/2014/main" id="{B13FEC53-4142-FE4B-F483-E24314B20532}"/>
                </a:ext>
              </a:extLst>
            </p:cNvPr>
            <p:cNvSpPr/>
            <p:nvPr/>
          </p:nvSpPr>
          <p:spPr>
            <a:xfrm>
              <a:off x="9733448" y="2477545"/>
              <a:ext cx="1663914" cy="302097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Check-in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Call</a:t>
              </a:r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Google Shape;1223;p96">
              <a:extLst>
                <a:ext uri="{FF2B5EF4-FFF2-40B4-BE49-F238E27FC236}">
                  <a16:creationId xmlns:a16="http://schemas.microsoft.com/office/drawing/2014/main" id="{8714C778-E7DE-AE2C-2F36-BB6EC8B8FDA7}"/>
                </a:ext>
              </a:extLst>
            </p:cNvPr>
            <p:cNvSpPr/>
            <p:nvPr/>
          </p:nvSpPr>
          <p:spPr>
            <a:xfrm>
              <a:off x="9631772" y="4151553"/>
              <a:ext cx="2098043" cy="302097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Satisfactory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Survey</a:t>
              </a:r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Google Shape;1223;p96">
              <a:extLst>
                <a:ext uri="{FF2B5EF4-FFF2-40B4-BE49-F238E27FC236}">
                  <a16:creationId xmlns:a16="http://schemas.microsoft.com/office/drawing/2014/main" id="{DCD21615-2421-EB5E-9A28-367D63E6C3A6}"/>
                </a:ext>
              </a:extLst>
            </p:cNvPr>
            <p:cNvSpPr/>
            <p:nvPr/>
          </p:nvSpPr>
          <p:spPr>
            <a:xfrm>
              <a:off x="9652535" y="4491626"/>
              <a:ext cx="2065177" cy="302097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Adherence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Rate</a:t>
              </a:r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Down Arrow 80">
              <a:extLst>
                <a:ext uri="{FF2B5EF4-FFF2-40B4-BE49-F238E27FC236}">
                  <a16:creationId xmlns:a16="http://schemas.microsoft.com/office/drawing/2014/main" id="{C44FE679-BA75-8FC9-51B3-FC5AE6D3A7BC}"/>
                </a:ext>
              </a:extLst>
            </p:cNvPr>
            <p:cNvSpPr/>
            <p:nvPr/>
          </p:nvSpPr>
          <p:spPr>
            <a:xfrm>
              <a:off x="10755890" y="3831545"/>
              <a:ext cx="261227" cy="364834"/>
            </a:xfrm>
            <a:prstGeom prst="downArrow">
              <a:avLst/>
            </a:prstGeom>
            <a:solidFill>
              <a:schemeClr val="bg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7" name="Graphic 86" descr="Radio microphone outline">
              <a:extLst>
                <a:ext uri="{FF2B5EF4-FFF2-40B4-BE49-F238E27FC236}">
                  <a16:creationId xmlns:a16="http://schemas.microsoft.com/office/drawing/2014/main" id="{E8528521-40D6-0139-F1F8-4A371341C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50583" y="3295272"/>
              <a:ext cx="410792" cy="410792"/>
            </a:xfrm>
            <a:prstGeom prst="rect">
              <a:avLst/>
            </a:prstGeom>
          </p:spPr>
        </p:pic>
        <p:sp>
          <p:nvSpPr>
            <p:cNvPr id="24" name="Google Shape;1221;p96">
              <a:extLst>
                <a:ext uri="{FF2B5EF4-FFF2-40B4-BE49-F238E27FC236}">
                  <a16:creationId xmlns:a16="http://schemas.microsoft.com/office/drawing/2014/main" id="{00947EFA-A46E-9E96-1EC5-98051266A1D5}"/>
                </a:ext>
              </a:extLst>
            </p:cNvPr>
            <p:cNvSpPr/>
            <p:nvPr/>
          </p:nvSpPr>
          <p:spPr>
            <a:xfrm>
              <a:off x="269765" y="1866714"/>
              <a:ext cx="1059399" cy="1036602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Clinical Protocol</a:t>
              </a: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263E44-E2C5-F347-F11E-C26EE0606425}"/>
                </a:ext>
              </a:extLst>
            </p:cNvPr>
            <p:cNvSpPr txBox="1"/>
            <p:nvPr/>
          </p:nvSpPr>
          <p:spPr>
            <a:xfrm>
              <a:off x="5682091" y="2697035"/>
              <a:ext cx="5851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Train</a:t>
              </a:r>
            </a:p>
          </p:txBody>
        </p:sp>
        <p:sp>
          <p:nvSpPr>
            <p:cNvPr id="46" name="Google Shape;1227;p96">
              <a:extLst>
                <a:ext uri="{FF2B5EF4-FFF2-40B4-BE49-F238E27FC236}">
                  <a16:creationId xmlns:a16="http://schemas.microsoft.com/office/drawing/2014/main" id="{34C48CB3-218D-E97E-FA7E-77A2BAAA9AAC}"/>
                </a:ext>
              </a:extLst>
            </p:cNvPr>
            <p:cNvSpPr/>
            <p:nvPr/>
          </p:nvSpPr>
          <p:spPr>
            <a:xfrm rot="16200000">
              <a:off x="6246218" y="2128586"/>
              <a:ext cx="779112" cy="1023136"/>
            </a:xfrm>
            <a:prstGeom prst="leftUpArrow">
              <a:avLst>
                <a:gd name="adj1" fmla="val 18061"/>
                <a:gd name="adj2" fmla="val 16462"/>
                <a:gd name="adj3" fmla="val 177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8" name="Google Shape;1241;p96">
              <a:extLst>
                <a:ext uri="{FF2B5EF4-FFF2-40B4-BE49-F238E27FC236}">
                  <a16:creationId xmlns:a16="http://schemas.microsoft.com/office/drawing/2014/main" id="{F4921B78-BA61-BDAE-44A8-72F2AED4406C}"/>
                </a:ext>
              </a:extLst>
            </p:cNvPr>
            <p:cNvGrpSpPr/>
            <p:nvPr/>
          </p:nvGrpSpPr>
          <p:grpSpPr>
            <a:xfrm>
              <a:off x="6654711" y="2164659"/>
              <a:ext cx="555280" cy="554351"/>
              <a:chOff x="7540309" y="2735044"/>
              <a:chExt cx="517622" cy="516756"/>
            </a:xfrm>
          </p:grpSpPr>
          <p:sp>
            <p:nvSpPr>
              <p:cNvPr id="53" name="Google Shape;1242;p96">
                <a:extLst>
                  <a:ext uri="{FF2B5EF4-FFF2-40B4-BE49-F238E27FC236}">
                    <a16:creationId xmlns:a16="http://schemas.microsoft.com/office/drawing/2014/main" id="{13307EAB-6DE7-F04B-0292-E34BA7DDC900}"/>
                  </a:ext>
                </a:extLst>
              </p:cNvPr>
              <p:cNvSpPr/>
              <p:nvPr/>
            </p:nvSpPr>
            <p:spPr>
              <a:xfrm>
                <a:off x="7540309" y="2735044"/>
                <a:ext cx="517622" cy="516756"/>
              </a:xfrm>
              <a:prstGeom prst="roundRect">
                <a:avLst>
                  <a:gd name="adj" fmla="val 24855"/>
                </a:avLst>
              </a:prstGeom>
              <a:solidFill>
                <a:srgbClr val="BACAE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2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5" name="Google Shape;1243;p96" descr="59,432 Conversation Icons - Free in SVG, PNG, ICO - IconScout">
                <a:extLst>
                  <a:ext uri="{FF2B5EF4-FFF2-40B4-BE49-F238E27FC236}">
                    <a16:creationId xmlns:a16="http://schemas.microsoft.com/office/drawing/2014/main" id="{6FF41F0C-EE30-0D78-3F12-AF1F35468ED3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635963" y="2844651"/>
                <a:ext cx="331500" cy="33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" name="Up-Down Arrow 61">
              <a:extLst>
                <a:ext uri="{FF2B5EF4-FFF2-40B4-BE49-F238E27FC236}">
                  <a16:creationId xmlns:a16="http://schemas.microsoft.com/office/drawing/2014/main" id="{530303D1-EC94-C6B2-80F1-C5C431DB2149}"/>
                </a:ext>
              </a:extLst>
            </p:cNvPr>
            <p:cNvSpPr/>
            <p:nvPr/>
          </p:nvSpPr>
          <p:spPr>
            <a:xfrm rot="16200000">
              <a:off x="9499474" y="3103208"/>
              <a:ext cx="261227" cy="836143"/>
            </a:xfrm>
            <a:prstGeom prst="upDownArrow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2" name="Google Shape;1241;p96">
              <a:extLst>
                <a:ext uri="{FF2B5EF4-FFF2-40B4-BE49-F238E27FC236}">
                  <a16:creationId xmlns:a16="http://schemas.microsoft.com/office/drawing/2014/main" id="{0E1FFC09-3F5D-1D47-FB59-DB066B104DEF}"/>
                </a:ext>
              </a:extLst>
            </p:cNvPr>
            <p:cNvGrpSpPr/>
            <p:nvPr/>
          </p:nvGrpSpPr>
          <p:grpSpPr>
            <a:xfrm>
              <a:off x="9357848" y="3227452"/>
              <a:ext cx="555280" cy="554351"/>
              <a:chOff x="7540309" y="2735044"/>
              <a:chExt cx="517622" cy="516756"/>
            </a:xfrm>
          </p:grpSpPr>
          <p:sp>
            <p:nvSpPr>
              <p:cNvPr id="83" name="Google Shape;1242;p96">
                <a:extLst>
                  <a:ext uri="{FF2B5EF4-FFF2-40B4-BE49-F238E27FC236}">
                    <a16:creationId xmlns:a16="http://schemas.microsoft.com/office/drawing/2014/main" id="{E21A1710-B376-6EB0-3CF3-F39072D0002E}"/>
                  </a:ext>
                </a:extLst>
              </p:cNvPr>
              <p:cNvSpPr/>
              <p:nvPr/>
            </p:nvSpPr>
            <p:spPr>
              <a:xfrm>
                <a:off x="7540309" y="2735044"/>
                <a:ext cx="517622" cy="516756"/>
              </a:xfrm>
              <a:prstGeom prst="roundRect">
                <a:avLst>
                  <a:gd name="adj" fmla="val 24855"/>
                </a:avLst>
              </a:prstGeom>
              <a:solidFill>
                <a:srgbClr val="BACAE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2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84" name="Google Shape;1243;p96" descr="59,432 Conversation Icons - Free in SVG, PNG, ICO - IconScout">
                <a:extLst>
                  <a:ext uri="{FF2B5EF4-FFF2-40B4-BE49-F238E27FC236}">
                    <a16:creationId xmlns:a16="http://schemas.microsoft.com/office/drawing/2014/main" id="{45DC8B63-0155-00C2-D6F0-1D7236591589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635963" y="2844651"/>
                <a:ext cx="331500" cy="33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E94FE61-22FE-CB96-7FB1-F69FCF2BB33A}"/>
                </a:ext>
              </a:extLst>
            </p:cNvPr>
            <p:cNvSpPr txBox="1"/>
            <p:nvPr/>
          </p:nvSpPr>
          <p:spPr>
            <a:xfrm>
              <a:off x="9529672" y="4761050"/>
              <a:ext cx="23022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(6) Feasibility Study</a:t>
              </a:r>
            </a:p>
          </p:txBody>
        </p:sp>
        <p:sp>
          <p:nvSpPr>
            <p:cNvPr id="25" name="Google Shape;1228;p96">
              <a:extLst>
                <a:ext uri="{FF2B5EF4-FFF2-40B4-BE49-F238E27FC236}">
                  <a16:creationId xmlns:a16="http://schemas.microsoft.com/office/drawing/2014/main" id="{1D249DE0-98F6-62DD-C782-D35212BB781E}"/>
                </a:ext>
              </a:extLst>
            </p:cNvPr>
            <p:cNvSpPr/>
            <p:nvPr/>
          </p:nvSpPr>
          <p:spPr>
            <a:xfrm>
              <a:off x="2235612" y="3883449"/>
              <a:ext cx="691810" cy="407210"/>
            </a:xfrm>
            <a:prstGeom prst="rightArrow">
              <a:avLst>
                <a:gd name="adj1" fmla="val 69303"/>
                <a:gd name="adj2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3" name="Google Shape;1241;p96">
              <a:extLst>
                <a:ext uri="{FF2B5EF4-FFF2-40B4-BE49-F238E27FC236}">
                  <a16:creationId xmlns:a16="http://schemas.microsoft.com/office/drawing/2014/main" id="{F0A4B9F3-1667-B590-E3D8-B46A33462573}"/>
                </a:ext>
              </a:extLst>
            </p:cNvPr>
            <p:cNvGrpSpPr/>
            <p:nvPr/>
          </p:nvGrpSpPr>
          <p:grpSpPr>
            <a:xfrm>
              <a:off x="1913509" y="3809879"/>
              <a:ext cx="555280" cy="554351"/>
              <a:chOff x="7540309" y="2735044"/>
              <a:chExt cx="517622" cy="516756"/>
            </a:xfrm>
          </p:grpSpPr>
          <p:sp>
            <p:nvSpPr>
              <p:cNvPr id="34" name="Google Shape;1242;p96">
                <a:extLst>
                  <a:ext uri="{FF2B5EF4-FFF2-40B4-BE49-F238E27FC236}">
                    <a16:creationId xmlns:a16="http://schemas.microsoft.com/office/drawing/2014/main" id="{2588DD3E-2EC0-7F67-5F4E-53A83A0C1D4C}"/>
                  </a:ext>
                </a:extLst>
              </p:cNvPr>
              <p:cNvSpPr/>
              <p:nvPr/>
            </p:nvSpPr>
            <p:spPr>
              <a:xfrm>
                <a:off x="7540309" y="2735044"/>
                <a:ext cx="517622" cy="516756"/>
              </a:xfrm>
              <a:prstGeom prst="roundRect">
                <a:avLst>
                  <a:gd name="adj" fmla="val 24855"/>
                </a:avLst>
              </a:prstGeom>
              <a:solidFill>
                <a:srgbClr val="BACAE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2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5" name="Google Shape;1243;p96" descr="59,432 Conversation Icons - Free in SVG, PNG, ICO - IconScout">
                <a:extLst>
                  <a:ext uri="{FF2B5EF4-FFF2-40B4-BE49-F238E27FC236}">
                    <a16:creationId xmlns:a16="http://schemas.microsoft.com/office/drawing/2014/main" id="{F86F01E6-59BE-DAF5-E6C9-77FE0AF1FAC0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635963" y="2844651"/>
                <a:ext cx="331500" cy="33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417528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2C994-18AC-9C2A-5C13-7D7EF1856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A45DD1FC-D83D-0F66-D499-152B09E77FD9}"/>
              </a:ext>
            </a:extLst>
          </p:cNvPr>
          <p:cNvGrpSpPr/>
          <p:nvPr/>
        </p:nvGrpSpPr>
        <p:grpSpPr>
          <a:xfrm>
            <a:off x="1013407" y="1191481"/>
            <a:ext cx="6431561" cy="3426517"/>
            <a:chOff x="190447" y="1496281"/>
            <a:chExt cx="6431561" cy="3426517"/>
          </a:xfrm>
        </p:grpSpPr>
        <p:sp>
          <p:nvSpPr>
            <p:cNvPr id="36" name="Google Shape;1220;p96">
              <a:extLst>
                <a:ext uri="{FF2B5EF4-FFF2-40B4-BE49-F238E27FC236}">
                  <a16:creationId xmlns:a16="http://schemas.microsoft.com/office/drawing/2014/main" id="{EC7E434F-62B2-66B3-324F-E3830E5E3A25}"/>
                </a:ext>
              </a:extLst>
            </p:cNvPr>
            <p:cNvSpPr/>
            <p:nvPr/>
          </p:nvSpPr>
          <p:spPr>
            <a:xfrm>
              <a:off x="856797" y="2022552"/>
              <a:ext cx="3830449" cy="627561"/>
            </a:xfrm>
            <a:prstGeom prst="rightArrow">
              <a:avLst>
                <a:gd name="adj1" fmla="val 50000"/>
                <a:gd name="adj2" fmla="val 56179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DEBC3FE4-4E2E-1E18-788E-DA4DB983A1D2}"/>
                </a:ext>
              </a:extLst>
            </p:cNvPr>
            <p:cNvSpPr/>
            <p:nvPr/>
          </p:nvSpPr>
          <p:spPr>
            <a:xfrm>
              <a:off x="4042129" y="1763677"/>
              <a:ext cx="2579879" cy="2642621"/>
            </a:xfrm>
            <a:prstGeom prst="roundRect">
              <a:avLst>
                <a:gd name="adj" fmla="val 7032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Google Shape;1227;p96">
              <a:extLst>
                <a:ext uri="{FF2B5EF4-FFF2-40B4-BE49-F238E27FC236}">
                  <a16:creationId xmlns:a16="http://schemas.microsoft.com/office/drawing/2014/main" id="{442D5E1B-1A9E-9ECF-752B-85B336A563E7}"/>
                </a:ext>
              </a:extLst>
            </p:cNvPr>
            <p:cNvSpPr/>
            <p:nvPr/>
          </p:nvSpPr>
          <p:spPr>
            <a:xfrm>
              <a:off x="4857126" y="2714515"/>
              <a:ext cx="1246006" cy="1529949"/>
            </a:xfrm>
            <a:prstGeom prst="leftUpArrow">
              <a:avLst>
                <a:gd name="adj1" fmla="val 9893"/>
                <a:gd name="adj2" fmla="val 10336"/>
                <a:gd name="adj3" fmla="val 11641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Google Shape;1227;p96">
              <a:extLst>
                <a:ext uri="{FF2B5EF4-FFF2-40B4-BE49-F238E27FC236}">
                  <a16:creationId xmlns:a16="http://schemas.microsoft.com/office/drawing/2014/main" id="{1691A891-8B66-EA79-E8DF-81F7AC948765}"/>
                </a:ext>
              </a:extLst>
            </p:cNvPr>
            <p:cNvSpPr/>
            <p:nvPr/>
          </p:nvSpPr>
          <p:spPr>
            <a:xfrm>
              <a:off x="4417164" y="2687043"/>
              <a:ext cx="630392" cy="1525765"/>
            </a:xfrm>
            <a:prstGeom prst="leftUpArrow">
              <a:avLst>
                <a:gd name="adj1" fmla="val 18061"/>
                <a:gd name="adj2" fmla="val 16462"/>
                <a:gd name="adj3" fmla="val 177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" name="Google Shape;1222;p96">
              <a:extLst>
                <a:ext uri="{FF2B5EF4-FFF2-40B4-BE49-F238E27FC236}">
                  <a16:creationId xmlns:a16="http://schemas.microsoft.com/office/drawing/2014/main" id="{3422E47C-7463-5535-7943-337AB5BC3D52}"/>
                </a:ext>
              </a:extLst>
            </p:cNvPr>
            <p:cNvGrpSpPr/>
            <p:nvPr/>
          </p:nvGrpSpPr>
          <p:grpSpPr>
            <a:xfrm>
              <a:off x="4687246" y="1949089"/>
              <a:ext cx="1435315" cy="745958"/>
              <a:chOff x="2555051" y="1573606"/>
              <a:chExt cx="1337974" cy="695367"/>
            </a:xfrm>
          </p:grpSpPr>
          <p:sp>
            <p:nvSpPr>
              <p:cNvPr id="3" name="Google Shape;1223;p96">
                <a:extLst>
                  <a:ext uri="{FF2B5EF4-FFF2-40B4-BE49-F238E27FC236}">
                    <a16:creationId xmlns:a16="http://schemas.microsoft.com/office/drawing/2014/main" id="{710E1A14-5102-211A-58F1-C37172514583}"/>
                  </a:ext>
                </a:extLst>
              </p:cNvPr>
              <p:cNvSpPr/>
              <p:nvPr/>
            </p:nvSpPr>
            <p:spPr>
              <a:xfrm>
                <a:off x="2555051" y="1573606"/>
                <a:ext cx="1337974" cy="695367"/>
              </a:xfrm>
              <a:prstGeom prst="roundRect">
                <a:avLst>
                  <a:gd name="adj" fmla="val 1334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" name="Google Shape;1224;p96">
                <a:extLst>
                  <a:ext uri="{FF2B5EF4-FFF2-40B4-BE49-F238E27FC236}">
                    <a16:creationId xmlns:a16="http://schemas.microsoft.com/office/drawing/2014/main" id="{C4AB70FA-A8BB-5F9C-0D22-9379C14136FC}"/>
                  </a:ext>
                </a:extLst>
              </p:cNvPr>
              <p:cNvSpPr txBox="1"/>
              <p:nvPr/>
            </p:nvSpPr>
            <p:spPr>
              <a:xfrm>
                <a:off x="3102270" y="1723626"/>
                <a:ext cx="599097" cy="401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r>
                  <a:rPr lang="en-US" sz="12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LLM</a:t>
                </a:r>
                <a:endParaRPr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" name="Google Shape;1225;p96" descr="ChatGPT Logo and symbol, meaning, history, PNG, brand">
                <a:extLst>
                  <a:ext uri="{FF2B5EF4-FFF2-40B4-BE49-F238E27FC236}">
                    <a16:creationId xmlns:a16="http://schemas.microsoft.com/office/drawing/2014/main" id="{77E96F53-10F0-B304-6C2A-1A99F85947DD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5319" t="5918" r="25265" b="9292"/>
              <a:stretch/>
            </p:blipFill>
            <p:spPr>
              <a:xfrm>
                <a:off x="2631350" y="1684312"/>
                <a:ext cx="486950" cy="4704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" name="Google Shape;1241;p96">
              <a:extLst>
                <a:ext uri="{FF2B5EF4-FFF2-40B4-BE49-F238E27FC236}">
                  <a16:creationId xmlns:a16="http://schemas.microsoft.com/office/drawing/2014/main" id="{06F92B6C-DDF6-F51D-B0E2-000F96EAA1A2}"/>
                </a:ext>
              </a:extLst>
            </p:cNvPr>
            <p:cNvGrpSpPr/>
            <p:nvPr/>
          </p:nvGrpSpPr>
          <p:grpSpPr>
            <a:xfrm>
              <a:off x="4661148" y="3771267"/>
              <a:ext cx="555280" cy="554351"/>
              <a:chOff x="7540309" y="2735044"/>
              <a:chExt cx="517622" cy="516756"/>
            </a:xfrm>
          </p:grpSpPr>
          <p:sp>
            <p:nvSpPr>
              <p:cNvPr id="8" name="Google Shape;1242;p96">
                <a:extLst>
                  <a:ext uri="{FF2B5EF4-FFF2-40B4-BE49-F238E27FC236}">
                    <a16:creationId xmlns:a16="http://schemas.microsoft.com/office/drawing/2014/main" id="{AA0E779D-E5C0-C755-72DB-C09B651C73E0}"/>
                  </a:ext>
                </a:extLst>
              </p:cNvPr>
              <p:cNvSpPr/>
              <p:nvPr/>
            </p:nvSpPr>
            <p:spPr>
              <a:xfrm>
                <a:off x="7540309" y="2735044"/>
                <a:ext cx="517622" cy="516756"/>
              </a:xfrm>
              <a:prstGeom prst="roundRect">
                <a:avLst>
                  <a:gd name="adj" fmla="val 24855"/>
                </a:avLst>
              </a:prstGeom>
              <a:solidFill>
                <a:srgbClr val="BACAE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2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9" name="Google Shape;1243;p96" descr="59,432 Conversation Icons - Free in SVG, PNG, ICO - IconScout">
                <a:extLst>
                  <a:ext uri="{FF2B5EF4-FFF2-40B4-BE49-F238E27FC236}">
                    <a16:creationId xmlns:a16="http://schemas.microsoft.com/office/drawing/2014/main" id="{48AE9A89-7010-20AF-0167-0EF6F6B0F952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635963" y="2844651"/>
                <a:ext cx="331500" cy="33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" name="Google Shape;1233;p96">
              <a:extLst>
                <a:ext uri="{FF2B5EF4-FFF2-40B4-BE49-F238E27FC236}">
                  <a16:creationId xmlns:a16="http://schemas.microsoft.com/office/drawing/2014/main" id="{EFE36597-733D-AD44-E8CE-4DF1AE62574F}"/>
                </a:ext>
              </a:extLst>
            </p:cNvPr>
            <p:cNvGrpSpPr/>
            <p:nvPr/>
          </p:nvGrpSpPr>
          <p:grpSpPr>
            <a:xfrm>
              <a:off x="2909649" y="3616626"/>
              <a:ext cx="1569361" cy="923641"/>
              <a:chOff x="7334399" y="3809869"/>
              <a:chExt cx="1462928" cy="860999"/>
            </a:xfrm>
          </p:grpSpPr>
          <p:sp>
            <p:nvSpPr>
              <p:cNvPr id="11" name="Google Shape;1234;p96">
                <a:extLst>
                  <a:ext uri="{FF2B5EF4-FFF2-40B4-BE49-F238E27FC236}">
                    <a16:creationId xmlns:a16="http://schemas.microsoft.com/office/drawing/2014/main" id="{572A48BD-6D31-527C-1589-3F3EE12E007C}"/>
                  </a:ext>
                </a:extLst>
              </p:cNvPr>
              <p:cNvSpPr/>
              <p:nvPr/>
            </p:nvSpPr>
            <p:spPr>
              <a:xfrm>
                <a:off x="7334399" y="3809869"/>
                <a:ext cx="1462928" cy="860999"/>
              </a:xfrm>
              <a:prstGeom prst="roundRect">
                <a:avLst>
                  <a:gd name="adj" fmla="val 13347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Google Shape;1235;p96" descr="Elder Icon #60510 - Free Icons Library">
                <a:extLst>
                  <a:ext uri="{FF2B5EF4-FFF2-40B4-BE49-F238E27FC236}">
                    <a16:creationId xmlns:a16="http://schemas.microsoft.com/office/drawing/2014/main" id="{268EB536-7CEB-A5BC-F35B-56CCF1A00513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-44000" contrast="63000"/>
                        </a14:imgEffect>
                      </a14:imgLayer>
                    </a14:imgProps>
                  </a:ext>
                </a:extLst>
              </a:blip>
              <a:srcRect l="26258" t="15380" r="26700" b="15862"/>
              <a:stretch/>
            </p:blipFill>
            <p:spPr>
              <a:xfrm flipH="1">
                <a:off x="8329681" y="3946169"/>
                <a:ext cx="391828" cy="5726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" name="Google Shape;1236;p96">
                <a:extLst>
                  <a:ext uri="{FF2B5EF4-FFF2-40B4-BE49-F238E27FC236}">
                    <a16:creationId xmlns:a16="http://schemas.microsoft.com/office/drawing/2014/main" id="{03D3BE2C-2BA6-09D6-0BE4-8FF01065A2CB}"/>
                  </a:ext>
                </a:extLst>
              </p:cNvPr>
              <p:cNvSpPr txBox="1"/>
              <p:nvPr/>
            </p:nvSpPr>
            <p:spPr>
              <a:xfrm>
                <a:off x="7334400" y="3886275"/>
                <a:ext cx="1115980" cy="7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" sz="1200" b="1" dirty="0">
                    <a:solidFill>
                      <a:schemeClr val="dk1"/>
                    </a:solidFill>
                    <a:latin typeface="Arial" panose="020B0604020202020204" pitchFamily="34" charset="0"/>
                    <a:ea typeface="Courier New"/>
                    <a:cs typeface="Arial" panose="020B0604020202020204" pitchFamily="34" charset="0"/>
                    <a:sym typeface="Courier New"/>
                  </a:rPr>
                  <a:t>Virtual User</a:t>
                </a:r>
                <a:r>
                  <a:rPr lang="en-US" altLang="zh-CN" sz="1200" b="1" dirty="0">
                    <a:solidFill>
                      <a:schemeClr val="dk1"/>
                    </a:solidFill>
                    <a:latin typeface="Arial" panose="020B0604020202020204" pitchFamily="34" charset="0"/>
                    <a:ea typeface="Courier New"/>
                    <a:cs typeface="Arial" panose="020B0604020202020204" pitchFamily="34" charset="0"/>
                    <a:sym typeface="Courier New"/>
                  </a:rPr>
                  <a:t>s</a:t>
                </a:r>
                <a:endParaRPr sz="1200" b="1" dirty="0">
                  <a:solidFill>
                    <a:schemeClr val="dk1"/>
                  </a:solidFill>
                  <a:latin typeface="Arial" panose="020B0604020202020204" pitchFamily="34" charset="0"/>
                  <a:ea typeface="Courier New"/>
                  <a:cs typeface="Arial" panose="020B0604020202020204" pitchFamily="34" charset="0"/>
                  <a:sym typeface="Courier New"/>
                </a:endParaRPr>
              </a:p>
              <a:p>
                <a:pPr algn="ctr"/>
                <a:r>
                  <a:rPr lang="en" sz="1100" i="1" dirty="0">
                    <a:solidFill>
                      <a:srgbClr val="66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Fine-Tuned </a:t>
                </a:r>
                <a:br>
                  <a:rPr lang="en" sz="1100" i="1" dirty="0">
                    <a:solidFill>
                      <a:srgbClr val="66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" sz="1100" i="1" dirty="0">
                    <a:solidFill>
                      <a:srgbClr val="6666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LLM</a:t>
                </a:r>
                <a:endParaRPr sz="1100" i="1" dirty="0">
                  <a:solidFill>
                    <a:srgbClr val="6666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Google Shape;1237;p96" descr="ChatGPT Logo and symbol, meaning, history, PNG, brand">
                <a:extLst>
                  <a:ext uri="{FF2B5EF4-FFF2-40B4-BE49-F238E27FC236}">
                    <a16:creationId xmlns:a16="http://schemas.microsoft.com/office/drawing/2014/main" id="{14F087C1-9C73-7A25-B953-AEAFCAD7384F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5319" t="5918" r="25265" b="9292"/>
              <a:stretch/>
            </p:blipFill>
            <p:spPr>
              <a:xfrm>
                <a:off x="7375377" y="4318313"/>
                <a:ext cx="256224" cy="2475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FC95341-C39E-BE72-2235-E9A867719BD2}"/>
                </a:ext>
              </a:extLst>
            </p:cNvPr>
            <p:cNvSpPr/>
            <p:nvPr/>
          </p:nvSpPr>
          <p:spPr>
            <a:xfrm>
              <a:off x="190447" y="1763677"/>
              <a:ext cx="2425989" cy="2880742"/>
            </a:xfrm>
            <a:prstGeom prst="roundRect">
              <a:avLst>
                <a:gd name="adj" fmla="val 7032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Google Shape;1227;p96">
              <a:extLst>
                <a:ext uri="{FF2B5EF4-FFF2-40B4-BE49-F238E27FC236}">
                  <a16:creationId xmlns:a16="http://schemas.microsoft.com/office/drawing/2014/main" id="{E5FA0BF8-DF57-0FE4-73F5-C8DD652DBE44}"/>
                </a:ext>
              </a:extLst>
            </p:cNvPr>
            <p:cNvSpPr/>
            <p:nvPr/>
          </p:nvSpPr>
          <p:spPr>
            <a:xfrm>
              <a:off x="1599735" y="3230984"/>
              <a:ext cx="774496" cy="1000737"/>
            </a:xfrm>
            <a:prstGeom prst="leftUpArrow">
              <a:avLst>
                <a:gd name="adj1" fmla="val 18061"/>
                <a:gd name="adj2" fmla="val 16462"/>
                <a:gd name="adj3" fmla="val 177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6" name="Google Shape;1229;p96">
              <a:extLst>
                <a:ext uri="{FF2B5EF4-FFF2-40B4-BE49-F238E27FC236}">
                  <a16:creationId xmlns:a16="http://schemas.microsoft.com/office/drawing/2014/main" id="{0659F967-4DD2-020E-5923-8A1256F076CA}"/>
                </a:ext>
              </a:extLst>
            </p:cNvPr>
            <p:cNvGrpSpPr/>
            <p:nvPr/>
          </p:nvGrpSpPr>
          <p:grpSpPr>
            <a:xfrm>
              <a:off x="223445" y="3625233"/>
              <a:ext cx="1396851" cy="923642"/>
              <a:chOff x="7769808" y="3346425"/>
              <a:chExt cx="1302117" cy="861001"/>
            </a:xfrm>
          </p:grpSpPr>
          <p:sp>
            <p:nvSpPr>
              <p:cNvPr id="27" name="Google Shape;1230;p96">
                <a:extLst>
                  <a:ext uri="{FF2B5EF4-FFF2-40B4-BE49-F238E27FC236}">
                    <a16:creationId xmlns:a16="http://schemas.microsoft.com/office/drawing/2014/main" id="{1601C508-A420-6E02-16EA-FD957CE48D3F}"/>
                  </a:ext>
                </a:extLst>
              </p:cNvPr>
              <p:cNvSpPr/>
              <p:nvPr/>
            </p:nvSpPr>
            <p:spPr>
              <a:xfrm>
                <a:off x="7821416" y="3346425"/>
                <a:ext cx="1250509" cy="861001"/>
              </a:xfrm>
              <a:prstGeom prst="roundRect">
                <a:avLst>
                  <a:gd name="adj" fmla="val 13347"/>
                </a:avLst>
              </a:prstGeom>
              <a:solidFill>
                <a:srgbClr val="EFEFEF"/>
              </a:solidFill>
              <a:ln w="1905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8" name="Google Shape;1231;p96" descr="Elder Icon #60510 - Free Icons Library">
                <a:extLst>
                  <a:ext uri="{FF2B5EF4-FFF2-40B4-BE49-F238E27FC236}">
                    <a16:creationId xmlns:a16="http://schemas.microsoft.com/office/drawing/2014/main" id="{9C64221E-7367-AFEF-A28D-1AACCE5360CE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l="26258" t="15380" r="26700" b="15862"/>
              <a:stretch/>
            </p:blipFill>
            <p:spPr>
              <a:xfrm flipH="1">
                <a:off x="8472450" y="3474701"/>
                <a:ext cx="410400" cy="5998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Google Shape;1232;p96">
                <a:extLst>
                  <a:ext uri="{FF2B5EF4-FFF2-40B4-BE49-F238E27FC236}">
                    <a16:creationId xmlns:a16="http://schemas.microsoft.com/office/drawing/2014/main" id="{E8F06BAF-1952-AB2A-609F-42DC2BD87712}"/>
                  </a:ext>
                </a:extLst>
              </p:cNvPr>
              <p:cNvSpPr txBox="1"/>
              <p:nvPr/>
            </p:nvSpPr>
            <p:spPr>
              <a:xfrm>
                <a:off x="7769808" y="3409685"/>
                <a:ext cx="780600" cy="745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" sz="12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MCI/NC Older Users</a:t>
                </a:r>
                <a:endParaRPr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739D8F-A4A3-C67B-999B-AA37AC2E9399}"/>
                </a:ext>
              </a:extLst>
            </p:cNvPr>
            <p:cNvSpPr txBox="1"/>
            <p:nvPr/>
          </p:nvSpPr>
          <p:spPr>
            <a:xfrm>
              <a:off x="477367" y="1496281"/>
              <a:ext cx="18801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I-CONECT Clinical Trial</a:t>
              </a:r>
            </a:p>
          </p:txBody>
        </p:sp>
        <p:sp>
          <p:nvSpPr>
            <p:cNvPr id="31" name="Google Shape;1221;p96">
              <a:extLst>
                <a:ext uri="{FF2B5EF4-FFF2-40B4-BE49-F238E27FC236}">
                  <a16:creationId xmlns:a16="http://schemas.microsoft.com/office/drawing/2014/main" id="{EDAF1689-D1A4-3BB4-CA7B-1A7DB49C6A4B}"/>
                </a:ext>
              </a:extLst>
            </p:cNvPr>
            <p:cNvSpPr/>
            <p:nvPr/>
          </p:nvSpPr>
          <p:spPr>
            <a:xfrm>
              <a:off x="1343773" y="2637746"/>
              <a:ext cx="1237429" cy="649029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Trained Interviewers</a:t>
              </a:r>
              <a:endParaRPr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Bent Arrow 31">
              <a:extLst>
                <a:ext uri="{FF2B5EF4-FFF2-40B4-BE49-F238E27FC236}">
                  <a16:creationId xmlns:a16="http://schemas.microsoft.com/office/drawing/2014/main" id="{96472C8A-CF29-B882-44C5-05D6F5E86382}"/>
                </a:ext>
              </a:extLst>
            </p:cNvPr>
            <p:cNvSpPr/>
            <p:nvPr/>
          </p:nvSpPr>
          <p:spPr>
            <a:xfrm rot="5400000">
              <a:off x="1474286" y="1891131"/>
              <a:ext cx="437432" cy="1026236"/>
            </a:xfrm>
            <a:prstGeom prst="bentArrow">
              <a:avLst>
                <a:gd name="adj1" fmla="val 71263"/>
                <a:gd name="adj2" fmla="val 50000"/>
                <a:gd name="adj3" fmla="val 22589"/>
                <a:gd name="adj4" fmla="val 63034"/>
              </a:avLst>
            </a:prstGeom>
            <a:gradFill flip="none" rotWithShape="1">
              <a:gsLst>
                <a:gs pos="78000">
                  <a:srgbClr val="BBCFAD"/>
                </a:gs>
                <a:gs pos="0">
                  <a:srgbClr val="CCCCCC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578CF60-341C-4C87-A8C3-6FFEBD47A9CD}"/>
                </a:ext>
              </a:extLst>
            </p:cNvPr>
            <p:cNvSpPr txBox="1"/>
            <p:nvPr/>
          </p:nvSpPr>
          <p:spPr>
            <a:xfrm>
              <a:off x="4127105" y="1500664"/>
              <a:ext cx="24272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RLHF for Protocol Compliance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16A8E439-80C8-200B-4FA1-0447FE18D9E5}"/>
                </a:ext>
              </a:extLst>
            </p:cNvPr>
            <p:cNvSpPr/>
            <p:nvPr/>
          </p:nvSpPr>
          <p:spPr>
            <a:xfrm>
              <a:off x="2812414" y="3522392"/>
              <a:ext cx="2528325" cy="1122027"/>
            </a:xfrm>
            <a:prstGeom prst="roundRect">
              <a:avLst>
                <a:gd name="adj" fmla="val 7032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DA9E1DD-EFC2-1C30-B714-DBCC610800EB}"/>
                </a:ext>
              </a:extLst>
            </p:cNvPr>
            <p:cNvSpPr txBox="1"/>
            <p:nvPr/>
          </p:nvSpPr>
          <p:spPr>
            <a:xfrm>
              <a:off x="3107188" y="4645799"/>
              <a:ext cx="19992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Conversation Simulation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A11F936-A0F6-0B21-8F1A-BDEA74A0378A}"/>
                </a:ext>
              </a:extLst>
            </p:cNvPr>
            <p:cNvSpPr txBox="1"/>
            <p:nvPr/>
          </p:nvSpPr>
          <p:spPr>
            <a:xfrm>
              <a:off x="3021700" y="2181084"/>
              <a:ext cx="7617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Prompt</a:t>
              </a:r>
            </a:p>
          </p:txBody>
        </p:sp>
        <p:sp>
          <p:nvSpPr>
            <p:cNvPr id="24" name="Google Shape;1221;p96">
              <a:extLst>
                <a:ext uri="{FF2B5EF4-FFF2-40B4-BE49-F238E27FC236}">
                  <a16:creationId xmlns:a16="http://schemas.microsoft.com/office/drawing/2014/main" id="{F7C3078E-11CF-350F-7F3A-B96D8D9EB8F8}"/>
                </a:ext>
              </a:extLst>
            </p:cNvPr>
            <p:cNvSpPr/>
            <p:nvPr/>
          </p:nvSpPr>
          <p:spPr>
            <a:xfrm>
              <a:off x="269765" y="1866714"/>
              <a:ext cx="1059399" cy="1036602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Clinical Protocol</a:t>
              </a: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348962-6BCB-1CF1-3067-9CD90025B15E}"/>
                </a:ext>
              </a:extLst>
            </p:cNvPr>
            <p:cNvSpPr txBox="1"/>
            <p:nvPr/>
          </p:nvSpPr>
          <p:spPr>
            <a:xfrm>
              <a:off x="5682091" y="2697035"/>
              <a:ext cx="5851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Train</a:t>
              </a:r>
            </a:p>
          </p:txBody>
        </p:sp>
        <p:sp>
          <p:nvSpPr>
            <p:cNvPr id="25" name="Google Shape;1228;p96">
              <a:extLst>
                <a:ext uri="{FF2B5EF4-FFF2-40B4-BE49-F238E27FC236}">
                  <a16:creationId xmlns:a16="http://schemas.microsoft.com/office/drawing/2014/main" id="{A0BC3792-3A08-83CC-4989-14A8DFB99C2F}"/>
                </a:ext>
              </a:extLst>
            </p:cNvPr>
            <p:cNvSpPr/>
            <p:nvPr/>
          </p:nvSpPr>
          <p:spPr>
            <a:xfrm>
              <a:off x="2235612" y="3883449"/>
              <a:ext cx="691810" cy="407210"/>
            </a:xfrm>
            <a:prstGeom prst="rightArrow">
              <a:avLst>
                <a:gd name="adj1" fmla="val 69303"/>
                <a:gd name="adj2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3" name="Google Shape;1241;p96">
              <a:extLst>
                <a:ext uri="{FF2B5EF4-FFF2-40B4-BE49-F238E27FC236}">
                  <a16:creationId xmlns:a16="http://schemas.microsoft.com/office/drawing/2014/main" id="{A626F5E6-7EB1-64C8-9C3D-EC757D5EA954}"/>
                </a:ext>
              </a:extLst>
            </p:cNvPr>
            <p:cNvGrpSpPr/>
            <p:nvPr/>
          </p:nvGrpSpPr>
          <p:grpSpPr>
            <a:xfrm>
              <a:off x="1913509" y="3809879"/>
              <a:ext cx="555280" cy="554351"/>
              <a:chOff x="7540309" y="2735044"/>
              <a:chExt cx="517622" cy="516756"/>
            </a:xfrm>
          </p:grpSpPr>
          <p:sp>
            <p:nvSpPr>
              <p:cNvPr id="34" name="Google Shape;1242;p96">
                <a:extLst>
                  <a:ext uri="{FF2B5EF4-FFF2-40B4-BE49-F238E27FC236}">
                    <a16:creationId xmlns:a16="http://schemas.microsoft.com/office/drawing/2014/main" id="{EA3C881B-EB52-4442-B137-65DEE2628BA2}"/>
                  </a:ext>
                </a:extLst>
              </p:cNvPr>
              <p:cNvSpPr/>
              <p:nvPr/>
            </p:nvSpPr>
            <p:spPr>
              <a:xfrm>
                <a:off x="7540309" y="2735044"/>
                <a:ext cx="517622" cy="516756"/>
              </a:xfrm>
              <a:prstGeom prst="roundRect">
                <a:avLst>
                  <a:gd name="adj" fmla="val 24855"/>
                </a:avLst>
              </a:prstGeom>
              <a:solidFill>
                <a:srgbClr val="BACAE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2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5" name="Google Shape;1243;p96" descr="59,432 Conversation Icons - Free in SVG, PNG, ICO - IconScout">
                <a:extLst>
                  <a:ext uri="{FF2B5EF4-FFF2-40B4-BE49-F238E27FC236}">
                    <a16:creationId xmlns:a16="http://schemas.microsoft.com/office/drawing/2014/main" id="{8F344BBD-6BA7-0600-5F55-B24E4CCBF4C8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635963" y="2844651"/>
                <a:ext cx="331500" cy="33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335C87C-F172-EEE5-3BA7-83CE35CAAA3E}"/>
                </a:ext>
              </a:extLst>
            </p:cNvPr>
            <p:cNvGrpSpPr/>
            <p:nvPr/>
          </p:nvGrpSpPr>
          <p:grpSpPr>
            <a:xfrm>
              <a:off x="5366458" y="2990040"/>
              <a:ext cx="1220174" cy="1291161"/>
              <a:chOff x="5180946" y="2987528"/>
              <a:chExt cx="1396664" cy="1291161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5C5A1B0-0EC2-CB5B-8848-98D854697D51}"/>
                  </a:ext>
                </a:extLst>
              </p:cNvPr>
              <p:cNvGrpSpPr/>
              <p:nvPr/>
            </p:nvGrpSpPr>
            <p:grpSpPr>
              <a:xfrm>
                <a:off x="5180946" y="2987528"/>
                <a:ext cx="1396664" cy="958145"/>
                <a:chOff x="6011919" y="2233342"/>
                <a:chExt cx="1732025" cy="958145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63F83D6-C2B6-8CFF-19B9-1786AC9AF4C1}"/>
                    </a:ext>
                  </a:extLst>
                </p:cNvPr>
                <p:cNvGrpSpPr/>
                <p:nvPr/>
              </p:nvGrpSpPr>
              <p:grpSpPr>
                <a:xfrm>
                  <a:off x="6011919" y="2233342"/>
                  <a:ext cx="1725967" cy="627895"/>
                  <a:chOff x="3203732" y="2187585"/>
                  <a:chExt cx="1725967" cy="627895"/>
                </a:xfrm>
              </p:grpSpPr>
              <p:sp>
                <p:nvSpPr>
                  <p:cNvPr id="16" name="Google Shape;1098;p91">
                    <a:extLst>
                      <a:ext uri="{FF2B5EF4-FFF2-40B4-BE49-F238E27FC236}">
                        <a16:creationId xmlns:a16="http://schemas.microsoft.com/office/drawing/2014/main" id="{E4372542-54CC-7ABB-34C5-9ED488E49091}"/>
                      </a:ext>
                    </a:extLst>
                  </p:cNvPr>
                  <p:cNvSpPr/>
                  <p:nvPr/>
                </p:nvSpPr>
                <p:spPr>
                  <a:xfrm>
                    <a:off x="3208572" y="2187585"/>
                    <a:ext cx="1721127" cy="3020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AD1DC">
                      <a:alpha val="75000"/>
                    </a:srgbClr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algn="ctr"/>
                    <a:r>
                      <a:rPr lang="en" sz="11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Reminiscence</a:t>
                    </a:r>
                    <a:endParaRPr sz="11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" name="Google Shape;1100;p91">
                    <a:extLst>
                      <a:ext uri="{FF2B5EF4-FFF2-40B4-BE49-F238E27FC236}">
                        <a16:creationId xmlns:a16="http://schemas.microsoft.com/office/drawing/2014/main" id="{8F888A87-72F5-D180-177A-D0F6BFFE2E04}"/>
                      </a:ext>
                    </a:extLst>
                  </p:cNvPr>
                  <p:cNvSpPr/>
                  <p:nvPr/>
                </p:nvSpPr>
                <p:spPr>
                  <a:xfrm>
                    <a:off x="3203732" y="2513384"/>
                    <a:ext cx="1721127" cy="3020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AD1DC">
                      <a:alpha val="75000"/>
                    </a:srgbClr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algn="ctr"/>
                    <a:r>
                      <a:rPr lang="en" sz="11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Engagement</a:t>
                    </a:r>
                    <a:endParaRPr sz="11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" name="Google Shape;1100;p91">
                  <a:extLst>
                    <a:ext uri="{FF2B5EF4-FFF2-40B4-BE49-F238E27FC236}">
                      <a16:creationId xmlns:a16="http://schemas.microsoft.com/office/drawing/2014/main" id="{041B1742-F353-279E-BFA7-F6D23D1323A5}"/>
                    </a:ext>
                  </a:extLst>
                </p:cNvPr>
                <p:cNvSpPr/>
                <p:nvPr/>
              </p:nvSpPr>
              <p:spPr>
                <a:xfrm>
                  <a:off x="6022817" y="2889391"/>
                  <a:ext cx="1721127" cy="30209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AD1DC">
                    <a:alpha val="75000"/>
                  </a:srgbClr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algn="ctr"/>
                  <a:r>
                    <a:rPr lang="en" sz="11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Vocabulary</a:t>
                  </a:r>
                  <a:endParaRPr sz="11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0" name="Google Shape;1100;p91">
                <a:extLst>
                  <a:ext uri="{FF2B5EF4-FFF2-40B4-BE49-F238E27FC236}">
                    <a16:creationId xmlns:a16="http://schemas.microsoft.com/office/drawing/2014/main" id="{35E738B6-1099-F69F-67FE-A8302CEFE515}"/>
                  </a:ext>
                </a:extLst>
              </p:cNvPr>
              <p:cNvSpPr/>
              <p:nvPr/>
            </p:nvSpPr>
            <p:spPr>
              <a:xfrm>
                <a:off x="5189735" y="3976593"/>
                <a:ext cx="1387875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>
                  <a:alpha val="7500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Safety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363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DD80DD6-9C8C-87C9-D892-B2F651CE687F}"/>
              </a:ext>
            </a:extLst>
          </p:cNvPr>
          <p:cNvGrpSpPr/>
          <p:nvPr/>
        </p:nvGrpSpPr>
        <p:grpSpPr>
          <a:xfrm>
            <a:off x="2748158" y="986778"/>
            <a:ext cx="6600094" cy="4743455"/>
            <a:chOff x="2748158" y="986778"/>
            <a:chExt cx="6600094" cy="4743455"/>
          </a:xfrm>
        </p:grpSpPr>
        <p:grpSp>
          <p:nvGrpSpPr>
            <p:cNvPr id="2" name="Google Shape;1222;p96">
              <a:extLst>
                <a:ext uri="{FF2B5EF4-FFF2-40B4-BE49-F238E27FC236}">
                  <a16:creationId xmlns:a16="http://schemas.microsoft.com/office/drawing/2014/main" id="{4DEE4EF8-4E5E-2577-3732-A1C71DC618A8}"/>
                </a:ext>
              </a:extLst>
            </p:cNvPr>
            <p:cNvGrpSpPr/>
            <p:nvPr/>
          </p:nvGrpSpPr>
          <p:grpSpPr>
            <a:xfrm>
              <a:off x="2748158" y="1209540"/>
              <a:ext cx="1468800" cy="800179"/>
              <a:chOff x="2555051" y="1546593"/>
              <a:chExt cx="1369188" cy="745910"/>
            </a:xfrm>
          </p:grpSpPr>
          <p:sp>
            <p:nvSpPr>
              <p:cNvPr id="3" name="Google Shape;1223;p96">
                <a:extLst>
                  <a:ext uri="{FF2B5EF4-FFF2-40B4-BE49-F238E27FC236}">
                    <a16:creationId xmlns:a16="http://schemas.microsoft.com/office/drawing/2014/main" id="{AAA1F565-AC6E-E4CD-B00D-ACAB69D6FE7A}"/>
                  </a:ext>
                </a:extLst>
              </p:cNvPr>
              <p:cNvSpPr/>
              <p:nvPr/>
            </p:nvSpPr>
            <p:spPr>
              <a:xfrm>
                <a:off x="2555051" y="1573606"/>
                <a:ext cx="1337974" cy="695367"/>
              </a:xfrm>
              <a:prstGeom prst="roundRect">
                <a:avLst>
                  <a:gd name="adj" fmla="val 1334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" name="Google Shape;1224;p96">
                <a:extLst>
                  <a:ext uri="{FF2B5EF4-FFF2-40B4-BE49-F238E27FC236}">
                    <a16:creationId xmlns:a16="http://schemas.microsoft.com/office/drawing/2014/main" id="{5698664B-44B3-C141-DCBB-8EC77F1828EB}"/>
                  </a:ext>
                </a:extLst>
              </p:cNvPr>
              <p:cNvSpPr txBox="1"/>
              <p:nvPr/>
            </p:nvSpPr>
            <p:spPr>
              <a:xfrm>
                <a:off x="3062995" y="1546593"/>
                <a:ext cx="861244" cy="7459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r>
                  <a:rPr lang="en-US" sz="12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Trained Chat</a:t>
                </a:r>
              </a:p>
              <a:p>
                <a:r>
                  <a:rPr lang="en-US" sz="12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LLM</a:t>
                </a:r>
                <a:endParaRPr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" name="Google Shape;1225;p96" descr="ChatGPT Logo and symbol, meaning, history, PNG, brand">
                <a:extLst>
                  <a:ext uri="{FF2B5EF4-FFF2-40B4-BE49-F238E27FC236}">
                    <a16:creationId xmlns:a16="http://schemas.microsoft.com/office/drawing/2014/main" id="{D52B448B-F3CB-BA1B-8CF2-FBD879191A65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5319" t="5918" r="25265" b="9292"/>
              <a:stretch/>
            </p:blipFill>
            <p:spPr>
              <a:xfrm>
                <a:off x="2631350" y="1684312"/>
                <a:ext cx="486950" cy="4704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" name="Google Shape;1227;p96">
              <a:extLst>
                <a:ext uri="{FF2B5EF4-FFF2-40B4-BE49-F238E27FC236}">
                  <a16:creationId xmlns:a16="http://schemas.microsoft.com/office/drawing/2014/main" id="{B183C7B0-AAAA-8A4F-6FF3-E4120B5DF9D4}"/>
                </a:ext>
              </a:extLst>
            </p:cNvPr>
            <p:cNvSpPr/>
            <p:nvPr/>
          </p:nvSpPr>
          <p:spPr>
            <a:xfrm rot="16200000">
              <a:off x="4132729" y="1404985"/>
              <a:ext cx="779112" cy="775650"/>
            </a:xfrm>
            <a:prstGeom prst="leftUpArrow">
              <a:avLst>
                <a:gd name="adj1" fmla="val 18061"/>
                <a:gd name="adj2" fmla="val 16462"/>
                <a:gd name="adj3" fmla="val 177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Google Shape;1223;p96">
              <a:extLst>
                <a:ext uri="{FF2B5EF4-FFF2-40B4-BE49-F238E27FC236}">
                  <a16:creationId xmlns:a16="http://schemas.microsoft.com/office/drawing/2014/main" id="{AD814CED-422A-0C57-2628-73AE8C617F30}"/>
                </a:ext>
              </a:extLst>
            </p:cNvPr>
            <p:cNvSpPr/>
            <p:nvPr/>
          </p:nvSpPr>
          <p:spPr>
            <a:xfrm>
              <a:off x="4629898" y="2271767"/>
              <a:ext cx="1233898" cy="745958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Real-time Voice Interface</a:t>
              </a:r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ED25C4B-B782-DC83-BC44-3EEAB57F6ED7}"/>
                </a:ext>
              </a:extLst>
            </p:cNvPr>
            <p:cNvSpPr/>
            <p:nvPr/>
          </p:nvSpPr>
          <p:spPr>
            <a:xfrm>
              <a:off x="4513086" y="2201502"/>
              <a:ext cx="2074939" cy="2474133"/>
            </a:xfrm>
            <a:prstGeom prst="roundRect">
              <a:avLst>
                <a:gd name="adj" fmla="val 7032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Google Shape;1223;p96">
              <a:extLst>
                <a:ext uri="{FF2B5EF4-FFF2-40B4-BE49-F238E27FC236}">
                  <a16:creationId xmlns:a16="http://schemas.microsoft.com/office/drawing/2014/main" id="{B4D955D7-7653-15BF-AE3E-C08DF1CB547B}"/>
                </a:ext>
              </a:extLst>
            </p:cNvPr>
            <p:cNvSpPr/>
            <p:nvPr/>
          </p:nvSpPr>
          <p:spPr>
            <a:xfrm>
              <a:off x="4629898" y="3057752"/>
              <a:ext cx="1233898" cy="745958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Emotionally Responsive Robot</a:t>
              </a:r>
            </a:p>
          </p:txBody>
        </p:sp>
        <p:sp>
          <p:nvSpPr>
            <p:cNvPr id="17" name="Google Shape;1223;p96">
              <a:extLst>
                <a:ext uri="{FF2B5EF4-FFF2-40B4-BE49-F238E27FC236}">
                  <a16:creationId xmlns:a16="http://schemas.microsoft.com/office/drawing/2014/main" id="{09960994-0232-1149-31FB-6C4CFAB01DB8}"/>
                </a:ext>
              </a:extLst>
            </p:cNvPr>
            <p:cNvSpPr/>
            <p:nvPr/>
          </p:nvSpPr>
          <p:spPr>
            <a:xfrm>
              <a:off x="4957999" y="1688650"/>
              <a:ext cx="1858705" cy="302097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Safety Monitoring</a:t>
              </a:r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Graphic 17" descr="Radio microphone outline">
              <a:extLst>
                <a:ext uri="{FF2B5EF4-FFF2-40B4-BE49-F238E27FC236}">
                  <a16:creationId xmlns:a16="http://schemas.microsoft.com/office/drawing/2014/main" id="{3AE3F95F-DAC1-74AF-6B02-89FD1B05C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413351" y="2447928"/>
              <a:ext cx="410792" cy="410792"/>
            </a:xfrm>
            <a:prstGeom prst="rect">
              <a:avLst/>
            </a:prstGeom>
          </p:spPr>
        </p:pic>
        <p:grpSp>
          <p:nvGrpSpPr>
            <p:cNvPr id="19" name="Google Shape;1241;p96">
              <a:extLst>
                <a:ext uri="{FF2B5EF4-FFF2-40B4-BE49-F238E27FC236}">
                  <a16:creationId xmlns:a16="http://schemas.microsoft.com/office/drawing/2014/main" id="{CEF756DC-A9A2-4313-6670-8522B3AD4C91}"/>
                </a:ext>
              </a:extLst>
            </p:cNvPr>
            <p:cNvGrpSpPr/>
            <p:nvPr/>
          </p:nvGrpSpPr>
          <p:grpSpPr>
            <a:xfrm>
              <a:off x="4417479" y="1317315"/>
              <a:ext cx="555280" cy="554351"/>
              <a:chOff x="7540309" y="2735044"/>
              <a:chExt cx="517622" cy="516756"/>
            </a:xfrm>
          </p:grpSpPr>
          <p:sp>
            <p:nvSpPr>
              <p:cNvPr id="20" name="Google Shape;1242;p96">
                <a:extLst>
                  <a:ext uri="{FF2B5EF4-FFF2-40B4-BE49-F238E27FC236}">
                    <a16:creationId xmlns:a16="http://schemas.microsoft.com/office/drawing/2014/main" id="{148A3F76-1341-ED16-2F58-99399CB05D88}"/>
                  </a:ext>
                </a:extLst>
              </p:cNvPr>
              <p:cNvSpPr/>
              <p:nvPr/>
            </p:nvSpPr>
            <p:spPr>
              <a:xfrm>
                <a:off x="7540309" y="2735044"/>
                <a:ext cx="517622" cy="516756"/>
              </a:xfrm>
              <a:prstGeom prst="roundRect">
                <a:avLst>
                  <a:gd name="adj" fmla="val 24855"/>
                </a:avLst>
              </a:prstGeom>
              <a:solidFill>
                <a:srgbClr val="BACAE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 sz="1200" i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Google Shape;1243;p96" descr="59,432 Conversation Icons - Free in SVG, PNG, ICO - IconScout">
                <a:extLst>
                  <a:ext uri="{FF2B5EF4-FFF2-40B4-BE49-F238E27FC236}">
                    <a16:creationId xmlns:a16="http://schemas.microsoft.com/office/drawing/2014/main" id="{A81B6356-CC74-110C-CA0E-91A627E83A6E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635963" y="2844651"/>
                <a:ext cx="331500" cy="33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" name="Google Shape;1229;p96">
              <a:extLst>
                <a:ext uri="{FF2B5EF4-FFF2-40B4-BE49-F238E27FC236}">
                  <a16:creationId xmlns:a16="http://schemas.microsoft.com/office/drawing/2014/main" id="{DAA4E6E6-E9B5-6977-8895-BB5F52121AA1}"/>
                </a:ext>
              </a:extLst>
            </p:cNvPr>
            <p:cNvGrpSpPr/>
            <p:nvPr/>
          </p:nvGrpSpPr>
          <p:grpSpPr>
            <a:xfrm>
              <a:off x="7627126" y="2896259"/>
              <a:ext cx="1721126" cy="923642"/>
              <a:chOff x="7467525" y="3346425"/>
              <a:chExt cx="1604400" cy="861001"/>
            </a:xfrm>
          </p:grpSpPr>
          <p:sp>
            <p:nvSpPr>
              <p:cNvPr id="24" name="Google Shape;1230;p96">
                <a:extLst>
                  <a:ext uri="{FF2B5EF4-FFF2-40B4-BE49-F238E27FC236}">
                    <a16:creationId xmlns:a16="http://schemas.microsoft.com/office/drawing/2014/main" id="{CD5BC9C4-6B34-8723-FFDC-B1239B6C7C83}"/>
                  </a:ext>
                </a:extLst>
              </p:cNvPr>
              <p:cNvSpPr/>
              <p:nvPr/>
            </p:nvSpPr>
            <p:spPr>
              <a:xfrm>
                <a:off x="7467525" y="3346425"/>
                <a:ext cx="1604400" cy="861001"/>
              </a:xfrm>
              <a:prstGeom prst="roundRect">
                <a:avLst>
                  <a:gd name="adj" fmla="val 13347"/>
                </a:avLst>
              </a:prstGeom>
              <a:solidFill>
                <a:srgbClr val="EFEFEF"/>
              </a:solidFill>
              <a:ln w="1905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5" name="Google Shape;1231;p96" descr="Elder Icon #60510 - Free Icons Library">
                <a:extLst>
                  <a:ext uri="{FF2B5EF4-FFF2-40B4-BE49-F238E27FC236}">
                    <a16:creationId xmlns:a16="http://schemas.microsoft.com/office/drawing/2014/main" id="{61C9D47D-BCCF-19B1-4341-DB57A345B241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l="26258" t="15380" r="26700" b="15862"/>
              <a:stretch/>
            </p:blipFill>
            <p:spPr>
              <a:xfrm flipH="1">
                <a:off x="8472450" y="3474701"/>
                <a:ext cx="410400" cy="5998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" name="Google Shape;1232;p96">
                <a:extLst>
                  <a:ext uri="{FF2B5EF4-FFF2-40B4-BE49-F238E27FC236}">
                    <a16:creationId xmlns:a16="http://schemas.microsoft.com/office/drawing/2014/main" id="{C00AE310-8BD5-D09D-7649-E246D5B1FAB1}"/>
                  </a:ext>
                </a:extLst>
              </p:cNvPr>
              <p:cNvSpPr txBox="1"/>
              <p:nvPr/>
            </p:nvSpPr>
            <p:spPr>
              <a:xfrm>
                <a:off x="7579607" y="3409685"/>
                <a:ext cx="780600" cy="745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" sz="12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MCI/NC Older Users</a:t>
                </a:r>
                <a:endParaRPr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Up-Down Arrow 26">
              <a:extLst>
                <a:ext uri="{FF2B5EF4-FFF2-40B4-BE49-F238E27FC236}">
                  <a16:creationId xmlns:a16="http://schemas.microsoft.com/office/drawing/2014/main" id="{31B26A53-5A16-DDA0-6CCA-9BD572E3B151}"/>
                </a:ext>
              </a:extLst>
            </p:cNvPr>
            <p:cNvSpPr/>
            <p:nvPr/>
          </p:nvSpPr>
          <p:spPr>
            <a:xfrm rot="16200000">
              <a:off x="6581973" y="1884876"/>
              <a:ext cx="261227" cy="1536896"/>
            </a:xfrm>
            <a:prstGeom prst="upDownArrow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Google Shape;1223;p96">
              <a:extLst>
                <a:ext uri="{FF2B5EF4-FFF2-40B4-BE49-F238E27FC236}">
                  <a16:creationId xmlns:a16="http://schemas.microsoft.com/office/drawing/2014/main" id="{F8A14EDE-F4C5-92C2-4BF5-6C84EF32D738}"/>
                </a:ext>
              </a:extLst>
            </p:cNvPr>
            <p:cNvSpPr/>
            <p:nvPr/>
          </p:nvSpPr>
          <p:spPr>
            <a:xfrm>
              <a:off x="3062284" y="2681846"/>
              <a:ext cx="1233898" cy="745958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User’s  Editing Instruction</a:t>
              </a:r>
            </a:p>
          </p:txBody>
        </p:sp>
        <p:sp>
          <p:nvSpPr>
            <p:cNvPr id="33" name="Google Shape;1223;p96">
              <a:extLst>
                <a:ext uri="{FF2B5EF4-FFF2-40B4-BE49-F238E27FC236}">
                  <a16:creationId xmlns:a16="http://schemas.microsoft.com/office/drawing/2014/main" id="{55A99EE1-A717-283D-C2ED-806956433B78}"/>
                </a:ext>
              </a:extLst>
            </p:cNvPr>
            <p:cNvSpPr/>
            <p:nvPr/>
          </p:nvSpPr>
          <p:spPr>
            <a:xfrm>
              <a:off x="3062284" y="3806298"/>
              <a:ext cx="1233898" cy="745958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Memory Image Generation</a:t>
              </a:r>
            </a:p>
          </p:txBody>
        </p:sp>
        <p:sp>
          <p:nvSpPr>
            <p:cNvPr id="35" name="Up-Down Arrow 34">
              <a:extLst>
                <a:ext uri="{FF2B5EF4-FFF2-40B4-BE49-F238E27FC236}">
                  <a16:creationId xmlns:a16="http://schemas.microsoft.com/office/drawing/2014/main" id="{BAAAD7CA-EB03-74C1-CCC5-80877C2CCC70}"/>
                </a:ext>
              </a:extLst>
            </p:cNvPr>
            <p:cNvSpPr/>
            <p:nvPr/>
          </p:nvSpPr>
          <p:spPr>
            <a:xfrm rot="16200000">
              <a:off x="6689077" y="3374543"/>
              <a:ext cx="261227" cy="1751104"/>
            </a:xfrm>
            <a:prstGeom prst="upDownArrow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Google Shape;1242;p96">
              <a:extLst>
                <a:ext uri="{FF2B5EF4-FFF2-40B4-BE49-F238E27FC236}">
                  <a16:creationId xmlns:a16="http://schemas.microsoft.com/office/drawing/2014/main" id="{82E47FB7-03A7-7D78-2B2E-3A5B0EBEC12B}"/>
                </a:ext>
              </a:extLst>
            </p:cNvPr>
            <p:cNvSpPr/>
            <p:nvPr/>
          </p:nvSpPr>
          <p:spPr>
            <a:xfrm>
              <a:off x="6186617" y="3972919"/>
              <a:ext cx="1294416" cy="554351"/>
            </a:xfrm>
            <a:prstGeom prst="roundRect">
              <a:avLst>
                <a:gd name="adj" fmla="val 24855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1200" i="1" dirty="0">
                  <a:latin typeface="Arial" panose="020B0604020202020204" pitchFamily="34" charset="0"/>
                  <a:cs typeface="Arial" panose="020B0604020202020204" pitchFamily="34" charset="0"/>
                </a:rPr>
                <a:t>Interact: </a:t>
              </a:r>
            </a:p>
            <a:p>
              <a:pPr algn="ctr"/>
              <a:r>
                <a:rPr lang="en-US" sz="1200" i="1" dirty="0">
                  <a:latin typeface="Arial" panose="020B0604020202020204" pitchFamily="34" charset="0"/>
                  <a:cs typeface="Arial" panose="020B0604020202020204" pitchFamily="34" charset="0"/>
                </a:rPr>
                <a:t>Move left/right</a:t>
              </a:r>
              <a:endParaRPr sz="12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Up-Down Arrow 44">
              <a:extLst>
                <a:ext uri="{FF2B5EF4-FFF2-40B4-BE49-F238E27FC236}">
                  <a16:creationId xmlns:a16="http://schemas.microsoft.com/office/drawing/2014/main" id="{85B08B53-D22C-530A-E3EF-AFD43ED18AB3}"/>
                </a:ext>
              </a:extLst>
            </p:cNvPr>
            <p:cNvSpPr/>
            <p:nvPr/>
          </p:nvSpPr>
          <p:spPr>
            <a:xfrm>
              <a:off x="8357076" y="2029718"/>
              <a:ext cx="261227" cy="823588"/>
            </a:xfrm>
            <a:prstGeom prst="upDownArrow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Google Shape;1220;p96">
              <a:extLst>
                <a:ext uri="{FF2B5EF4-FFF2-40B4-BE49-F238E27FC236}">
                  <a16:creationId xmlns:a16="http://schemas.microsoft.com/office/drawing/2014/main" id="{22DC1E0E-BE91-CC88-73E4-0C2F9625C978}"/>
                </a:ext>
              </a:extLst>
            </p:cNvPr>
            <p:cNvSpPr/>
            <p:nvPr/>
          </p:nvSpPr>
          <p:spPr>
            <a:xfrm>
              <a:off x="6919592" y="1534177"/>
              <a:ext cx="775650" cy="514035"/>
            </a:xfrm>
            <a:prstGeom prst="rightArrow">
              <a:avLst>
                <a:gd name="adj1" fmla="val 50000"/>
                <a:gd name="adj2" fmla="val 56179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Alert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Google Shape;1221;p96">
              <a:extLst>
                <a:ext uri="{FF2B5EF4-FFF2-40B4-BE49-F238E27FC236}">
                  <a16:creationId xmlns:a16="http://schemas.microsoft.com/office/drawing/2014/main" id="{D05C6D49-68DB-CDD2-A906-FFE39CB5F399}"/>
                </a:ext>
              </a:extLst>
            </p:cNvPr>
            <p:cNvSpPr/>
            <p:nvPr/>
          </p:nvSpPr>
          <p:spPr>
            <a:xfrm>
              <a:off x="7797942" y="1544170"/>
              <a:ext cx="1379494" cy="506848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Study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Staff</a:t>
              </a:r>
              <a:endParaRPr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Google Shape;1223;p96">
              <a:extLst>
                <a:ext uri="{FF2B5EF4-FFF2-40B4-BE49-F238E27FC236}">
                  <a16:creationId xmlns:a16="http://schemas.microsoft.com/office/drawing/2014/main" id="{9D4755E5-44F7-E522-3439-07300452AE05}"/>
                </a:ext>
              </a:extLst>
            </p:cNvPr>
            <p:cNvSpPr/>
            <p:nvPr/>
          </p:nvSpPr>
          <p:spPr>
            <a:xfrm>
              <a:off x="7828385" y="2271767"/>
              <a:ext cx="1318609" cy="302097"/>
            </a:xfrm>
            <a:prstGeom prst="roundRect">
              <a:avLst>
                <a:gd name="adj" fmla="val 25454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Check-in</a:t>
              </a:r>
              <a:r>
                <a:rPr lang="zh-CN" alt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Call</a:t>
              </a:r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6D3EFDD-55D3-B8C3-3235-D71BA5555567}"/>
                </a:ext>
              </a:extLst>
            </p:cNvPr>
            <p:cNvGrpSpPr/>
            <p:nvPr/>
          </p:nvGrpSpPr>
          <p:grpSpPr>
            <a:xfrm>
              <a:off x="5160743" y="986778"/>
              <a:ext cx="1427282" cy="639324"/>
              <a:chOff x="6022817" y="2552163"/>
              <a:chExt cx="1721127" cy="639324"/>
            </a:xfrm>
          </p:grpSpPr>
          <p:sp>
            <p:nvSpPr>
              <p:cNvPr id="52" name="Google Shape;1098;p91">
                <a:extLst>
                  <a:ext uri="{FF2B5EF4-FFF2-40B4-BE49-F238E27FC236}">
                    <a16:creationId xmlns:a16="http://schemas.microsoft.com/office/drawing/2014/main" id="{550318AD-C8E0-FFD1-0BD6-6AC620556C98}"/>
                  </a:ext>
                </a:extLst>
              </p:cNvPr>
              <p:cNvSpPr/>
              <p:nvPr/>
            </p:nvSpPr>
            <p:spPr>
              <a:xfrm>
                <a:off x="6022819" y="2552163"/>
                <a:ext cx="1721125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Negative</a:t>
                </a:r>
                <a:r>
                  <a:rPr lang="zh-CN" altLang="en-US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Emotion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Google Shape;1100;p91">
                <a:extLst>
                  <a:ext uri="{FF2B5EF4-FFF2-40B4-BE49-F238E27FC236}">
                    <a16:creationId xmlns:a16="http://schemas.microsoft.com/office/drawing/2014/main" id="{D4182C92-D396-156E-8D85-AAC5314C1ACD}"/>
                  </a:ext>
                </a:extLst>
              </p:cNvPr>
              <p:cNvSpPr/>
              <p:nvPr/>
            </p:nvSpPr>
            <p:spPr>
              <a:xfrm>
                <a:off x="6022817" y="2889391"/>
                <a:ext cx="1721127" cy="302096"/>
              </a:xfrm>
              <a:prstGeom prst="roundRect">
                <a:avLst>
                  <a:gd name="adj" fmla="val 16667"/>
                </a:avLst>
              </a:prstGeom>
              <a:solidFill>
                <a:srgbClr val="EAD1D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/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Harmful</a:t>
                </a:r>
                <a:r>
                  <a:rPr lang="zh-CN" altLang="en-US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1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  <a:endParaRPr sz="11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A896B52-B596-6CAC-F02D-BC25BF343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78605" y="4571392"/>
              <a:ext cx="2752248" cy="1158841"/>
            </a:xfrm>
            <a:prstGeom prst="rect">
              <a:avLst/>
            </a:prstGeom>
          </p:spPr>
        </p:pic>
        <p:sp>
          <p:nvSpPr>
            <p:cNvPr id="55" name="Up-Down Arrow 54">
              <a:extLst>
                <a:ext uri="{FF2B5EF4-FFF2-40B4-BE49-F238E27FC236}">
                  <a16:creationId xmlns:a16="http://schemas.microsoft.com/office/drawing/2014/main" id="{8A61BCF7-6525-BEFE-7348-6381AA632EC4}"/>
                </a:ext>
              </a:extLst>
            </p:cNvPr>
            <p:cNvSpPr/>
            <p:nvPr/>
          </p:nvSpPr>
          <p:spPr>
            <a:xfrm rot="16200000">
              <a:off x="6576965" y="2633887"/>
              <a:ext cx="261227" cy="1546913"/>
            </a:xfrm>
            <a:prstGeom prst="upDownArrow">
              <a:avLst/>
            </a:prstGeom>
            <a:solidFill>
              <a:schemeClr val="bg2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82207B3-1397-418A-37C3-02379D9506AC}"/>
                </a:ext>
              </a:extLst>
            </p:cNvPr>
            <p:cNvSpPr/>
            <p:nvPr/>
          </p:nvSpPr>
          <p:spPr>
            <a:xfrm>
              <a:off x="6155422" y="2352639"/>
              <a:ext cx="872568" cy="658413"/>
            </a:xfrm>
            <a:prstGeom prst="roundRect">
              <a:avLst>
                <a:gd name="adj" fmla="val 9249"/>
              </a:avLst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1A8525-6C0D-EF2D-F6D9-5C46939A4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72981" y="3001244"/>
              <a:ext cx="630087" cy="825114"/>
            </a:xfrm>
            <a:prstGeom prst="rect">
              <a:avLst/>
            </a:prstGeom>
          </p:spPr>
        </p:pic>
        <p:sp>
          <p:nvSpPr>
            <p:cNvPr id="56" name="Google Shape;1220;p96">
              <a:extLst>
                <a:ext uri="{FF2B5EF4-FFF2-40B4-BE49-F238E27FC236}">
                  <a16:creationId xmlns:a16="http://schemas.microsoft.com/office/drawing/2014/main" id="{B27C4855-5EF6-ADE9-2E7E-BD215242E67C}"/>
                </a:ext>
              </a:extLst>
            </p:cNvPr>
            <p:cNvSpPr/>
            <p:nvPr/>
          </p:nvSpPr>
          <p:spPr>
            <a:xfrm rot="7564868">
              <a:off x="3875185" y="2180706"/>
              <a:ext cx="747679" cy="174351"/>
            </a:xfrm>
            <a:prstGeom prst="rightArrow">
              <a:avLst>
                <a:gd name="adj1" fmla="val 50000"/>
                <a:gd name="adj2" fmla="val 56179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Google Shape;1220;p96">
              <a:extLst>
                <a:ext uri="{FF2B5EF4-FFF2-40B4-BE49-F238E27FC236}">
                  <a16:creationId xmlns:a16="http://schemas.microsoft.com/office/drawing/2014/main" id="{DAAF75E9-5899-11B7-802C-D93C38CB9BA9}"/>
                </a:ext>
              </a:extLst>
            </p:cNvPr>
            <p:cNvSpPr/>
            <p:nvPr/>
          </p:nvSpPr>
          <p:spPr>
            <a:xfrm rot="5400000">
              <a:off x="3526677" y="3547698"/>
              <a:ext cx="305113" cy="174351"/>
            </a:xfrm>
            <a:prstGeom prst="rightArrow">
              <a:avLst>
                <a:gd name="adj1" fmla="val 50000"/>
                <a:gd name="adj2" fmla="val 56179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Google Shape;1220;p96">
              <a:extLst>
                <a:ext uri="{FF2B5EF4-FFF2-40B4-BE49-F238E27FC236}">
                  <a16:creationId xmlns:a16="http://schemas.microsoft.com/office/drawing/2014/main" id="{043E0E2F-7DC9-29AF-3919-879C5CD0EFA2}"/>
                </a:ext>
              </a:extLst>
            </p:cNvPr>
            <p:cNvSpPr/>
            <p:nvPr/>
          </p:nvSpPr>
          <p:spPr>
            <a:xfrm>
              <a:off x="4334062" y="4100376"/>
              <a:ext cx="305113" cy="174351"/>
            </a:xfrm>
            <a:prstGeom prst="rightArrow">
              <a:avLst>
                <a:gd name="adj1" fmla="val 50000"/>
                <a:gd name="adj2" fmla="val 56179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Google Shape;1223;p96">
              <a:extLst>
                <a:ext uri="{FF2B5EF4-FFF2-40B4-BE49-F238E27FC236}">
                  <a16:creationId xmlns:a16="http://schemas.microsoft.com/office/drawing/2014/main" id="{6EBDFC33-D9A4-95BA-FA4B-03CDB159BDE3}"/>
                </a:ext>
              </a:extLst>
            </p:cNvPr>
            <p:cNvSpPr/>
            <p:nvPr/>
          </p:nvSpPr>
          <p:spPr>
            <a:xfrm>
              <a:off x="4629898" y="3843736"/>
              <a:ext cx="1233898" cy="745958"/>
            </a:xfrm>
            <a:prstGeom prst="roundRect">
              <a:avLst>
                <a:gd name="adj" fmla="val 13347"/>
              </a:avLst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3D Memory Scene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E8D5AAF-7F36-B20C-321A-329A7125C394}"/>
                </a:ext>
              </a:extLst>
            </p:cNvPr>
            <p:cNvSpPr txBox="1"/>
            <p:nvPr/>
          </p:nvSpPr>
          <p:spPr>
            <a:xfrm>
              <a:off x="4668557" y="1933073"/>
              <a:ext cx="19239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Multimodal Interface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7603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229;p96">
            <a:extLst>
              <a:ext uri="{FF2B5EF4-FFF2-40B4-BE49-F238E27FC236}">
                <a16:creationId xmlns:a16="http://schemas.microsoft.com/office/drawing/2014/main" id="{060AC353-FEC9-9ED0-5017-160A622745E9}"/>
              </a:ext>
            </a:extLst>
          </p:cNvPr>
          <p:cNvGrpSpPr/>
          <p:nvPr/>
        </p:nvGrpSpPr>
        <p:grpSpPr>
          <a:xfrm>
            <a:off x="7634212" y="837987"/>
            <a:ext cx="1721126" cy="923642"/>
            <a:chOff x="7467525" y="3346425"/>
            <a:chExt cx="1604400" cy="861001"/>
          </a:xfrm>
        </p:grpSpPr>
        <p:sp>
          <p:nvSpPr>
            <p:cNvPr id="9" name="Google Shape;1230;p96">
              <a:extLst>
                <a:ext uri="{FF2B5EF4-FFF2-40B4-BE49-F238E27FC236}">
                  <a16:creationId xmlns:a16="http://schemas.microsoft.com/office/drawing/2014/main" id="{86F7665E-DB73-F757-6E89-7C9D00B4BBE0}"/>
                </a:ext>
              </a:extLst>
            </p:cNvPr>
            <p:cNvSpPr/>
            <p:nvPr/>
          </p:nvSpPr>
          <p:spPr>
            <a:xfrm>
              <a:off x="7467525" y="3346425"/>
              <a:ext cx="1604400" cy="861001"/>
            </a:xfrm>
            <a:prstGeom prst="roundRect">
              <a:avLst>
                <a:gd name="adj" fmla="val 13347"/>
              </a:avLst>
            </a:prstGeom>
            <a:solidFill>
              <a:srgbClr val="EFEFE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Google Shape;1231;p96" descr="Elder Icon #60510 - Free Icons Library">
              <a:extLst>
                <a:ext uri="{FF2B5EF4-FFF2-40B4-BE49-F238E27FC236}">
                  <a16:creationId xmlns:a16="http://schemas.microsoft.com/office/drawing/2014/main" id="{430E082E-CC80-2AD7-126A-031BFBC525B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26258" t="15380" r="26700" b="15862"/>
            <a:stretch/>
          </p:blipFill>
          <p:spPr>
            <a:xfrm flipH="1">
              <a:off x="8472450" y="3474701"/>
              <a:ext cx="410400" cy="599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232;p96">
              <a:extLst>
                <a:ext uri="{FF2B5EF4-FFF2-40B4-BE49-F238E27FC236}">
                  <a16:creationId xmlns:a16="http://schemas.microsoft.com/office/drawing/2014/main" id="{356FBC2B-ED8E-CCC9-64B2-F6F46B2DC399}"/>
                </a:ext>
              </a:extLst>
            </p:cNvPr>
            <p:cNvSpPr txBox="1"/>
            <p:nvPr/>
          </p:nvSpPr>
          <p:spPr>
            <a:xfrm>
              <a:off x="7579607" y="3409685"/>
              <a:ext cx="780600" cy="745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MCI/NC Older Users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Down Arrow 11">
            <a:extLst>
              <a:ext uri="{FF2B5EF4-FFF2-40B4-BE49-F238E27FC236}">
                <a16:creationId xmlns:a16="http://schemas.microsoft.com/office/drawing/2014/main" id="{470690CF-5E54-F864-3EEF-C9CD82B33253}"/>
              </a:ext>
            </a:extLst>
          </p:cNvPr>
          <p:cNvSpPr/>
          <p:nvPr/>
        </p:nvSpPr>
        <p:spPr>
          <a:xfrm rot="5400000">
            <a:off x="6697037" y="703139"/>
            <a:ext cx="314367" cy="7197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1223;p96">
            <a:extLst>
              <a:ext uri="{FF2B5EF4-FFF2-40B4-BE49-F238E27FC236}">
                <a16:creationId xmlns:a16="http://schemas.microsoft.com/office/drawing/2014/main" id="{17E5CD64-D554-3D07-678C-3CBBECAE7176}"/>
              </a:ext>
            </a:extLst>
          </p:cNvPr>
          <p:cNvSpPr/>
          <p:nvPr/>
        </p:nvSpPr>
        <p:spPr>
          <a:xfrm>
            <a:off x="4575417" y="911983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 image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oogle Shape;1222;p96">
            <a:extLst>
              <a:ext uri="{FF2B5EF4-FFF2-40B4-BE49-F238E27FC236}">
                <a16:creationId xmlns:a16="http://schemas.microsoft.com/office/drawing/2014/main" id="{C25C9CC5-D95F-23BD-661C-78EBC0997A40}"/>
              </a:ext>
            </a:extLst>
          </p:cNvPr>
          <p:cNvGrpSpPr/>
          <p:nvPr/>
        </p:nvGrpSpPr>
        <p:grpSpPr>
          <a:xfrm>
            <a:off x="2362240" y="1063031"/>
            <a:ext cx="1435315" cy="745958"/>
            <a:chOff x="2555051" y="1573606"/>
            <a:chExt cx="1337974" cy="695367"/>
          </a:xfrm>
        </p:grpSpPr>
        <p:sp>
          <p:nvSpPr>
            <p:cNvPr id="15" name="Google Shape;1223;p96">
              <a:extLst>
                <a:ext uri="{FF2B5EF4-FFF2-40B4-BE49-F238E27FC236}">
                  <a16:creationId xmlns:a16="http://schemas.microsoft.com/office/drawing/2014/main" id="{0B608914-811A-3848-05F6-E03169B8F689}"/>
                </a:ext>
              </a:extLst>
            </p:cNvPr>
            <p:cNvSpPr/>
            <p:nvPr/>
          </p:nvSpPr>
          <p:spPr>
            <a:xfrm>
              <a:off x="2555051" y="1573606"/>
              <a:ext cx="1337974" cy="695367"/>
            </a:xfrm>
            <a:prstGeom prst="roundRect">
              <a:avLst>
                <a:gd name="adj" fmla="val 1334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Google Shape;1224;p96">
              <a:extLst>
                <a:ext uri="{FF2B5EF4-FFF2-40B4-BE49-F238E27FC236}">
                  <a16:creationId xmlns:a16="http://schemas.microsoft.com/office/drawing/2014/main" id="{82ED59CC-AAC2-BC44-4C2A-435847E0EF67}"/>
                </a:ext>
              </a:extLst>
            </p:cNvPr>
            <p:cNvSpPr txBox="1"/>
            <p:nvPr/>
          </p:nvSpPr>
          <p:spPr>
            <a:xfrm>
              <a:off x="3102270" y="1651103"/>
              <a:ext cx="599097" cy="573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LLM Chat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" name="Google Shape;1225;p96" descr="ChatGPT Logo and symbol, meaning, history, PNG, brand">
              <a:extLst>
                <a:ext uri="{FF2B5EF4-FFF2-40B4-BE49-F238E27FC236}">
                  <a16:creationId xmlns:a16="http://schemas.microsoft.com/office/drawing/2014/main" id="{FDB4C0D2-6C12-DF0D-12EB-2C0ED503525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2631350" y="1684312"/>
              <a:ext cx="486950" cy="470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Down Arrow 17">
            <a:extLst>
              <a:ext uri="{FF2B5EF4-FFF2-40B4-BE49-F238E27FC236}">
                <a16:creationId xmlns:a16="http://schemas.microsoft.com/office/drawing/2014/main" id="{F3154284-7C64-668B-DCC6-418A73812C10}"/>
              </a:ext>
            </a:extLst>
          </p:cNvPr>
          <p:cNvSpPr/>
          <p:nvPr/>
        </p:nvSpPr>
        <p:spPr>
          <a:xfrm rot="16200000">
            <a:off x="4214762" y="1169418"/>
            <a:ext cx="314367" cy="7197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1223;p96">
            <a:extLst>
              <a:ext uri="{FF2B5EF4-FFF2-40B4-BE49-F238E27FC236}">
                <a16:creationId xmlns:a16="http://schemas.microsoft.com/office/drawing/2014/main" id="{4D4BD8F4-821B-CD75-954B-F718D0D47F9F}"/>
              </a:ext>
            </a:extLst>
          </p:cNvPr>
          <p:cNvSpPr/>
          <p:nvPr/>
        </p:nvSpPr>
        <p:spPr>
          <a:xfrm>
            <a:off x="4946336" y="1382972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Follow-up questions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oogle Shape;1229;p96">
            <a:extLst>
              <a:ext uri="{FF2B5EF4-FFF2-40B4-BE49-F238E27FC236}">
                <a16:creationId xmlns:a16="http://schemas.microsoft.com/office/drawing/2014/main" id="{A761D685-277E-A307-A2AB-5A3BFCA11E34}"/>
              </a:ext>
            </a:extLst>
          </p:cNvPr>
          <p:cNvGrpSpPr/>
          <p:nvPr/>
        </p:nvGrpSpPr>
        <p:grpSpPr>
          <a:xfrm>
            <a:off x="7634212" y="2967179"/>
            <a:ext cx="1721126" cy="923642"/>
            <a:chOff x="7467525" y="3346425"/>
            <a:chExt cx="1604400" cy="861001"/>
          </a:xfrm>
        </p:grpSpPr>
        <p:sp>
          <p:nvSpPr>
            <p:cNvPr id="22" name="Google Shape;1230;p96">
              <a:extLst>
                <a:ext uri="{FF2B5EF4-FFF2-40B4-BE49-F238E27FC236}">
                  <a16:creationId xmlns:a16="http://schemas.microsoft.com/office/drawing/2014/main" id="{30D702EB-E278-4846-7ACE-7E618272E02E}"/>
                </a:ext>
              </a:extLst>
            </p:cNvPr>
            <p:cNvSpPr/>
            <p:nvPr/>
          </p:nvSpPr>
          <p:spPr>
            <a:xfrm>
              <a:off x="7467525" y="3346425"/>
              <a:ext cx="1604400" cy="861001"/>
            </a:xfrm>
            <a:prstGeom prst="roundRect">
              <a:avLst>
                <a:gd name="adj" fmla="val 13347"/>
              </a:avLst>
            </a:prstGeom>
            <a:solidFill>
              <a:srgbClr val="EFEFE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3" name="Google Shape;1231;p96" descr="Elder Icon #60510 - Free Icons Library">
              <a:extLst>
                <a:ext uri="{FF2B5EF4-FFF2-40B4-BE49-F238E27FC236}">
                  <a16:creationId xmlns:a16="http://schemas.microsoft.com/office/drawing/2014/main" id="{F2DE97EA-6309-E728-418D-9EE60377F7A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26258" t="15380" r="26700" b="15862"/>
            <a:stretch/>
          </p:blipFill>
          <p:spPr>
            <a:xfrm flipH="1">
              <a:off x="8472450" y="3474701"/>
              <a:ext cx="410400" cy="599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1232;p96">
              <a:extLst>
                <a:ext uri="{FF2B5EF4-FFF2-40B4-BE49-F238E27FC236}">
                  <a16:creationId xmlns:a16="http://schemas.microsoft.com/office/drawing/2014/main" id="{AEE7D1E4-AC69-314D-0708-E0CDEE62B122}"/>
                </a:ext>
              </a:extLst>
            </p:cNvPr>
            <p:cNvSpPr txBox="1"/>
            <p:nvPr/>
          </p:nvSpPr>
          <p:spPr>
            <a:xfrm>
              <a:off x="7579607" y="3409685"/>
              <a:ext cx="780600" cy="745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MCI/NC Older Users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Down Arrow 24">
            <a:extLst>
              <a:ext uri="{FF2B5EF4-FFF2-40B4-BE49-F238E27FC236}">
                <a16:creationId xmlns:a16="http://schemas.microsoft.com/office/drawing/2014/main" id="{738600CA-BA66-B97D-403B-13B3136F195D}"/>
              </a:ext>
            </a:extLst>
          </p:cNvPr>
          <p:cNvSpPr/>
          <p:nvPr/>
        </p:nvSpPr>
        <p:spPr>
          <a:xfrm rot="5400000">
            <a:off x="6697037" y="2832331"/>
            <a:ext cx="314367" cy="7197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Google Shape;1223;p96">
            <a:extLst>
              <a:ext uri="{FF2B5EF4-FFF2-40B4-BE49-F238E27FC236}">
                <a16:creationId xmlns:a16="http://schemas.microsoft.com/office/drawing/2014/main" id="{1C8C5BF6-8E88-3010-C3F8-4BB542990B81}"/>
              </a:ext>
            </a:extLst>
          </p:cNvPr>
          <p:cNvSpPr/>
          <p:nvPr/>
        </p:nvSpPr>
        <p:spPr>
          <a:xfrm>
            <a:off x="4575417" y="3041175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 image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oogle Shape;1222;p96">
            <a:extLst>
              <a:ext uri="{FF2B5EF4-FFF2-40B4-BE49-F238E27FC236}">
                <a16:creationId xmlns:a16="http://schemas.microsoft.com/office/drawing/2014/main" id="{9D3DF66B-64DF-6774-5FE3-BD138A2A6F81}"/>
              </a:ext>
            </a:extLst>
          </p:cNvPr>
          <p:cNvGrpSpPr/>
          <p:nvPr/>
        </p:nvGrpSpPr>
        <p:grpSpPr>
          <a:xfrm>
            <a:off x="2362240" y="3192223"/>
            <a:ext cx="1435315" cy="745958"/>
            <a:chOff x="2555051" y="1573606"/>
            <a:chExt cx="1337974" cy="695367"/>
          </a:xfrm>
        </p:grpSpPr>
        <p:sp>
          <p:nvSpPr>
            <p:cNvPr id="28" name="Google Shape;1223;p96">
              <a:extLst>
                <a:ext uri="{FF2B5EF4-FFF2-40B4-BE49-F238E27FC236}">
                  <a16:creationId xmlns:a16="http://schemas.microsoft.com/office/drawing/2014/main" id="{7B76FC7D-74D5-F8A4-0A24-93BCFB00E018}"/>
                </a:ext>
              </a:extLst>
            </p:cNvPr>
            <p:cNvSpPr/>
            <p:nvPr/>
          </p:nvSpPr>
          <p:spPr>
            <a:xfrm>
              <a:off x="2555051" y="1573606"/>
              <a:ext cx="1337974" cy="695367"/>
            </a:xfrm>
            <a:prstGeom prst="roundRect">
              <a:avLst>
                <a:gd name="adj" fmla="val 1334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Google Shape;1224;p96">
              <a:extLst>
                <a:ext uri="{FF2B5EF4-FFF2-40B4-BE49-F238E27FC236}">
                  <a16:creationId xmlns:a16="http://schemas.microsoft.com/office/drawing/2014/main" id="{3F2AE6CE-A3E4-FDBD-40E3-F615806CE830}"/>
                </a:ext>
              </a:extLst>
            </p:cNvPr>
            <p:cNvSpPr txBox="1"/>
            <p:nvPr/>
          </p:nvSpPr>
          <p:spPr>
            <a:xfrm>
              <a:off x="3102270" y="1651103"/>
              <a:ext cx="599097" cy="573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sz="12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LLM Chat</a:t>
              </a:r>
              <a:endParaRPr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0" name="Google Shape;1225;p96" descr="ChatGPT Logo and symbol, meaning, history, PNG, brand">
              <a:extLst>
                <a:ext uri="{FF2B5EF4-FFF2-40B4-BE49-F238E27FC236}">
                  <a16:creationId xmlns:a16="http://schemas.microsoft.com/office/drawing/2014/main" id="{A00A6115-085E-925E-DA71-6925405F9D6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2631350" y="1684312"/>
              <a:ext cx="486950" cy="470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Down Arrow 30">
            <a:extLst>
              <a:ext uri="{FF2B5EF4-FFF2-40B4-BE49-F238E27FC236}">
                <a16:creationId xmlns:a16="http://schemas.microsoft.com/office/drawing/2014/main" id="{6030DF30-1522-66F3-01E6-D8EAFBBF9308}"/>
              </a:ext>
            </a:extLst>
          </p:cNvPr>
          <p:cNvSpPr/>
          <p:nvPr/>
        </p:nvSpPr>
        <p:spPr>
          <a:xfrm rot="16200000">
            <a:off x="4214762" y="3298610"/>
            <a:ext cx="314367" cy="7197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Google Shape;1223;p96">
            <a:extLst>
              <a:ext uri="{FF2B5EF4-FFF2-40B4-BE49-F238E27FC236}">
                <a16:creationId xmlns:a16="http://schemas.microsoft.com/office/drawing/2014/main" id="{557342D6-A938-0021-665A-53C36DF5F9EA}"/>
              </a:ext>
            </a:extLst>
          </p:cNvPr>
          <p:cNvSpPr/>
          <p:nvPr/>
        </p:nvSpPr>
        <p:spPr>
          <a:xfrm>
            <a:off x="4946336" y="3512164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memory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733F00B3-8A32-8DF3-947B-96FA02131EC0}"/>
              </a:ext>
            </a:extLst>
          </p:cNvPr>
          <p:cNvSpPr/>
          <p:nvPr/>
        </p:nvSpPr>
        <p:spPr>
          <a:xfrm rot="5400000">
            <a:off x="6766310" y="3688111"/>
            <a:ext cx="314367" cy="7197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Google Shape;1223;p96">
            <a:extLst>
              <a:ext uri="{FF2B5EF4-FFF2-40B4-BE49-F238E27FC236}">
                <a16:creationId xmlns:a16="http://schemas.microsoft.com/office/drawing/2014/main" id="{CC28C952-162E-BCBA-4954-7A7D2499FAA6}"/>
              </a:ext>
            </a:extLst>
          </p:cNvPr>
          <p:cNvSpPr/>
          <p:nvPr/>
        </p:nvSpPr>
        <p:spPr>
          <a:xfrm>
            <a:off x="4354070" y="3903091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 memory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1521B2E5-09CC-1A69-EBD1-A83636AC8AE3}"/>
              </a:ext>
            </a:extLst>
          </p:cNvPr>
          <p:cNvSpPr/>
          <p:nvPr/>
        </p:nvSpPr>
        <p:spPr>
          <a:xfrm rot="16200000">
            <a:off x="4214762" y="4199562"/>
            <a:ext cx="314367" cy="7197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Google Shape;1223;p96">
            <a:extLst>
              <a:ext uri="{FF2B5EF4-FFF2-40B4-BE49-F238E27FC236}">
                <a16:creationId xmlns:a16="http://schemas.microsoft.com/office/drawing/2014/main" id="{A2097C84-A043-25A4-A6D3-46FE29A3E67C}"/>
              </a:ext>
            </a:extLst>
          </p:cNvPr>
          <p:cNvSpPr/>
          <p:nvPr/>
        </p:nvSpPr>
        <p:spPr>
          <a:xfrm>
            <a:off x="4946336" y="4413116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3D Scene.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71AAF81D-7895-27EB-9D82-08F08FC55B38}"/>
              </a:ext>
            </a:extLst>
          </p:cNvPr>
          <p:cNvSpPr/>
          <p:nvPr/>
        </p:nvSpPr>
        <p:spPr>
          <a:xfrm rot="16200000">
            <a:off x="4203750" y="4629572"/>
            <a:ext cx="314367" cy="7197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Google Shape;1223;p96">
            <a:extLst>
              <a:ext uri="{FF2B5EF4-FFF2-40B4-BE49-F238E27FC236}">
                <a16:creationId xmlns:a16="http://schemas.microsoft.com/office/drawing/2014/main" id="{59E46FC2-FD23-75D8-C2B7-FE76339386D3}"/>
              </a:ext>
            </a:extLst>
          </p:cNvPr>
          <p:cNvSpPr/>
          <p:nvPr/>
        </p:nvSpPr>
        <p:spPr>
          <a:xfrm>
            <a:off x="4935324" y="4843126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details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F7933C3B-9EC3-7E2D-3954-A127A1342A92}"/>
              </a:ext>
            </a:extLst>
          </p:cNvPr>
          <p:cNvSpPr/>
          <p:nvPr/>
        </p:nvSpPr>
        <p:spPr>
          <a:xfrm rot="5400000">
            <a:off x="6766310" y="5124279"/>
            <a:ext cx="314367" cy="7197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Google Shape;1223;p96">
            <a:extLst>
              <a:ext uri="{FF2B5EF4-FFF2-40B4-BE49-F238E27FC236}">
                <a16:creationId xmlns:a16="http://schemas.microsoft.com/office/drawing/2014/main" id="{01B06979-CBB6-7CAE-FA1E-11EDB4BF856A}"/>
              </a:ext>
            </a:extLst>
          </p:cNvPr>
          <p:cNvSpPr/>
          <p:nvPr/>
        </p:nvSpPr>
        <p:spPr>
          <a:xfrm>
            <a:off x="4354070" y="5339259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 details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Google Shape;1223;p96">
            <a:extLst>
              <a:ext uri="{FF2B5EF4-FFF2-40B4-BE49-F238E27FC236}">
                <a16:creationId xmlns:a16="http://schemas.microsoft.com/office/drawing/2014/main" id="{E1C78F25-8284-56C8-8ACE-9111FDF6F211}"/>
              </a:ext>
            </a:extLst>
          </p:cNvPr>
          <p:cNvSpPr/>
          <p:nvPr/>
        </p:nvSpPr>
        <p:spPr>
          <a:xfrm>
            <a:off x="7662487" y="5201005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Reminiscence &amp; Vocab enhancement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7640975A-72FC-BA1E-AEDB-62C6C046B51C}"/>
              </a:ext>
            </a:extLst>
          </p:cNvPr>
          <p:cNvSpPr/>
          <p:nvPr/>
        </p:nvSpPr>
        <p:spPr>
          <a:xfrm rot="16200000">
            <a:off x="4203750" y="5498226"/>
            <a:ext cx="314367" cy="7197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oogle Shape;1223;p96">
            <a:extLst>
              <a:ext uri="{FF2B5EF4-FFF2-40B4-BE49-F238E27FC236}">
                <a16:creationId xmlns:a16="http://schemas.microsoft.com/office/drawing/2014/main" id="{45D582C3-C9A2-D319-84A4-FC185E656D88}"/>
              </a:ext>
            </a:extLst>
          </p:cNvPr>
          <p:cNvSpPr/>
          <p:nvPr/>
        </p:nvSpPr>
        <p:spPr>
          <a:xfrm>
            <a:off x="4935324" y="5711780"/>
            <a:ext cx="1858705" cy="302097"/>
          </a:xfrm>
          <a:prstGeom prst="roundRect">
            <a:avLst>
              <a:gd name="adj" fmla="val 1334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3D Scene.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344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9314-19E4-3C76-0C14-59BFB1799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and their difference to Roybal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BD341-271A-CF53-ADB9-4AE3F764B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Roybal:</a:t>
            </a:r>
          </a:p>
          <a:p>
            <a:pPr lvl="1"/>
            <a:r>
              <a:rPr lang="en-US" dirty="0"/>
              <a:t>Chatbot + I-CONECT Protocol (image, semi-structured, engagement optimization)</a:t>
            </a:r>
          </a:p>
          <a:p>
            <a:r>
              <a:rPr lang="en-US" dirty="0"/>
              <a:t>AI-CONECT v1 R21</a:t>
            </a:r>
          </a:p>
          <a:p>
            <a:pPr lvl="1"/>
            <a:r>
              <a:rPr lang="en-US" dirty="0"/>
              <a:t>Chatbot + I-CONECT Protocol</a:t>
            </a:r>
          </a:p>
          <a:p>
            <a:pPr lvl="1"/>
            <a:r>
              <a:rPr lang="en-US" dirty="0"/>
              <a:t>Optimization method: digital twin simulation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Safety guardrail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(Interactive) Social Robot to provide emotion feedback (Avatar Face)</a:t>
            </a:r>
          </a:p>
          <a:p>
            <a:r>
              <a:rPr lang="en-US" dirty="0"/>
              <a:t>AI-CONECT v2 R21</a:t>
            </a:r>
          </a:p>
          <a:p>
            <a:pPr lvl="1"/>
            <a:r>
              <a:rPr lang="en-US" dirty="0"/>
              <a:t>(everything in v1)</a:t>
            </a:r>
          </a:p>
          <a:p>
            <a:pPr lvl="1"/>
            <a:r>
              <a:rPr lang="en-US" dirty="0"/>
              <a:t>3D scene generation and interactive design.</a:t>
            </a:r>
          </a:p>
          <a:p>
            <a:pPr lvl="2"/>
            <a:r>
              <a:rPr lang="en-US" dirty="0"/>
              <a:t>Addressed challenge: Engagement.</a:t>
            </a:r>
          </a:p>
          <a:p>
            <a:pPr lvl="2"/>
            <a:r>
              <a:rPr lang="en-US" dirty="0"/>
              <a:t>Tech: Interactivity </a:t>
            </a:r>
          </a:p>
          <a:p>
            <a:r>
              <a:rPr lang="en-US" dirty="0"/>
              <a:t>Title: AI-Interactive-CONECT </a:t>
            </a:r>
            <a:r>
              <a:rPr lang="en-US" dirty="0">
                <a:sym typeface="Wingdings" pitchFamily="2" charset="2"/>
              </a:rPr>
              <a:t> AI^2-CONECT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47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B28B-0A6A-847A-3C0B-66B46C8D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Multimodality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6F207-EBFC-23AB-A9FE-1AF38B16F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Conversation:</a:t>
            </a:r>
          </a:p>
          <a:p>
            <a:pPr lvl="1"/>
            <a:r>
              <a:rPr lang="en-US" dirty="0"/>
              <a:t>Language interactions LLM</a:t>
            </a:r>
          </a:p>
          <a:p>
            <a:r>
              <a:rPr lang="en-US" dirty="0"/>
              <a:t>Multi-modality:</a:t>
            </a:r>
          </a:p>
          <a:p>
            <a:pPr lvl="1"/>
            <a:r>
              <a:rPr lang="en-US" dirty="0"/>
              <a:t>Audio</a:t>
            </a:r>
          </a:p>
          <a:p>
            <a:pPr lvl="1"/>
            <a:r>
              <a:rPr lang="en-US" dirty="0"/>
              <a:t>Image</a:t>
            </a:r>
          </a:p>
          <a:p>
            <a:pPr lvl="1"/>
            <a:r>
              <a:rPr lang="en-US" dirty="0"/>
              <a:t>Video</a:t>
            </a:r>
          </a:p>
          <a:p>
            <a:r>
              <a:rPr lang="en-US" dirty="0"/>
              <a:t>Interaction</a:t>
            </a:r>
          </a:p>
          <a:p>
            <a:pPr lvl="1"/>
            <a:r>
              <a:rPr lang="en-US" dirty="0"/>
              <a:t>Conversational instruction</a:t>
            </a:r>
          </a:p>
          <a:p>
            <a:pPr lvl="1"/>
            <a:r>
              <a:rPr lang="en-US" dirty="0"/>
              <a:t>Explorable memory space</a:t>
            </a:r>
          </a:p>
        </p:txBody>
      </p:sp>
    </p:spTree>
    <p:extLst>
      <p:ext uri="{BB962C8B-B14F-4D97-AF65-F5344CB8AC3E}">
        <p14:creationId xmlns:p14="http://schemas.microsoft.com/office/powerpoint/2010/main" val="400063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18;p96">
            <a:extLst>
              <a:ext uri="{FF2B5EF4-FFF2-40B4-BE49-F238E27FC236}">
                <a16:creationId xmlns:a16="http://schemas.microsoft.com/office/drawing/2014/main" id="{0E6AFC3A-6ECB-C382-3C05-2D234C1974FE}"/>
              </a:ext>
            </a:extLst>
          </p:cNvPr>
          <p:cNvSpPr/>
          <p:nvPr/>
        </p:nvSpPr>
        <p:spPr>
          <a:xfrm>
            <a:off x="2791836" y="940972"/>
            <a:ext cx="8399633" cy="2000371"/>
          </a:xfrm>
          <a:prstGeom prst="rightArrow">
            <a:avLst>
              <a:gd name="adj1" fmla="val 69303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3A6ACB5-45FA-BA9F-4A53-8776AE49961E}"/>
              </a:ext>
            </a:extLst>
          </p:cNvPr>
          <p:cNvSpPr/>
          <p:nvPr/>
        </p:nvSpPr>
        <p:spPr>
          <a:xfrm>
            <a:off x="5922880" y="1374235"/>
            <a:ext cx="3587619" cy="2880742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97961F6-0A02-D165-7BF0-908430C3CA9E}"/>
              </a:ext>
            </a:extLst>
          </p:cNvPr>
          <p:cNvSpPr/>
          <p:nvPr/>
        </p:nvSpPr>
        <p:spPr>
          <a:xfrm>
            <a:off x="2984919" y="1374235"/>
            <a:ext cx="2795060" cy="2880742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Google Shape;1227;p96">
            <a:extLst>
              <a:ext uri="{FF2B5EF4-FFF2-40B4-BE49-F238E27FC236}">
                <a16:creationId xmlns:a16="http://schemas.microsoft.com/office/drawing/2014/main" id="{1553B58D-02A2-7F87-55C7-5C5B98102FBE}"/>
              </a:ext>
            </a:extLst>
          </p:cNvPr>
          <p:cNvSpPr/>
          <p:nvPr/>
        </p:nvSpPr>
        <p:spPr>
          <a:xfrm>
            <a:off x="4763277" y="2841542"/>
            <a:ext cx="774496" cy="1000737"/>
          </a:xfrm>
          <a:prstGeom prst="leftUpArrow">
            <a:avLst>
              <a:gd name="adj1" fmla="val 18061"/>
              <a:gd name="adj2" fmla="val 16462"/>
              <a:gd name="adj3" fmla="val 17767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/>
          </a:p>
        </p:txBody>
      </p:sp>
      <p:sp>
        <p:nvSpPr>
          <p:cNvPr id="12" name="Google Shape;1227;p96">
            <a:extLst>
              <a:ext uri="{FF2B5EF4-FFF2-40B4-BE49-F238E27FC236}">
                <a16:creationId xmlns:a16="http://schemas.microsoft.com/office/drawing/2014/main" id="{6D7D9406-0115-BD16-907E-FF6150195D23}"/>
              </a:ext>
            </a:extLst>
          </p:cNvPr>
          <p:cNvSpPr/>
          <p:nvPr/>
        </p:nvSpPr>
        <p:spPr>
          <a:xfrm>
            <a:off x="7657945" y="2422487"/>
            <a:ext cx="2295672" cy="1400433"/>
          </a:xfrm>
          <a:prstGeom prst="leftUpArrow">
            <a:avLst>
              <a:gd name="adj1" fmla="val 7499"/>
              <a:gd name="adj2" fmla="val 7668"/>
              <a:gd name="adj3" fmla="val 1085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/>
          </a:p>
        </p:txBody>
      </p:sp>
      <p:sp>
        <p:nvSpPr>
          <p:cNvPr id="5" name="Google Shape;1220;p96">
            <a:extLst>
              <a:ext uri="{FF2B5EF4-FFF2-40B4-BE49-F238E27FC236}">
                <a16:creationId xmlns:a16="http://schemas.microsoft.com/office/drawing/2014/main" id="{50144DE5-64B5-4F70-AADB-E5E945F88BAB}"/>
              </a:ext>
            </a:extLst>
          </p:cNvPr>
          <p:cNvSpPr/>
          <p:nvPr/>
        </p:nvSpPr>
        <p:spPr>
          <a:xfrm>
            <a:off x="3927898" y="1640285"/>
            <a:ext cx="5685280" cy="627561"/>
          </a:xfrm>
          <a:prstGeom prst="rightArrow">
            <a:avLst>
              <a:gd name="adj1" fmla="val 50000"/>
              <a:gd name="adj2" fmla="val 56179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/>
          </a:p>
        </p:txBody>
      </p:sp>
      <p:sp>
        <p:nvSpPr>
          <p:cNvPr id="6" name="Google Shape;1221;p96">
            <a:extLst>
              <a:ext uri="{FF2B5EF4-FFF2-40B4-BE49-F238E27FC236}">
                <a16:creationId xmlns:a16="http://schemas.microsoft.com/office/drawing/2014/main" id="{3A52E3EA-3E52-7806-CC71-22E91ADFFEB1}"/>
              </a:ext>
            </a:extLst>
          </p:cNvPr>
          <p:cNvSpPr/>
          <p:nvPr/>
        </p:nvSpPr>
        <p:spPr>
          <a:xfrm>
            <a:off x="3051368" y="1428948"/>
            <a:ext cx="1059399" cy="1036602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00" i="1" dirty="0">
                <a:solidFill>
                  <a:schemeClr val="dk1"/>
                </a:solidFill>
              </a:rPr>
              <a:t>Clinical Protocol</a:t>
            </a:r>
            <a:endParaRPr dirty="0"/>
          </a:p>
        </p:txBody>
      </p:sp>
      <p:grpSp>
        <p:nvGrpSpPr>
          <p:cNvPr id="7" name="Google Shape;1222;p96">
            <a:extLst>
              <a:ext uri="{FF2B5EF4-FFF2-40B4-BE49-F238E27FC236}">
                <a16:creationId xmlns:a16="http://schemas.microsoft.com/office/drawing/2014/main" id="{2ADAAFF5-6BBC-314A-84AB-33E9D20FD9C1}"/>
              </a:ext>
            </a:extLst>
          </p:cNvPr>
          <p:cNvGrpSpPr/>
          <p:nvPr/>
        </p:nvGrpSpPr>
        <p:grpSpPr>
          <a:xfrm>
            <a:off x="9570460" y="1428948"/>
            <a:ext cx="2229400" cy="1036602"/>
            <a:chOff x="2555051" y="1436400"/>
            <a:chExt cx="2078203" cy="966300"/>
          </a:xfrm>
        </p:grpSpPr>
        <p:sp>
          <p:nvSpPr>
            <p:cNvPr id="8" name="Google Shape;1223;p96">
              <a:extLst>
                <a:ext uri="{FF2B5EF4-FFF2-40B4-BE49-F238E27FC236}">
                  <a16:creationId xmlns:a16="http://schemas.microsoft.com/office/drawing/2014/main" id="{6834937C-1DD4-3AC0-D025-20134BD8E868}"/>
                </a:ext>
              </a:extLst>
            </p:cNvPr>
            <p:cNvSpPr/>
            <p:nvPr/>
          </p:nvSpPr>
          <p:spPr>
            <a:xfrm>
              <a:off x="2555051" y="1436400"/>
              <a:ext cx="2078203" cy="966300"/>
            </a:xfrm>
            <a:prstGeom prst="roundRect">
              <a:avLst>
                <a:gd name="adj" fmla="val 1334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9" name="Google Shape;1224;p96">
              <a:extLst>
                <a:ext uri="{FF2B5EF4-FFF2-40B4-BE49-F238E27FC236}">
                  <a16:creationId xmlns:a16="http://schemas.microsoft.com/office/drawing/2014/main" id="{7A4C9C9B-C6B6-BBC5-E156-2A79A5B09170}"/>
                </a:ext>
              </a:extLst>
            </p:cNvPr>
            <p:cNvSpPr txBox="1"/>
            <p:nvPr/>
          </p:nvSpPr>
          <p:spPr>
            <a:xfrm>
              <a:off x="3073881" y="1718737"/>
              <a:ext cx="850270" cy="401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LLM +</a:t>
              </a:r>
              <a:endParaRPr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0" name="Google Shape;1225;p96" descr="ChatGPT Logo and symbol, meaning, history, PNG, brand">
              <a:extLst>
                <a:ext uri="{FF2B5EF4-FFF2-40B4-BE49-F238E27FC236}">
                  <a16:creationId xmlns:a16="http://schemas.microsoft.com/office/drawing/2014/main" id="{62EF4399-BE25-46F3-6550-AB4CC2906C2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2631350" y="1684312"/>
              <a:ext cx="486950" cy="470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226;p96">
              <a:extLst>
                <a:ext uri="{FF2B5EF4-FFF2-40B4-BE49-F238E27FC236}">
                  <a16:creationId xmlns:a16="http://schemas.microsoft.com/office/drawing/2014/main" id="{B72F8065-72CE-7907-B502-EB238826B716}"/>
                </a:ext>
              </a:extLst>
            </p:cNvPr>
            <p:cNvSpPr/>
            <p:nvPr/>
          </p:nvSpPr>
          <p:spPr>
            <a:xfrm>
              <a:off x="3727274" y="1546500"/>
              <a:ext cx="826500" cy="746100"/>
            </a:xfrm>
            <a:prstGeom prst="roundRect">
              <a:avLst>
                <a:gd name="adj" fmla="val 9290"/>
              </a:avLst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200" b="1" i="1" dirty="0"/>
                <a:t>Prompt Design</a:t>
              </a:r>
              <a:endParaRPr sz="1100" b="1" i="1" dirty="0"/>
            </a:p>
          </p:txBody>
        </p:sp>
      </p:grpSp>
      <p:sp>
        <p:nvSpPr>
          <p:cNvPr id="13" name="Google Shape;1228;p96">
            <a:extLst>
              <a:ext uri="{FF2B5EF4-FFF2-40B4-BE49-F238E27FC236}">
                <a16:creationId xmlns:a16="http://schemas.microsoft.com/office/drawing/2014/main" id="{2817423E-85AC-F894-B736-8E59BBED4A54}"/>
              </a:ext>
            </a:extLst>
          </p:cNvPr>
          <p:cNvSpPr/>
          <p:nvPr/>
        </p:nvSpPr>
        <p:spPr>
          <a:xfrm>
            <a:off x="5399154" y="3494007"/>
            <a:ext cx="691810" cy="407210"/>
          </a:xfrm>
          <a:prstGeom prst="rightArrow">
            <a:avLst>
              <a:gd name="adj1" fmla="val 69303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/>
          </a:p>
        </p:txBody>
      </p:sp>
      <p:grpSp>
        <p:nvGrpSpPr>
          <p:cNvPr id="14" name="Google Shape;1229;p96">
            <a:extLst>
              <a:ext uri="{FF2B5EF4-FFF2-40B4-BE49-F238E27FC236}">
                <a16:creationId xmlns:a16="http://schemas.microsoft.com/office/drawing/2014/main" id="{B9D9C3CB-62BD-48DC-99CE-F0F8053DC4E5}"/>
              </a:ext>
            </a:extLst>
          </p:cNvPr>
          <p:cNvGrpSpPr/>
          <p:nvPr/>
        </p:nvGrpSpPr>
        <p:grpSpPr>
          <a:xfrm>
            <a:off x="3062711" y="3235791"/>
            <a:ext cx="1721126" cy="923642"/>
            <a:chOff x="7467525" y="3346425"/>
            <a:chExt cx="1604400" cy="861001"/>
          </a:xfrm>
        </p:grpSpPr>
        <p:sp>
          <p:nvSpPr>
            <p:cNvPr id="15" name="Google Shape;1230;p96">
              <a:extLst>
                <a:ext uri="{FF2B5EF4-FFF2-40B4-BE49-F238E27FC236}">
                  <a16:creationId xmlns:a16="http://schemas.microsoft.com/office/drawing/2014/main" id="{98A23F26-9F44-84C0-27A8-2C55E10F7322}"/>
                </a:ext>
              </a:extLst>
            </p:cNvPr>
            <p:cNvSpPr/>
            <p:nvPr/>
          </p:nvSpPr>
          <p:spPr>
            <a:xfrm>
              <a:off x="7467525" y="3346425"/>
              <a:ext cx="1604400" cy="861001"/>
            </a:xfrm>
            <a:prstGeom prst="roundRect">
              <a:avLst>
                <a:gd name="adj" fmla="val 13347"/>
              </a:avLst>
            </a:prstGeom>
            <a:solidFill>
              <a:srgbClr val="EFEFE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/>
            </a:p>
          </p:txBody>
        </p:sp>
        <p:pic>
          <p:nvPicPr>
            <p:cNvPr id="16" name="Google Shape;1231;p96" descr="Elder Icon #60510 - Free Icons Library">
              <a:extLst>
                <a:ext uri="{FF2B5EF4-FFF2-40B4-BE49-F238E27FC236}">
                  <a16:creationId xmlns:a16="http://schemas.microsoft.com/office/drawing/2014/main" id="{C5A5681F-7CD7-2E72-9D0E-E660C3FA933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6258" t="15380" r="26700" b="15862"/>
            <a:stretch/>
          </p:blipFill>
          <p:spPr>
            <a:xfrm flipH="1">
              <a:off x="8472450" y="3474701"/>
              <a:ext cx="410400" cy="599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232;p96">
              <a:extLst>
                <a:ext uri="{FF2B5EF4-FFF2-40B4-BE49-F238E27FC236}">
                  <a16:creationId xmlns:a16="http://schemas.microsoft.com/office/drawing/2014/main" id="{1F8476B5-8470-9150-74D4-8EE7AA6473B9}"/>
                </a:ext>
              </a:extLst>
            </p:cNvPr>
            <p:cNvSpPr txBox="1"/>
            <p:nvPr/>
          </p:nvSpPr>
          <p:spPr>
            <a:xfrm>
              <a:off x="7579607" y="3409685"/>
              <a:ext cx="780600" cy="745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MCI/NC Older Users</a:t>
              </a:r>
              <a:endParaRPr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8" name="Google Shape;1233;p96">
            <a:extLst>
              <a:ext uri="{FF2B5EF4-FFF2-40B4-BE49-F238E27FC236}">
                <a16:creationId xmlns:a16="http://schemas.microsoft.com/office/drawing/2014/main" id="{A796B1E2-DF79-2805-B6CF-33F669D3D0B5}"/>
              </a:ext>
            </a:extLst>
          </p:cNvPr>
          <p:cNvGrpSpPr/>
          <p:nvPr/>
        </p:nvGrpSpPr>
        <p:grpSpPr>
          <a:xfrm>
            <a:off x="6016760" y="3235792"/>
            <a:ext cx="1721126" cy="923641"/>
            <a:chOff x="7334399" y="3809869"/>
            <a:chExt cx="1604400" cy="860999"/>
          </a:xfrm>
        </p:grpSpPr>
        <p:sp>
          <p:nvSpPr>
            <p:cNvPr id="19" name="Google Shape;1234;p96">
              <a:extLst>
                <a:ext uri="{FF2B5EF4-FFF2-40B4-BE49-F238E27FC236}">
                  <a16:creationId xmlns:a16="http://schemas.microsoft.com/office/drawing/2014/main" id="{6E1C08A7-3B52-110D-048A-CCA5CF625573}"/>
                </a:ext>
              </a:extLst>
            </p:cNvPr>
            <p:cNvSpPr/>
            <p:nvPr/>
          </p:nvSpPr>
          <p:spPr>
            <a:xfrm>
              <a:off x="7334399" y="3809869"/>
              <a:ext cx="1604400" cy="860999"/>
            </a:xfrm>
            <a:prstGeom prst="roundRect">
              <a:avLst>
                <a:gd name="adj" fmla="val 1334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/>
            </a:p>
          </p:txBody>
        </p:sp>
        <p:pic>
          <p:nvPicPr>
            <p:cNvPr id="20" name="Google Shape;1235;p96" descr="Elder Icon #60510 - Free Icons Library">
              <a:extLst>
                <a:ext uri="{FF2B5EF4-FFF2-40B4-BE49-F238E27FC236}">
                  <a16:creationId xmlns:a16="http://schemas.microsoft.com/office/drawing/2014/main" id="{D4526B6E-7417-A06C-63E8-710064D4F77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4000" contrast="63000"/>
                      </a14:imgEffect>
                    </a14:imgLayer>
                  </a14:imgProps>
                </a:ext>
              </a:extLst>
            </a:blip>
            <a:srcRect l="26258" t="15380" r="26700" b="15862"/>
            <a:stretch/>
          </p:blipFill>
          <p:spPr>
            <a:xfrm flipH="1">
              <a:off x="8472451" y="3954022"/>
              <a:ext cx="391828" cy="572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236;p96">
              <a:extLst>
                <a:ext uri="{FF2B5EF4-FFF2-40B4-BE49-F238E27FC236}">
                  <a16:creationId xmlns:a16="http://schemas.microsoft.com/office/drawing/2014/main" id="{FA8BE449-8D24-62A6-8B14-A323731166A8}"/>
                </a:ext>
              </a:extLst>
            </p:cNvPr>
            <p:cNvSpPr txBox="1"/>
            <p:nvPr/>
          </p:nvSpPr>
          <p:spPr>
            <a:xfrm>
              <a:off x="7334400" y="3886275"/>
              <a:ext cx="1348500" cy="717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Virtual User</a:t>
              </a:r>
              <a:endParaRPr sz="12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algn="ctr"/>
              <a:r>
                <a:rPr lang="en" sz="1100" i="1" dirty="0">
                  <a:solidFill>
                    <a:srgbClr val="666666"/>
                  </a:solidFill>
                </a:rPr>
                <a:t>Fine-Tuned </a:t>
              </a:r>
              <a:br>
                <a:rPr lang="en" sz="1100" i="1" dirty="0">
                  <a:solidFill>
                    <a:srgbClr val="666666"/>
                  </a:solidFill>
                </a:rPr>
              </a:br>
              <a:r>
                <a:rPr lang="en" sz="1100" i="1" dirty="0">
                  <a:solidFill>
                    <a:srgbClr val="666666"/>
                  </a:solidFill>
                </a:rPr>
                <a:t>LLM</a:t>
              </a:r>
              <a:endParaRPr sz="1100" i="1" dirty="0">
                <a:solidFill>
                  <a:srgbClr val="666666"/>
                </a:solidFill>
              </a:endParaRPr>
            </a:p>
          </p:txBody>
        </p:sp>
        <p:pic>
          <p:nvPicPr>
            <p:cNvPr id="22" name="Google Shape;1237;p96" descr="ChatGPT Logo and symbol, meaning, history, PNG, brand">
              <a:extLst>
                <a:ext uri="{FF2B5EF4-FFF2-40B4-BE49-F238E27FC236}">
                  <a16:creationId xmlns:a16="http://schemas.microsoft.com/office/drawing/2014/main" id="{4255B2BA-BF4A-DA83-3C87-26E0E8FF837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7389125" y="4236412"/>
              <a:ext cx="256224" cy="2475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1238;p96">
            <a:extLst>
              <a:ext uri="{FF2B5EF4-FFF2-40B4-BE49-F238E27FC236}">
                <a16:creationId xmlns:a16="http://schemas.microsoft.com/office/drawing/2014/main" id="{B00BC776-4D60-FB50-C25C-68B7F3000699}"/>
              </a:ext>
            </a:extLst>
          </p:cNvPr>
          <p:cNvSpPr/>
          <p:nvPr/>
        </p:nvSpPr>
        <p:spPr>
          <a:xfrm rot="16200000">
            <a:off x="8317631" y="2857743"/>
            <a:ext cx="617005" cy="508381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BACAE6"/>
              </a:gs>
              <a:gs pos="80000">
                <a:srgbClr val="D1BAC4"/>
              </a:gs>
              <a:gs pos="100000">
                <a:srgbClr val="D1BAC4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CEFBE1-9E7E-12C7-5998-13735A861911}"/>
              </a:ext>
            </a:extLst>
          </p:cNvPr>
          <p:cNvSpPr txBox="1"/>
          <p:nvPr/>
        </p:nvSpPr>
        <p:spPr>
          <a:xfrm>
            <a:off x="3487107" y="958716"/>
            <a:ext cx="179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I-CONECT Clinical Trial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44CDE1-5EF5-2003-8F63-4F1A38F5BB06}"/>
              </a:ext>
            </a:extLst>
          </p:cNvPr>
          <p:cNvSpPr txBox="1"/>
          <p:nvPr/>
        </p:nvSpPr>
        <p:spPr>
          <a:xfrm>
            <a:off x="7018951" y="960802"/>
            <a:ext cx="14237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Virtual Evaluation</a:t>
            </a:r>
          </a:p>
        </p:txBody>
      </p:sp>
      <p:grpSp>
        <p:nvGrpSpPr>
          <p:cNvPr id="42" name="Google Shape;1241;p96">
            <a:extLst>
              <a:ext uri="{FF2B5EF4-FFF2-40B4-BE49-F238E27FC236}">
                <a16:creationId xmlns:a16="http://schemas.microsoft.com/office/drawing/2014/main" id="{85401D3A-D52D-75B1-04AA-45BFD504B974}"/>
              </a:ext>
            </a:extLst>
          </p:cNvPr>
          <p:cNvGrpSpPr/>
          <p:nvPr/>
        </p:nvGrpSpPr>
        <p:grpSpPr>
          <a:xfrm>
            <a:off x="7864004" y="3375884"/>
            <a:ext cx="1557585" cy="643457"/>
            <a:chOff x="7440902" y="2657451"/>
            <a:chExt cx="1451951" cy="599819"/>
          </a:xfrm>
        </p:grpSpPr>
        <p:sp>
          <p:nvSpPr>
            <p:cNvPr id="43" name="Google Shape;1242;p96">
              <a:extLst>
                <a:ext uri="{FF2B5EF4-FFF2-40B4-BE49-F238E27FC236}">
                  <a16:creationId xmlns:a16="http://schemas.microsoft.com/office/drawing/2014/main" id="{14B4A960-10AB-9740-1DDD-9F1F313F14DE}"/>
                </a:ext>
              </a:extLst>
            </p:cNvPr>
            <p:cNvSpPr/>
            <p:nvPr/>
          </p:nvSpPr>
          <p:spPr>
            <a:xfrm>
              <a:off x="7440902" y="2657451"/>
              <a:ext cx="1391401" cy="599819"/>
            </a:xfrm>
            <a:prstGeom prst="roundRect">
              <a:avLst>
                <a:gd name="adj" fmla="val 13347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/>
            </a:p>
          </p:txBody>
        </p:sp>
        <p:pic>
          <p:nvPicPr>
            <p:cNvPr id="44" name="Google Shape;1243;p96" descr="59,432 Conversation Icons - Free in SVG, PNG, ICO - IconScout">
              <a:extLst>
                <a:ext uri="{FF2B5EF4-FFF2-40B4-BE49-F238E27FC236}">
                  <a16:creationId xmlns:a16="http://schemas.microsoft.com/office/drawing/2014/main" id="{C0636101-5CEA-DDF5-B414-CA91157E5B86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75181" y="2825164"/>
              <a:ext cx="331500" cy="3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1244;p96">
              <a:extLst>
                <a:ext uri="{FF2B5EF4-FFF2-40B4-BE49-F238E27FC236}">
                  <a16:creationId xmlns:a16="http://schemas.microsoft.com/office/drawing/2014/main" id="{1ED1628B-B773-F191-80AA-1A81B7A46986}"/>
                </a:ext>
              </a:extLst>
            </p:cNvPr>
            <p:cNvSpPr txBox="1"/>
            <p:nvPr/>
          </p:nvSpPr>
          <p:spPr>
            <a:xfrm>
              <a:off x="7792870" y="2687150"/>
              <a:ext cx="1099983" cy="545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-US" sz="1100" i="1" dirty="0">
                  <a:solidFill>
                    <a:schemeClr val="dk1"/>
                  </a:solidFill>
                </a:rPr>
                <a:t>Virtual Conversation</a:t>
              </a:r>
            </a:p>
          </p:txBody>
        </p:sp>
      </p:grpSp>
      <p:pic>
        <p:nvPicPr>
          <p:cNvPr id="4" name="Google Shape;1219;p96" descr="Doctor, female doctor, lady doctor, physician, professional icon - Download  on Iconfinder">
            <a:extLst>
              <a:ext uri="{FF2B5EF4-FFF2-40B4-BE49-F238E27FC236}">
                <a16:creationId xmlns:a16="http://schemas.microsoft.com/office/drawing/2014/main" id="{E0E16BFC-80FF-98B3-0B78-8E9B24373488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62017" y="781632"/>
            <a:ext cx="383931" cy="3839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21;p96">
            <a:extLst>
              <a:ext uri="{FF2B5EF4-FFF2-40B4-BE49-F238E27FC236}">
                <a16:creationId xmlns:a16="http://schemas.microsoft.com/office/drawing/2014/main" id="{A5C110ED-1F09-BC30-76BB-11C2F312008C}"/>
              </a:ext>
            </a:extLst>
          </p:cNvPr>
          <p:cNvSpPr/>
          <p:nvPr/>
        </p:nvSpPr>
        <p:spPr>
          <a:xfrm>
            <a:off x="4259193" y="2248304"/>
            <a:ext cx="1417539" cy="649029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Trained Interviewers</a:t>
            </a:r>
            <a:endParaRPr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17C6191-8690-6E64-FDE9-BAC00AB6E550}"/>
              </a:ext>
            </a:extLst>
          </p:cNvPr>
          <p:cNvGrpSpPr/>
          <p:nvPr/>
        </p:nvGrpSpPr>
        <p:grpSpPr>
          <a:xfrm>
            <a:off x="6011919" y="2233342"/>
            <a:ext cx="1725967" cy="627895"/>
            <a:chOff x="3203732" y="2187585"/>
            <a:chExt cx="1725967" cy="627895"/>
          </a:xfrm>
        </p:grpSpPr>
        <p:sp>
          <p:nvSpPr>
            <p:cNvPr id="31" name="Google Shape;1098;p91">
              <a:extLst>
                <a:ext uri="{FF2B5EF4-FFF2-40B4-BE49-F238E27FC236}">
                  <a16:creationId xmlns:a16="http://schemas.microsoft.com/office/drawing/2014/main" id="{0BD32037-BE09-647A-4E51-E7976947B857}"/>
                </a:ext>
              </a:extLst>
            </p:cNvPr>
            <p:cNvSpPr/>
            <p:nvPr/>
          </p:nvSpPr>
          <p:spPr>
            <a:xfrm>
              <a:off x="3208572" y="2187585"/>
              <a:ext cx="1721127" cy="302096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100" i="1" dirty="0"/>
                <a:t>Reminiscence</a:t>
              </a:r>
              <a:endParaRPr sz="1100" i="1" dirty="0"/>
            </a:p>
          </p:txBody>
        </p:sp>
        <p:sp>
          <p:nvSpPr>
            <p:cNvPr id="36" name="Google Shape;1100;p91">
              <a:extLst>
                <a:ext uri="{FF2B5EF4-FFF2-40B4-BE49-F238E27FC236}">
                  <a16:creationId xmlns:a16="http://schemas.microsoft.com/office/drawing/2014/main" id="{82B1E694-E84B-1EEA-DEEF-DE3DAC3C925C}"/>
                </a:ext>
              </a:extLst>
            </p:cNvPr>
            <p:cNvSpPr/>
            <p:nvPr/>
          </p:nvSpPr>
          <p:spPr>
            <a:xfrm>
              <a:off x="3203732" y="2513384"/>
              <a:ext cx="1721127" cy="302096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100" i="1" dirty="0"/>
                <a:t>Engagement</a:t>
              </a:r>
              <a:endParaRPr sz="1100" i="1" dirty="0"/>
            </a:p>
          </p:txBody>
        </p:sp>
      </p:grpSp>
      <p:sp>
        <p:nvSpPr>
          <p:cNvPr id="40" name="Bent Arrow 39">
            <a:extLst>
              <a:ext uri="{FF2B5EF4-FFF2-40B4-BE49-F238E27FC236}">
                <a16:creationId xmlns:a16="http://schemas.microsoft.com/office/drawing/2014/main" id="{4B798A84-4AA7-1532-A7BD-A0DD55FF4B7D}"/>
              </a:ext>
            </a:extLst>
          </p:cNvPr>
          <p:cNvSpPr/>
          <p:nvPr/>
        </p:nvSpPr>
        <p:spPr>
          <a:xfrm rot="5400000">
            <a:off x="6179567" y="1507086"/>
            <a:ext cx="437432" cy="1026236"/>
          </a:xfrm>
          <a:prstGeom prst="bentArrow">
            <a:avLst>
              <a:gd name="adj1" fmla="val 71263"/>
              <a:gd name="adj2" fmla="val 50000"/>
              <a:gd name="adj3" fmla="val 22589"/>
              <a:gd name="adj4" fmla="val 63034"/>
            </a:avLst>
          </a:prstGeom>
          <a:gradFill flip="none" rotWithShape="1">
            <a:gsLst>
              <a:gs pos="61000">
                <a:srgbClr val="DBCFD4"/>
              </a:gs>
              <a:gs pos="0">
                <a:srgbClr val="CCCCCC"/>
              </a:gs>
              <a:gs pos="100000">
                <a:srgbClr val="EAD1DC"/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Bent Arrow 46">
            <a:extLst>
              <a:ext uri="{FF2B5EF4-FFF2-40B4-BE49-F238E27FC236}">
                <a16:creationId xmlns:a16="http://schemas.microsoft.com/office/drawing/2014/main" id="{194F4033-5129-212A-475B-B9FEFA032475}"/>
              </a:ext>
            </a:extLst>
          </p:cNvPr>
          <p:cNvSpPr/>
          <p:nvPr/>
        </p:nvSpPr>
        <p:spPr>
          <a:xfrm rot="5400000">
            <a:off x="4637828" y="1501689"/>
            <a:ext cx="437432" cy="1026236"/>
          </a:xfrm>
          <a:prstGeom prst="bentArrow">
            <a:avLst>
              <a:gd name="adj1" fmla="val 71263"/>
              <a:gd name="adj2" fmla="val 50000"/>
              <a:gd name="adj3" fmla="val 22589"/>
              <a:gd name="adj4" fmla="val 63034"/>
            </a:avLst>
          </a:prstGeom>
          <a:gradFill flip="none" rotWithShape="1">
            <a:gsLst>
              <a:gs pos="78000">
                <a:srgbClr val="BBCFAD"/>
              </a:gs>
              <a:gs pos="0">
                <a:srgbClr val="CCCCCC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8" name="Google Shape;1241;p96">
            <a:extLst>
              <a:ext uri="{FF2B5EF4-FFF2-40B4-BE49-F238E27FC236}">
                <a16:creationId xmlns:a16="http://schemas.microsoft.com/office/drawing/2014/main" id="{8C1F4FF8-B398-948B-8273-109F53C23844}"/>
              </a:ext>
            </a:extLst>
          </p:cNvPr>
          <p:cNvGrpSpPr/>
          <p:nvPr/>
        </p:nvGrpSpPr>
        <p:grpSpPr>
          <a:xfrm>
            <a:off x="5077051" y="3420437"/>
            <a:ext cx="555280" cy="554351"/>
            <a:chOff x="7540309" y="2735044"/>
            <a:chExt cx="517622" cy="516756"/>
          </a:xfrm>
        </p:grpSpPr>
        <p:sp>
          <p:nvSpPr>
            <p:cNvPr id="49" name="Google Shape;1242;p96">
              <a:extLst>
                <a:ext uri="{FF2B5EF4-FFF2-40B4-BE49-F238E27FC236}">
                  <a16:creationId xmlns:a16="http://schemas.microsoft.com/office/drawing/2014/main" id="{24BB16A4-13D3-4162-35C1-82C166045E4C}"/>
                </a:ext>
              </a:extLst>
            </p:cNvPr>
            <p:cNvSpPr/>
            <p:nvPr/>
          </p:nvSpPr>
          <p:spPr>
            <a:xfrm>
              <a:off x="7540309" y="2735044"/>
              <a:ext cx="517622" cy="516756"/>
            </a:xfrm>
            <a:prstGeom prst="roundRect">
              <a:avLst>
                <a:gd name="adj" fmla="val 24855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/>
            </a:p>
          </p:txBody>
        </p:sp>
        <p:pic>
          <p:nvPicPr>
            <p:cNvPr id="50" name="Google Shape;1243;p96" descr="59,432 Conversation Icons - Free in SVG, PNG, ICO - IconScout">
              <a:extLst>
                <a:ext uri="{FF2B5EF4-FFF2-40B4-BE49-F238E27FC236}">
                  <a16:creationId xmlns:a16="http://schemas.microsoft.com/office/drawing/2014/main" id="{F6C784DA-80E9-5B9B-7060-352E7AFA4992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635963" y="2844651"/>
              <a:ext cx="331500" cy="33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Bent Arrow 52">
            <a:extLst>
              <a:ext uri="{FF2B5EF4-FFF2-40B4-BE49-F238E27FC236}">
                <a16:creationId xmlns:a16="http://schemas.microsoft.com/office/drawing/2014/main" id="{4D2F911C-4FC1-B804-2989-5FCDB1EAC57F}"/>
              </a:ext>
            </a:extLst>
          </p:cNvPr>
          <p:cNvSpPr/>
          <p:nvPr/>
        </p:nvSpPr>
        <p:spPr>
          <a:xfrm>
            <a:off x="8514880" y="1623757"/>
            <a:ext cx="1137429" cy="800382"/>
          </a:xfrm>
          <a:prstGeom prst="bentArrow">
            <a:avLst>
              <a:gd name="adj1" fmla="val 37667"/>
              <a:gd name="adj2" fmla="val 40538"/>
              <a:gd name="adj3" fmla="val 50000"/>
              <a:gd name="adj4" fmla="val 46645"/>
            </a:avLst>
          </a:prstGeom>
          <a:gradFill flip="none" rotWithShape="1">
            <a:gsLst>
              <a:gs pos="47000">
                <a:srgbClr val="D5D2CC"/>
              </a:gs>
              <a:gs pos="0">
                <a:srgbClr val="D1BAC4"/>
              </a:gs>
              <a:gs pos="62000">
                <a:srgbClr val="D7DED0"/>
              </a:gs>
              <a:gs pos="100000">
                <a:srgbClr val="D9EAD3"/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Google Shape;1239;p96">
            <a:extLst>
              <a:ext uri="{FF2B5EF4-FFF2-40B4-BE49-F238E27FC236}">
                <a16:creationId xmlns:a16="http://schemas.microsoft.com/office/drawing/2014/main" id="{D348A804-9778-04DD-1182-20D76AA57184}"/>
              </a:ext>
            </a:extLst>
          </p:cNvPr>
          <p:cNvSpPr/>
          <p:nvPr/>
        </p:nvSpPr>
        <p:spPr>
          <a:xfrm>
            <a:off x="7798031" y="2228945"/>
            <a:ext cx="1624578" cy="668388"/>
          </a:xfrm>
          <a:prstGeom prst="roundRect">
            <a:avLst>
              <a:gd name="adj" fmla="val 13347"/>
            </a:avLst>
          </a:prstGeom>
          <a:solidFill>
            <a:srgbClr val="D1BAC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00" i="1" dirty="0"/>
              <a:t>Auto Evaluation</a:t>
            </a:r>
            <a:endParaRPr sz="140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5F62C7-BDD5-93FC-2AC2-54E4FA296929}"/>
              </a:ext>
            </a:extLst>
          </p:cNvPr>
          <p:cNvSpPr txBox="1"/>
          <p:nvPr/>
        </p:nvSpPr>
        <p:spPr>
          <a:xfrm>
            <a:off x="276726" y="1254791"/>
            <a:ext cx="2541113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Reminiscence Stimulation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“Conversations were created to stimulate cognitive function by using reminiscence of old events in their lives”.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B1F909-EEF1-3CD3-B923-9858D3D8CAD8}"/>
              </a:ext>
            </a:extLst>
          </p:cNvPr>
          <p:cNvSpPr txBox="1"/>
          <p:nvPr/>
        </p:nvSpPr>
        <p:spPr>
          <a:xfrm>
            <a:off x="277595" y="2345242"/>
            <a:ext cx="2541113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Engaging Participants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“We aim to keep word counts by the conversational staff at or below 30% of the total word counts to provide ample opportunities for participants to talk.”</a:t>
            </a:r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29221F5A-4775-FAFC-1905-E19DE30522C5}"/>
              </a:ext>
            </a:extLst>
          </p:cNvPr>
          <p:cNvCxnSpPr>
            <a:cxnSpLocks/>
            <a:stCxn id="26" idx="3"/>
            <a:endCxn id="6" idx="1"/>
          </p:cNvCxnSpPr>
          <p:nvPr/>
        </p:nvCxnSpPr>
        <p:spPr>
          <a:xfrm>
            <a:off x="2817839" y="1731845"/>
            <a:ext cx="233529" cy="215404"/>
          </a:xfrm>
          <a:prstGeom prst="curvedConnector3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9A0ABF9F-D941-DF42-0F89-3D73E74F7BA7}"/>
              </a:ext>
            </a:extLst>
          </p:cNvPr>
          <p:cNvCxnSpPr>
            <a:cxnSpLocks/>
            <a:stCxn id="27" idx="3"/>
            <a:endCxn id="6" idx="1"/>
          </p:cNvCxnSpPr>
          <p:nvPr/>
        </p:nvCxnSpPr>
        <p:spPr>
          <a:xfrm flipV="1">
            <a:off x="2818708" y="1947249"/>
            <a:ext cx="232660" cy="875047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47FDD83-E78C-18C0-B3E8-9FEEAE832A61}"/>
              </a:ext>
            </a:extLst>
          </p:cNvPr>
          <p:cNvSpPr txBox="1"/>
          <p:nvPr/>
        </p:nvSpPr>
        <p:spPr>
          <a:xfrm>
            <a:off x="9534039" y="958716"/>
            <a:ext cx="23022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AI-CONECT Chatbot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9F8E4E-B514-DB60-4A76-ADA296FC9CB4}"/>
              </a:ext>
            </a:extLst>
          </p:cNvPr>
          <p:cNvSpPr txBox="1"/>
          <p:nvPr/>
        </p:nvSpPr>
        <p:spPr>
          <a:xfrm>
            <a:off x="277596" y="3417682"/>
            <a:ext cx="2553458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User-friendly Device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“To avoid confounding effects of cognitive stimulation from learning how to use videochats, the user-friendly simple chat device was created.”</a:t>
            </a:r>
          </a:p>
        </p:txBody>
      </p: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C840EAE2-28AF-14AF-0251-563394A375AE}"/>
              </a:ext>
            </a:extLst>
          </p:cNvPr>
          <p:cNvCxnSpPr>
            <a:cxnSpLocks/>
            <a:stCxn id="60" idx="3"/>
            <a:endCxn id="6" idx="1"/>
          </p:cNvCxnSpPr>
          <p:nvPr/>
        </p:nvCxnSpPr>
        <p:spPr>
          <a:xfrm flipV="1">
            <a:off x="2831054" y="1947249"/>
            <a:ext cx="220314" cy="1947487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Google Shape;1100;p91">
            <a:extLst>
              <a:ext uri="{FF2B5EF4-FFF2-40B4-BE49-F238E27FC236}">
                <a16:creationId xmlns:a16="http://schemas.microsoft.com/office/drawing/2014/main" id="{DECF27A1-206B-7AE5-C6D7-D0CBDE809F04}"/>
              </a:ext>
            </a:extLst>
          </p:cNvPr>
          <p:cNvSpPr/>
          <p:nvPr/>
        </p:nvSpPr>
        <p:spPr>
          <a:xfrm>
            <a:off x="10080976" y="2512746"/>
            <a:ext cx="1721127" cy="302096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i="1" dirty="0"/>
              <a:t>User-friendly Device</a:t>
            </a:r>
            <a:endParaRPr sz="1100" i="1" dirty="0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F50F177-D523-4951-C013-D92F231501AF}"/>
              </a:ext>
            </a:extLst>
          </p:cNvPr>
          <p:cNvSpPr/>
          <p:nvPr/>
        </p:nvSpPr>
        <p:spPr>
          <a:xfrm>
            <a:off x="10078732" y="2914015"/>
            <a:ext cx="1721128" cy="1300165"/>
          </a:xfrm>
          <a:prstGeom prst="roundRect">
            <a:avLst>
              <a:gd name="adj" fmla="val 9249"/>
            </a:avLst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Google Shape;1100;p91">
            <a:extLst>
              <a:ext uri="{FF2B5EF4-FFF2-40B4-BE49-F238E27FC236}">
                <a16:creationId xmlns:a16="http://schemas.microsoft.com/office/drawing/2014/main" id="{8D07CA60-8DA8-3E04-E8FF-C0623D5F6ADB}"/>
              </a:ext>
            </a:extLst>
          </p:cNvPr>
          <p:cNvSpPr/>
          <p:nvPr/>
        </p:nvSpPr>
        <p:spPr>
          <a:xfrm>
            <a:off x="6022817" y="2889391"/>
            <a:ext cx="1721127" cy="302096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i="1" dirty="0"/>
              <a:t>Vocabulary</a:t>
            </a:r>
            <a:endParaRPr sz="1100" i="1" dirty="0"/>
          </a:p>
        </p:txBody>
      </p:sp>
    </p:spTree>
    <p:extLst>
      <p:ext uri="{BB962C8B-B14F-4D97-AF65-F5344CB8AC3E}">
        <p14:creationId xmlns:p14="http://schemas.microsoft.com/office/powerpoint/2010/main" val="287249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DD8CF4-7ABE-8FA7-EFEE-795B894D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776C07A5-DA6C-522D-D4A7-9DFC10F9A7C5}"/>
              </a:ext>
            </a:extLst>
          </p:cNvPr>
          <p:cNvSpPr txBox="1"/>
          <p:nvPr/>
        </p:nvSpPr>
        <p:spPr>
          <a:xfrm>
            <a:off x="817503" y="5441668"/>
            <a:ext cx="11035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Claim: A-CONECT framework transform clinical protocol into a scalable benchmark to drive the design of AI Chatbot.</a:t>
            </a:r>
          </a:p>
        </p:txBody>
      </p:sp>
      <p:sp>
        <p:nvSpPr>
          <p:cNvPr id="3" name="Google Shape;1218;p96">
            <a:extLst>
              <a:ext uri="{FF2B5EF4-FFF2-40B4-BE49-F238E27FC236}">
                <a16:creationId xmlns:a16="http://schemas.microsoft.com/office/drawing/2014/main" id="{D38B1B6C-20ED-CF91-1C1A-8A2103BB5DA1}"/>
              </a:ext>
            </a:extLst>
          </p:cNvPr>
          <p:cNvSpPr/>
          <p:nvPr/>
        </p:nvSpPr>
        <p:spPr>
          <a:xfrm>
            <a:off x="2515110" y="916910"/>
            <a:ext cx="8399633" cy="2000371"/>
          </a:xfrm>
          <a:prstGeom prst="rightArrow">
            <a:avLst>
              <a:gd name="adj1" fmla="val 69303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E474DFF-9B78-CFF3-70E8-2031345ECFD9}"/>
              </a:ext>
            </a:extLst>
          </p:cNvPr>
          <p:cNvSpPr/>
          <p:nvPr/>
        </p:nvSpPr>
        <p:spPr>
          <a:xfrm>
            <a:off x="5646154" y="1350173"/>
            <a:ext cx="3587619" cy="2880742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4C9D976-64B6-2910-5A7A-D9A4ED2119C4}"/>
              </a:ext>
            </a:extLst>
          </p:cNvPr>
          <p:cNvSpPr/>
          <p:nvPr/>
        </p:nvSpPr>
        <p:spPr>
          <a:xfrm>
            <a:off x="2708193" y="1350173"/>
            <a:ext cx="2795060" cy="2880742"/>
          </a:xfrm>
          <a:prstGeom prst="roundRect">
            <a:avLst>
              <a:gd name="adj" fmla="val 7032"/>
            </a:avLst>
          </a:prstGeom>
          <a:noFill/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Google Shape;1227;p96">
            <a:extLst>
              <a:ext uri="{FF2B5EF4-FFF2-40B4-BE49-F238E27FC236}">
                <a16:creationId xmlns:a16="http://schemas.microsoft.com/office/drawing/2014/main" id="{ED0BD283-A42E-8CEA-C57A-6ADBC1B89DFC}"/>
              </a:ext>
            </a:extLst>
          </p:cNvPr>
          <p:cNvSpPr/>
          <p:nvPr/>
        </p:nvSpPr>
        <p:spPr>
          <a:xfrm>
            <a:off x="4486551" y="2817480"/>
            <a:ext cx="774496" cy="1000737"/>
          </a:xfrm>
          <a:prstGeom prst="leftUpArrow">
            <a:avLst>
              <a:gd name="adj1" fmla="val 18061"/>
              <a:gd name="adj2" fmla="val 16462"/>
              <a:gd name="adj3" fmla="val 17767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/>
          </a:p>
        </p:txBody>
      </p:sp>
      <p:sp>
        <p:nvSpPr>
          <p:cNvPr id="12" name="Google Shape;1227;p96">
            <a:extLst>
              <a:ext uri="{FF2B5EF4-FFF2-40B4-BE49-F238E27FC236}">
                <a16:creationId xmlns:a16="http://schemas.microsoft.com/office/drawing/2014/main" id="{8E27CBCA-295C-8466-DC27-62BFB7EC1FDA}"/>
              </a:ext>
            </a:extLst>
          </p:cNvPr>
          <p:cNvSpPr/>
          <p:nvPr/>
        </p:nvSpPr>
        <p:spPr>
          <a:xfrm>
            <a:off x="7381219" y="2398425"/>
            <a:ext cx="2295672" cy="1400433"/>
          </a:xfrm>
          <a:prstGeom prst="leftUpArrow">
            <a:avLst>
              <a:gd name="adj1" fmla="val 7499"/>
              <a:gd name="adj2" fmla="val 7668"/>
              <a:gd name="adj3" fmla="val 1085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1200" i="1" dirty="0"/>
          </a:p>
        </p:txBody>
      </p:sp>
      <p:sp>
        <p:nvSpPr>
          <p:cNvPr id="5" name="Google Shape;1220;p96">
            <a:extLst>
              <a:ext uri="{FF2B5EF4-FFF2-40B4-BE49-F238E27FC236}">
                <a16:creationId xmlns:a16="http://schemas.microsoft.com/office/drawing/2014/main" id="{39E8CCB1-666E-A58E-46D8-8DC9B3EF0325}"/>
              </a:ext>
            </a:extLst>
          </p:cNvPr>
          <p:cNvSpPr/>
          <p:nvPr/>
        </p:nvSpPr>
        <p:spPr>
          <a:xfrm>
            <a:off x="3651172" y="1616223"/>
            <a:ext cx="5685280" cy="627561"/>
          </a:xfrm>
          <a:prstGeom prst="rightArrow">
            <a:avLst>
              <a:gd name="adj1" fmla="val 50000"/>
              <a:gd name="adj2" fmla="val 56179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/>
          </a:p>
        </p:txBody>
      </p:sp>
      <p:sp>
        <p:nvSpPr>
          <p:cNvPr id="6" name="Google Shape;1221;p96">
            <a:extLst>
              <a:ext uri="{FF2B5EF4-FFF2-40B4-BE49-F238E27FC236}">
                <a16:creationId xmlns:a16="http://schemas.microsoft.com/office/drawing/2014/main" id="{3F8831C5-B606-6429-85E0-6803815C1C3F}"/>
              </a:ext>
            </a:extLst>
          </p:cNvPr>
          <p:cNvSpPr/>
          <p:nvPr/>
        </p:nvSpPr>
        <p:spPr>
          <a:xfrm>
            <a:off x="2774642" y="1404886"/>
            <a:ext cx="1059399" cy="1036602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00" i="1" dirty="0">
                <a:solidFill>
                  <a:schemeClr val="dk1"/>
                </a:solidFill>
              </a:rPr>
              <a:t>Clinical Protocols</a:t>
            </a:r>
            <a:endParaRPr dirty="0"/>
          </a:p>
        </p:txBody>
      </p:sp>
      <p:grpSp>
        <p:nvGrpSpPr>
          <p:cNvPr id="7" name="Google Shape;1222;p96">
            <a:extLst>
              <a:ext uri="{FF2B5EF4-FFF2-40B4-BE49-F238E27FC236}">
                <a16:creationId xmlns:a16="http://schemas.microsoft.com/office/drawing/2014/main" id="{6CF8C436-1308-7733-10DC-2E4E1D0543CE}"/>
              </a:ext>
            </a:extLst>
          </p:cNvPr>
          <p:cNvGrpSpPr/>
          <p:nvPr/>
        </p:nvGrpSpPr>
        <p:grpSpPr>
          <a:xfrm>
            <a:off x="9293734" y="1404886"/>
            <a:ext cx="2229400" cy="1036602"/>
            <a:chOff x="2555051" y="1436400"/>
            <a:chExt cx="2078203" cy="966300"/>
          </a:xfrm>
        </p:grpSpPr>
        <p:sp>
          <p:nvSpPr>
            <p:cNvPr id="8" name="Google Shape;1223;p96">
              <a:extLst>
                <a:ext uri="{FF2B5EF4-FFF2-40B4-BE49-F238E27FC236}">
                  <a16:creationId xmlns:a16="http://schemas.microsoft.com/office/drawing/2014/main" id="{62F63168-C63F-6C74-1FED-37BB4426B0CC}"/>
                </a:ext>
              </a:extLst>
            </p:cNvPr>
            <p:cNvSpPr/>
            <p:nvPr/>
          </p:nvSpPr>
          <p:spPr>
            <a:xfrm>
              <a:off x="2555051" y="1436400"/>
              <a:ext cx="2078203" cy="966300"/>
            </a:xfrm>
            <a:prstGeom prst="roundRect">
              <a:avLst>
                <a:gd name="adj" fmla="val 1334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9" name="Google Shape;1224;p96">
              <a:extLst>
                <a:ext uri="{FF2B5EF4-FFF2-40B4-BE49-F238E27FC236}">
                  <a16:creationId xmlns:a16="http://schemas.microsoft.com/office/drawing/2014/main" id="{72DDD305-9E65-60DC-F61F-89C3E07F27A2}"/>
                </a:ext>
              </a:extLst>
            </p:cNvPr>
            <p:cNvSpPr txBox="1"/>
            <p:nvPr/>
          </p:nvSpPr>
          <p:spPr>
            <a:xfrm>
              <a:off x="3073881" y="1718737"/>
              <a:ext cx="850270" cy="401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r>
                <a:rPr lang="en-US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LLM +</a:t>
              </a:r>
              <a:endParaRPr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0" name="Google Shape;1225;p96" descr="ChatGPT Logo and symbol, meaning, history, PNG, brand">
              <a:extLst>
                <a:ext uri="{FF2B5EF4-FFF2-40B4-BE49-F238E27FC236}">
                  <a16:creationId xmlns:a16="http://schemas.microsoft.com/office/drawing/2014/main" id="{EC4F05F8-FF9B-6ECD-0F9E-98DEA168A7F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2631350" y="1684312"/>
              <a:ext cx="486950" cy="470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226;p96">
              <a:extLst>
                <a:ext uri="{FF2B5EF4-FFF2-40B4-BE49-F238E27FC236}">
                  <a16:creationId xmlns:a16="http://schemas.microsoft.com/office/drawing/2014/main" id="{9E4B32D7-7F8C-1DFE-8FE6-D90828D12ED3}"/>
                </a:ext>
              </a:extLst>
            </p:cNvPr>
            <p:cNvSpPr/>
            <p:nvPr/>
          </p:nvSpPr>
          <p:spPr>
            <a:xfrm>
              <a:off x="3727274" y="1546500"/>
              <a:ext cx="826500" cy="746100"/>
            </a:xfrm>
            <a:prstGeom prst="roundRect">
              <a:avLst>
                <a:gd name="adj" fmla="val 9290"/>
              </a:avLst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200" b="1" i="1" dirty="0"/>
                <a:t>Prompt Design</a:t>
              </a:r>
              <a:endParaRPr sz="1100" b="1" i="1" dirty="0"/>
            </a:p>
          </p:txBody>
        </p:sp>
      </p:grpSp>
      <p:sp>
        <p:nvSpPr>
          <p:cNvPr id="13" name="Google Shape;1228;p96">
            <a:extLst>
              <a:ext uri="{FF2B5EF4-FFF2-40B4-BE49-F238E27FC236}">
                <a16:creationId xmlns:a16="http://schemas.microsoft.com/office/drawing/2014/main" id="{EFF09B28-53EF-B5F7-CCB5-5654FE6DC22A}"/>
              </a:ext>
            </a:extLst>
          </p:cNvPr>
          <p:cNvSpPr/>
          <p:nvPr/>
        </p:nvSpPr>
        <p:spPr>
          <a:xfrm>
            <a:off x="5122428" y="3469945"/>
            <a:ext cx="691810" cy="407210"/>
          </a:xfrm>
          <a:prstGeom prst="rightArrow">
            <a:avLst>
              <a:gd name="adj1" fmla="val 69303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/>
          </a:p>
        </p:txBody>
      </p:sp>
      <p:grpSp>
        <p:nvGrpSpPr>
          <p:cNvPr id="14" name="Google Shape;1229;p96">
            <a:extLst>
              <a:ext uri="{FF2B5EF4-FFF2-40B4-BE49-F238E27FC236}">
                <a16:creationId xmlns:a16="http://schemas.microsoft.com/office/drawing/2014/main" id="{B47CC7A6-2BB5-11EC-6636-7EEDD59F3BFE}"/>
              </a:ext>
            </a:extLst>
          </p:cNvPr>
          <p:cNvGrpSpPr/>
          <p:nvPr/>
        </p:nvGrpSpPr>
        <p:grpSpPr>
          <a:xfrm>
            <a:off x="2785985" y="3211729"/>
            <a:ext cx="1721126" cy="923642"/>
            <a:chOff x="7467525" y="3346425"/>
            <a:chExt cx="1604400" cy="861001"/>
          </a:xfrm>
        </p:grpSpPr>
        <p:sp>
          <p:nvSpPr>
            <p:cNvPr id="15" name="Google Shape;1230;p96">
              <a:extLst>
                <a:ext uri="{FF2B5EF4-FFF2-40B4-BE49-F238E27FC236}">
                  <a16:creationId xmlns:a16="http://schemas.microsoft.com/office/drawing/2014/main" id="{E0273B3A-ADCF-7808-4B77-8DAE03882A0C}"/>
                </a:ext>
              </a:extLst>
            </p:cNvPr>
            <p:cNvSpPr/>
            <p:nvPr/>
          </p:nvSpPr>
          <p:spPr>
            <a:xfrm>
              <a:off x="7467525" y="3346425"/>
              <a:ext cx="1604400" cy="861001"/>
            </a:xfrm>
            <a:prstGeom prst="roundRect">
              <a:avLst>
                <a:gd name="adj" fmla="val 13347"/>
              </a:avLst>
            </a:prstGeom>
            <a:solidFill>
              <a:srgbClr val="EFEFEF"/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/>
            </a:p>
          </p:txBody>
        </p:sp>
        <p:pic>
          <p:nvPicPr>
            <p:cNvPr id="16" name="Google Shape;1231;p96" descr="Elder Icon #60510 - Free Icons Library">
              <a:extLst>
                <a:ext uri="{FF2B5EF4-FFF2-40B4-BE49-F238E27FC236}">
                  <a16:creationId xmlns:a16="http://schemas.microsoft.com/office/drawing/2014/main" id="{6BBEA13F-8C56-5507-FFE1-549E49E5BCD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6258" t="15380" r="26700" b="15862"/>
            <a:stretch/>
          </p:blipFill>
          <p:spPr>
            <a:xfrm flipH="1">
              <a:off x="8472450" y="3474701"/>
              <a:ext cx="410400" cy="599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232;p96">
              <a:extLst>
                <a:ext uri="{FF2B5EF4-FFF2-40B4-BE49-F238E27FC236}">
                  <a16:creationId xmlns:a16="http://schemas.microsoft.com/office/drawing/2014/main" id="{EBB5BC02-74BF-05DC-D37B-C10899712BD4}"/>
                </a:ext>
              </a:extLst>
            </p:cNvPr>
            <p:cNvSpPr txBox="1"/>
            <p:nvPr/>
          </p:nvSpPr>
          <p:spPr>
            <a:xfrm>
              <a:off x="7579607" y="3409685"/>
              <a:ext cx="780600" cy="745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MCI/NC Older Users</a:t>
              </a:r>
              <a:endParaRPr sz="1200" b="1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8" name="Google Shape;1233;p96">
            <a:extLst>
              <a:ext uri="{FF2B5EF4-FFF2-40B4-BE49-F238E27FC236}">
                <a16:creationId xmlns:a16="http://schemas.microsoft.com/office/drawing/2014/main" id="{72E4973F-81E9-673D-5DE6-FB015DEA666B}"/>
              </a:ext>
            </a:extLst>
          </p:cNvPr>
          <p:cNvGrpSpPr/>
          <p:nvPr/>
        </p:nvGrpSpPr>
        <p:grpSpPr>
          <a:xfrm>
            <a:off x="5740034" y="3211730"/>
            <a:ext cx="1721126" cy="923641"/>
            <a:chOff x="7334399" y="3809869"/>
            <a:chExt cx="1604400" cy="860999"/>
          </a:xfrm>
        </p:grpSpPr>
        <p:sp>
          <p:nvSpPr>
            <p:cNvPr id="19" name="Google Shape;1234;p96">
              <a:extLst>
                <a:ext uri="{FF2B5EF4-FFF2-40B4-BE49-F238E27FC236}">
                  <a16:creationId xmlns:a16="http://schemas.microsoft.com/office/drawing/2014/main" id="{00C05743-1DB4-2BE2-50A6-E49F3564205D}"/>
                </a:ext>
              </a:extLst>
            </p:cNvPr>
            <p:cNvSpPr/>
            <p:nvPr/>
          </p:nvSpPr>
          <p:spPr>
            <a:xfrm>
              <a:off x="7334399" y="3809869"/>
              <a:ext cx="1604400" cy="860999"/>
            </a:xfrm>
            <a:prstGeom prst="roundRect">
              <a:avLst>
                <a:gd name="adj" fmla="val 1334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/>
            </a:p>
          </p:txBody>
        </p:sp>
        <p:pic>
          <p:nvPicPr>
            <p:cNvPr id="20" name="Google Shape;1235;p96" descr="Elder Icon #60510 - Free Icons Library">
              <a:extLst>
                <a:ext uri="{FF2B5EF4-FFF2-40B4-BE49-F238E27FC236}">
                  <a16:creationId xmlns:a16="http://schemas.microsoft.com/office/drawing/2014/main" id="{A5FED2D6-F0DA-8DC9-63B8-A3A53A98BF3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4000" contrast="63000"/>
                      </a14:imgEffect>
                    </a14:imgLayer>
                  </a14:imgProps>
                </a:ext>
              </a:extLst>
            </a:blip>
            <a:srcRect l="26258" t="15380" r="26700" b="15862"/>
            <a:stretch/>
          </p:blipFill>
          <p:spPr>
            <a:xfrm flipH="1">
              <a:off x="8472451" y="3954022"/>
              <a:ext cx="391828" cy="572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236;p96">
              <a:extLst>
                <a:ext uri="{FF2B5EF4-FFF2-40B4-BE49-F238E27FC236}">
                  <a16:creationId xmlns:a16="http://schemas.microsoft.com/office/drawing/2014/main" id="{8B2D4820-B97F-CF47-7C42-9CA0A34B0F7E}"/>
                </a:ext>
              </a:extLst>
            </p:cNvPr>
            <p:cNvSpPr txBox="1"/>
            <p:nvPr/>
          </p:nvSpPr>
          <p:spPr>
            <a:xfrm>
              <a:off x="7334400" y="3886275"/>
              <a:ext cx="1348500" cy="717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" sz="12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Virtual User</a:t>
              </a:r>
              <a:endParaRPr sz="12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algn="ctr"/>
              <a:r>
                <a:rPr lang="en" sz="1100" i="1" dirty="0">
                  <a:solidFill>
                    <a:srgbClr val="666666"/>
                  </a:solidFill>
                </a:rPr>
                <a:t>Fine-Tuned </a:t>
              </a:r>
              <a:br>
                <a:rPr lang="en" sz="1100" i="1" dirty="0">
                  <a:solidFill>
                    <a:srgbClr val="666666"/>
                  </a:solidFill>
                </a:rPr>
              </a:br>
              <a:r>
                <a:rPr lang="en" sz="1100" i="1" dirty="0">
                  <a:solidFill>
                    <a:srgbClr val="666666"/>
                  </a:solidFill>
                </a:rPr>
                <a:t>LLM</a:t>
              </a:r>
              <a:endParaRPr sz="1100" i="1" dirty="0">
                <a:solidFill>
                  <a:srgbClr val="666666"/>
                </a:solidFill>
              </a:endParaRPr>
            </a:p>
          </p:txBody>
        </p:sp>
        <p:pic>
          <p:nvPicPr>
            <p:cNvPr id="22" name="Google Shape;1237;p96" descr="ChatGPT Logo and symbol, meaning, history, PNG, brand">
              <a:extLst>
                <a:ext uri="{FF2B5EF4-FFF2-40B4-BE49-F238E27FC236}">
                  <a16:creationId xmlns:a16="http://schemas.microsoft.com/office/drawing/2014/main" id="{64B9C741-573C-E6DF-CA53-D5AED79C91F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5319" t="5918" r="25265" b="9292"/>
            <a:stretch/>
          </p:blipFill>
          <p:spPr>
            <a:xfrm>
              <a:off x="7389125" y="4236412"/>
              <a:ext cx="256224" cy="2475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1238;p96">
            <a:extLst>
              <a:ext uri="{FF2B5EF4-FFF2-40B4-BE49-F238E27FC236}">
                <a16:creationId xmlns:a16="http://schemas.microsoft.com/office/drawing/2014/main" id="{58E0E31F-26FF-35A5-F0C0-CA5FF0325C4B}"/>
              </a:ext>
            </a:extLst>
          </p:cNvPr>
          <p:cNvSpPr/>
          <p:nvPr/>
        </p:nvSpPr>
        <p:spPr>
          <a:xfrm rot="16200000">
            <a:off x="8040905" y="2833681"/>
            <a:ext cx="617005" cy="508381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BACAE6"/>
              </a:gs>
              <a:gs pos="80000">
                <a:srgbClr val="D1BAC4"/>
              </a:gs>
              <a:gs pos="100000">
                <a:srgbClr val="D1BAC4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80E8FB-83D7-BE3A-D424-0C77AF1F1275}"/>
              </a:ext>
            </a:extLst>
          </p:cNvPr>
          <p:cNvSpPr txBox="1"/>
          <p:nvPr/>
        </p:nvSpPr>
        <p:spPr>
          <a:xfrm>
            <a:off x="2572291" y="645788"/>
            <a:ext cx="306686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I-CONECT Clinical Trial</a:t>
            </a:r>
          </a:p>
          <a:p>
            <a:pPr algn="ctr"/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validate the effectiveness of the conversational </a:t>
            </a:r>
          </a:p>
          <a:p>
            <a:pPr algn="ctr"/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engagement for dementia prevention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ED7492-D546-3E8E-8297-CE17051297F9}"/>
              </a:ext>
            </a:extLst>
          </p:cNvPr>
          <p:cNvSpPr txBox="1"/>
          <p:nvPr/>
        </p:nvSpPr>
        <p:spPr>
          <a:xfrm>
            <a:off x="5979468" y="645788"/>
            <a:ext cx="292099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AI-CONECT Virtual Benchmark</a:t>
            </a:r>
          </a:p>
          <a:p>
            <a:pPr algn="ctr"/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validate the language compliance of LLMs in </a:t>
            </a:r>
          </a:p>
          <a:p>
            <a:pPr algn="ctr"/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implementing the conversational engagement</a:t>
            </a:r>
          </a:p>
        </p:txBody>
      </p:sp>
      <p:grpSp>
        <p:nvGrpSpPr>
          <p:cNvPr id="42" name="Google Shape;1241;p96">
            <a:extLst>
              <a:ext uri="{FF2B5EF4-FFF2-40B4-BE49-F238E27FC236}">
                <a16:creationId xmlns:a16="http://schemas.microsoft.com/office/drawing/2014/main" id="{56D797FF-C058-A5DF-A9BC-45B3105CA4DB}"/>
              </a:ext>
            </a:extLst>
          </p:cNvPr>
          <p:cNvGrpSpPr/>
          <p:nvPr/>
        </p:nvGrpSpPr>
        <p:grpSpPr>
          <a:xfrm>
            <a:off x="7587279" y="3351822"/>
            <a:ext cx="1492630" cy="643457"/>
            <a:chOff x="7440902" y="2657451"/>
            <a:chExt cx="1391401" cy="599819"/>
          </a:xfrm>
        </p:grpSpPr>
        <p:sp>
          <p:nvSpPr>
            <p:cNvPr id="43" name="Google Shape;1242;p96">
              <a:extLst>
                <a:ext uri="{FF2B5EF4-FFF2-40B4-BE49-F238E27FC236}">
                  <a16:creationId xmlns:a16="http://schemas.microsoft.com/office/drawing/2014/main" id="{D0AFFD94-3116-188D-66AF-149700B2C29C}"/>
                </a:ext>
              </a:extLst>
            </p:cNvPr>
            <p:cNvSpPr/>
            <p:nvPr/>
          </p:nvSpPr>
          <p:spPr>
            <a:xfrm>
              <a:off x="7440902" y="2657451"/>
              <a:ext cx="1391401" cy="599819"/>
            </a:xfrm>
            <a:prstGeom prst="roundRect">
              <a:avLst>
                <a:gd name="adj" fmla="val 13347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/>
            </a:p>
          </p:txBody>
        </p:sp>
        <p:pic>
          <p:nvPicPr>
            <p:cNvPr id="44" name="Google Shape;1243;p96" descr="59,432 Conversation Icons - Free in SVG, PNG, ICO - IconScout">
              <a:extLst>
                <a:ext uri="{FF2B5EF4-FFF2-40B4-BE49-F238E27FC236}">
                  <a16:creationId xmlns:a16="http://schemas.microsoft.com/office/drawing/2014/main" id="{C0B1D05B-D9B7-F850-62A8-76E6BD35F2CE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75181" y="2825164"/>
              <a:ext cx="331500" cy="3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1244;p96">
              <a:extLst>
                <a:ext uri="{FF2B5EF4-FFF2-40B4-BE49-F238E27FC236}">
                  <a16:creationId xmlns:a16="http://schemas.microsoft.com/office/drawing/2014/main" id="{63D4984E-5E5D-3872-5051-5CEBBF7B250E}"/>
                </a:ext>
              </a:extLst>
            </p:cNvPr>
            <p:cNvSpPr txBox="1"/>
            <p:nvPr/>
          </p:nvSpPr>
          <p:spPr>
            <a:xfrm>
              <a:off x="7848950" y="2687150"/>
              <a:ext cx="954767" cy="545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-US" sz="1100" i="1" dirty="0">
                  <a:solidFill>
                    <a:schemeClr val="dk1"/>
                  </a:solidFill>
                </a:rPr>
                <a:t>Virtual Conversation</a:t>
              </a:r>
            </a:p>
          </p:txBody>
        </p:sp>
      </p:grpSp>
      <p:pic>
        <p:nvPicPr>
          <p:cNvPr id="4" name="Google Shape;1219;p96" descr="Doctor, female doctor, lady doctor, physician, professional icon - Download  on Iconfinder">
            <a:extLst>
              <a:ext uri="{FF2B5EF4-FFF2-40B4-BE49-F238E27FC236}">
                <a16:creationId xmlns:a16="http://schemas.microsoft.com/office/drawing/2014/main" id="{154D65F8-F073-A9CB-88A6-3E23BA444F1C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5291" y="757570"/>
            <a:ext cx="383931" cy="3839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21;p96">
            <a:extLst>
              <a:ext uri="{FF2B5EF4-FFF2-40B4-BE49-F238E27FC236}">
                <a16:creationId xmlns:a16="http://schemas.microsoft.com/office/drawing/2014/main" id="{5016140B-FC03-03FE-2748-E0A15743CB3B}"/>
              </a:ext>
            </a:extLst>
          </p:cNvPr>
          <p:cNvSpPr/>
          <p:nvPr/>
        </p:nvSpPr>
        <p:spPr>
          <a:xfrm>
            <a:off x="3982467" y="2224242"/>
            <a:ext cx="1417539" cy="649029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200" b="1" dirty="0">
                <a:solidFill>
                  <a:schemeClr val="dk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Trained Interviewers</a:t>
            </a:r>
            <a:endParaRPr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993396-1CDA-3D07-659D-74C5B2050DCC}"/>
              </a:ext>
            </a:extLst>
          </p:cNvPr>
          <p:cNvGrpSpPr/>
          <p:nvPr/>
        </p:nvGrpSpPr>
        <p:grpSpPr>
          <a:xfrm>
            <a:off x="5735193" y="2209280"/>
            <a:ext cx="1725967" cy="663991"/>
            <a:chOff x="3203732" y="2187585"/>
            <a:chExt cx="1725967" cy="663991"/>
          </a:xfrm>
        </p:grpSpPr>
        <p:sp>
          <p:nvSpPr>
            <p:cNvPr id="31" name="Google Shape;1098;p91">
              <a:extLst>
                <a:ext uri="{FF2B5EF4-FFF2-40B4-BE49-F238E27FC236}">
                  <a16:creationId xmlns:a16="http://schemas.microsoft.com/office/drawing/2014/main" id="{B54E5D49-475B-FE6C-798B-6C9A55955495}"/>
                </a:ext>
              </a:extLst>
            </p:cNvPr>
            <p:cNvSpPr/>
            <p:nvPr/>
          </p:nvSpPr>
          <p:spPr>
            <a:xfrm>
              <a:off x="3208572" y="2187585"/>
              <a:ext cx="1721127" cy="302096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100" i="1" dirty="0"/>
                <a:t>Reminiscence Ratio</a:t>
              </a:r>
              <a:endParaRPr sz="1100" i="1" dirty="0"/>
            </a:p>
          </p:txBody>
        </p:sp>
        <p:sp>
          <p:nvSpPr>
            <p:cNvPr id="36" name="Google Shape;1100;p91">
              <a:extLst>
                <a:ext uri="{FF2B5EF4-FFF2-40B4-BE49-F238E27FC236}">
                  <a16:creationId xmlns:a16="http://schemas.microsoft.com/office/drawing/2014/main" id="{DD1422E5-AD77-18BF-6032-17EDB393C36D}"/>
                </a:ext>
              </a:extLst>
            </p:cNvPr>
            <p:cNvSpPr/>
            <p:nvPr/>
          </p:nvSpPr>
          <p:spPr>
            <a:xfrm>
              <a:off x="3203732" y="2549480"/>
              <a:ext cx="1721127" cy="302096"/>
            </a:xfrm>
            <a:prstGeom prst="roundRect">
              <a:avLst>
                <a:gd name="adj" fmla="val 16667"/>
              </a:avLst>
            </a:prstGeom>
            <a:solidFill>
              <a:srgbClr val="EAD1D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100" i="1" dirty="0"/>
                <a:t>User Word Ratio</a:t>
              </a:r>
              <a:endParaRPr sz="1100" i="1" dirty="0"/>
            </a:p>
          </p:txBody>
        </p:sp>
      </p:grpSp>
      <p:sp>
        <p:nvSpPr>
          <p:cNvPr id="40" name="Bent Arrow 39">
            <a:extLst>
              <a:ext uri="{FF2B5EF4-FFF2-40B4-BE49-F238E27FC236}">
                <a16:creationId xmlns:a16="http://schemas.microsoft.com/office/drawing/2014/main" id="{12E9B676-0DD2-DBF4-6B6F-CA1F45ABF0E8}"/>
              </a:ext>
            </a:extLst>
          </p:cNvPr>
          <p:cNvSpPr/>
          <p:nvPr/>
        </p:nvSpPr>
        <p:spPr>
          <a:xfrm rot="5400000">
            <a:off x="5902841" y="1483024"/>
            <a:ext cx="437432" cy="1026236"/>
          </a:xfrm>
          <a:prstGeom prst="bentArrow">
            <a:avLst>
              <a:gd name="adj1" fmla="val 71263"/>
              <a:gd name="adj2" fmla="val 50000"/>
              <a:gd name="adj3" fmla="val 22589"/>
              <a:gd name="adj4" fmla="val 63034"/>
            </a:avLst>
          </a:prstGeom>
          <a:gradFill flip="none" rotWithShape="1">
            <a:gsLst>
              <a:gs pos="61000">
                <a:srgbClr val="DBCFD4"/>
              </a:gs>
              <a:gs pos="0">
                <a:srgbClr val="CCCCCC"/>
              </a:gs>
              <a:gs pos="100000">
                <a:srgbClr val="EAD1DC"/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Bent Arrow 46">
            <a:extLst>
              <a:ext uri="{FF2B5EF4-FFF2-40B4-BE49-F238E27FC236}">
                <a16:creationId xmlns:a16="http://schemas.microsoft.com/office/drawing/2014/main" id="{A7FEBB65-9FAB-5937-F9ED-3E995EDDDE3B}"/>
              </a:ext>
            </a:extLst>
          </p:cNvPr>
          <p:cNvSpPr/>
          <p:nvPr/>
        </p:nvSpPr>
        <p:spPr>
          <a:xfrm rot="5400000">
            <a:off x="4361102" y="1477627"/>
            <a:ext cx="437432" cy="1026236"/>
          </a:xfrm>
          <a:prstGeom prst="bentArrow">
            <a:avLst>
              <a:gd name="adj1" fmla="val 71263"/>
              <a:gd name="adj2" fmla="val 50000"/>
              <a:gd name="adj3" fmla="val 22589"/>
              <a:gd name="adj4" fmla="val 63034"/>
            </a:avLst>
          </a:prstGeom>
          <a:gradFill flip="none" rotWithShape="1">
            <a:gsLst>
              <a:gs pos="78000">
                <a:srgbClr val="BBCFAD"/>
              </a:gs>
              <a:gs pos="0">
                <a:srgbClr val="CCCCCC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9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8" name="Google Shape;1241;p96">
            <a:extLst>
              <a:ext uri="{FF2B5EF4-FFF2-40B4-BE49-F238E27FC236}">
                <a16:creationId xmlns:a16="http://schemas.microsoft.com/office/drawing/2014/main" id="{15D11885-F482-2627-FFEB-9C0F78C5747B}"/>
              </a:ext>
            </a:extLst>
          </p:cNvPr>
          <p:cNvGrpSpPr/>
          <p:nvPr/>
        </p:nvGrpSpPr>
        <p:grpSpPr>
          <a:xfrm>
            <a:off x="4800325" y="3396375"/>
            <a:ext cx="555280" cy="554351"/>
            <a:chOff x="7540309" y="2735044"/>
            <a:chExt cx="517622" cy="516756"/>
          </a:xfrm>
        </p:grpSpPr>
        <p:sp>
          <p:nvSpPr>
            <p:cNvPr id="49" name="Google Shape;1242;p96">
              <a:extLst>
                <a:ext uri="{FF2B5EF4-FFF2-40B4-BE49-F238E27FC236}">
                  <a16:creationId xmlns:a16="http://schemas.microsoft.com/office/drawing/2014/main" id="{4C45720A-8F99-0C25-C8C2-A5CE3BCFC276}"/>
                </a:ext>
              </a:extLst>
            </p:cNvPr>
            <p:cNvSpPr/>
            <p:nvPr/>
          </p:nvSpPr>
          <p:spPr>
            <a:xfrm>
              <a:off x="7540309" y="2735044"/>
              <a:ext cx="517622" cy="516756"/>
            </a:xfrm>
            <a:prstGeom prst="roundRect">
              <a:avLst>
                <a:gd name="adj" fmla="val 24855"/>
              </a:avLst>
            </a:prstGeom>
            <a:solidFill>
              <a:srgbClr val="BACA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1200" i="1"/>
            </a:p>
          </p:txBody>
        </p:sp>
        <p:pic>
          <p:nvPicPr>
            <p:cNvPr id="50" name="Google Shape;1243;p96" descr="59,432 Conversation Icons - Free in SVG, PNG, ICO - IconScout">
              <a:extLst>
                <a:ext uri="{FF2B5EF4-FFF2-40B4-BE49-F238E27FC236}">
                  <a16:creationId xmlns:a16="http://schemas.microsoft.com/office/drawing/2014/main" id="{87937A1C-BA9B-8951-09B5-30689595C899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635963" y="2844651"/>
              <a:ext cx="331500" cy="33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Bent Arrow 52">
            <a:extLst>
              <a:ext uri="{FF2B5EF4-FFF2-40B4-BE49-F238E27FC236}">
                <a16:creationId xmlns:a16="http://schemas.microsoft.com/office/drawing/2014/main" id="{E906B24A-CA92-6C2A-2885-93812174FDE4}"/>
              </a:ext>
            </a:extLst>
          </p:cNvPr>
          <p:cNvSpPr/>
          <p:nvPr/>
        </p:nvSpPr>
        <p:spPr>
          <a:xfrm>
            <a:off x="8238154" y="1599695"/>
            <a:ext cx="1137429" cy="800382"/>
          </a:xfrm>
          <a:prstGeom prst="bentArrow">
            <a:avLst>
              <a:gd name="adj1" fmla="val 37667"/>
              <a:gd name="adj2" fmla="val 40538"/>
              <a:gd name="adj3" fmla="val 50000"/>
              <a:gd name="adj4" fmla="val 46645"/>
            </a:avLst>
          </a:prstGeom>
          <a:gradFill flip="none" rotWithShape="1">
            <a:gsLst>
              <a:gs pos="47000">
                <a:srgbClr val="D5D2CC"/>
              </a:gs>
              <a:gs pos="0">
                <a:srgbClr val="D1BAC4"/>
              </a:gs>
              <a:gs pos="62000">
                <a:srgbClr val="D7DED0"/>
              </a:gs>
              <a:gs pos="100000">
                <a:srgbClr val="D9EAD3"/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Google Shape;1239;p96">
            <a:extLst>
              <a:ext uri="{FF2B5EF4-FFF2-40B4-BE49-F238E27FC236}">
                <a16:creationId xmlns:a16="http://schemas.microsoft.com/office/drawing/2014/main" id="{F1CE1FA0-4960-A3AC-3937-495D436DC08A}"/>
              </a:ext>
            </a:extLst>
          </p:cNvPr>
          <p:cNvSpPr/>
          <p:nvPr/>
        </p:nvSpPr>
        <p:spPr>
          <a:xfrm>
            <a:off x="7521305" y="2204883"/>
            <a:ext cx="1624578" cy="668388"/>
          </a:xfrm>
          <a:prstGeom prst="roundRect">
            <a:avLst>
              <a:gd name="adj" fmla="val 13347"/>
            </a:avLst>
          </a:prstGeom>
          <a:solidFill>
            <a:srgbClr val="D1BAC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400" i="1" dirty="0"/>
              <a:t>Auto Evaluation</a:t>
            </a:r>
            <a:endParaRPr sz="140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BE12F7-A0C2-E257-BEC0-12B0040F34B0}"/>
              </a:ext>
            </a:extLst>
          </p:cNvPr>
          <p:cNvSpPr txBox="1"/>
          <p:nvPr/>
        </p:nvSpPr>
        <p:spPr>
          <a:xfrm>
            <a:off x="0" y="1230729"/>
            <a:ext cx="2455149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Reminiscence Stimulation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“Conversations were created to stimulate cognitive function by using reminiscence of old events in their lives”.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96BE7-1CE7-C167-E702-F8D7BECD0712}"/>
              </a:ext>
            </a:extLst>
          </p:cNvPr>
          <p:cNvSpPr txBox="1"/>
          <p:nvPr/>
        </p:nvSpPr>
        <p:spPr>
          <a:xfrm>
            <a:off x="870" y="2321180"/>
            <a:ext cx="2443190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Engaging Participants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“We aim to keep word counts by the conversational staff at or below 30% of the total word counts to provide ample opportunities for participants to talk.”</a:t>
            </a:r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54182051-249F-26E2-2896-37E1CFA1DFEB}"/>
              </a:ext>
            </a:extLst>
          </p:cNvPr>
          <p:cNvCxnSpPr>
            <a:cxnSpLocks/>
            <a:stCxn id="26" idx="3"/>
            <a:endCxn id="6" idx="1"/>
          </p:cNvCxnSpPr>
          <p:nvPr/>
        </p:nvCxnSpPr>
        <p:spPr>
          <a:xfrm>
            <a:off x="2455149" y="1707783"/>
            <a:ext cx="319493" cy="215404"/>
          </a:xfrm>
          <a:prstGeom prst="curvedConnector3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C2CE3F71-CF40-A888-A5C0-7119C18CADEC}"/>
              </a:ext>
            </a:extLst>
          </p:cNvPr>
          <p:cNvCxnSpPr>
            <a:cxnSpLocks/>
            <a:stCxn id="27" idx="3"/>
            <a:endCxn id="6" idx="1"/>
          </p:cNvCxnSpPr>
          <p:nvPr/>
        </p:nvCxnSpPr>
        <p:spPr>
          <a:xfrm flipV="1">
            <a:off x="2444060" y="1923187"/>
            <a:ext cx="330582" cy="875047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8065A4D-E38A-B079-279D-B77F6E67B733}"/>
              </a:ext>
            </a:extLst>
          </p:cNvPr>
          <p:cNvSpPr txBox="1"/>
          <p:nvPr/>
        </p:nvSpPr>
        <p:spPr>
          <a:xfrm>
            <a:off x="9255373" y="659533"/>
            <a:ext cx="230224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AI-CONECT Chatbot</a:t>
            </a:r>
          </a:p>
          <a:p>
            <a:pPr algn="ctr"/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examine the potential of AI-based design choices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E267C2-E65D-9A0E-9BA0-AE5DA195DC2E}"/>
              </a:ext>
            </a:extLst>
          </p:cNvPr>
          <p:cNvSpPr txBox="1"/>
          <p:nvPr/>
        </p:nvSpPr>
        <p:spPr>
          <a:xfrm>
            <a:off x="870" y="3393620"/>
            <a:ext cx="2443190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User-friendly Interface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“To avoid confounding effects of cognitive stimulation from learning how to use videochats, the user-friendly simple chat device was created.”</a:t>
            </a:r>
          </a:p>
        </p:txBody>
      </p: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62F18138-ED24-619C-B6E5-AAEA272D2E3D}"/>
              </a:ext>
            </a:extLst>
          </p:cNvPr>
          <p:cNvCxnSpPr>
            <a:cxnSpLocks/>
            <a:stCxn id="60" idx="3"/>
            <a:endCxn id="6" idx="1"/>
          </p:cNvCxnSpPr>
          <p:nvPr/>
        </p:nvCxnSpPr>
        <p:spPr>
          <a:xfrm flipV="1">
            <a:off x="2444060" y="1923187"/>
            <a:ext cx="330582" cy="1947487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Google Shape;1100;p91">
            <a:extLst>
              <a:ext uri="{FF2B5EF4-FFF2-40B4-BE49-F238E27FC236}">
                <a16:creationId xmlns:a16="http://schemas.microsoft.com/office/drawing/2014/main" id="{EAB9BCCA-B13A-6F64-C3A3-B6200EAC7196}"/>
              </a:ext>
            </a:extLst>
          </p:cNvPr>
          <p:cNvSpPr/>
          <p:nvPr/>
        </p:nvSpPr>
        <p:spPr>
          <a:xfrm>
            <a:off x="9804250" y="2488684"/>
            <a:ext cx="1721127" cy="302096"/>
          </a:xfrm>
          <a:prstGeom prst="roundRect">
            <a:avLst>
              <a:gd name="adj" fmla="val 16667"/>
            </a:avLst>
          </a:prstGeom>
          <a:solidFill>
            <a:srgbClr val="EAD1D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100" i="1" dirty="0"/>
              <a:t>Voice Interface</a:t>
            </a:r>
            <a:endParaRPr sz="1100" i="1" dirty="0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5F75EBB-67D8-DBCB-47EC-D76310FBBD2D}"/>
              </a:ext>
            </a:extLst>
          </p:cNvPr>
          <p:cNvSpPr/>
          <p:nvPr/>
        </p:nvSpPr>
        <p:spPr>
          <a:xfrm>
            <a:off x="9802006" y="2889953"/>
            <a:ext cx="1721128" cy="1300165"/>
          </a:xfrm>
          <a:prstGeom prst="roundRect">
            <a:avLst>
              <a:gd name="adj" fmla="val 9249"/>
            </a:avLst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58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AA4D4BD3-0DE3-EFFB-3481-2AA30B2D7B36}"/>
              </a:ext>
            </a:extLst>
          </p:cNvPr>
          <p:cNvGrpSpPr/>
          <p:nvPr/>
        </p:nvGrpSpPr>
        <p:grpSpPr>
          <a:xfrm>
            <a:off x="925970" y="349303"/>
            <a:ext cx="10340059" cy="4721480"/>
            <a:chOff x="925970" y="29814"/>
            <a:chExt cx="10340059" cy="4721480"/>
          </a:xfrm>
        </p:grpSpPr>
        <p:sp>
          <p:nvSpPr>
            <p:cNvPr id="5178" name="TextBox 5177">
              <a:extLst>
                <a:ext uri="{FF2B5EF4-FFF2-40B4-BE49-F238E27FC236}">
                  <a16:creationId xmlns:a16="http://schemas.microsoft.com/office/drawing/2014/main" id="{B43CBDD4-5A35-B625-29EC-3B1810DA6EF2}"/>
                </a:ext>
              </a:extLst>
            </p:cNvPr>
            <p:cNvSpPr txBox="1"/>
            <p:nvPr/>
          </p:nvSpPr>
          <p:spPr>
            <a:xfrm>
              <a:off x="4908040" y="29814"/>
              <a:ext cx="20649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Development Pipeline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DBAD006-5586-52EA-DA77-AEA684C7A6A2}"/>
                </a:ext>
              </a:extLst>
            </p:cNvPr>
            <p:cNvSpPr/>
            <p:nvPr/>
          </p:nvSpPr>
          <p:spPr>
            <a:xfrm>
              <a:off x="9126932" y="405286"/>
              <a:ext cx="2139097" cy="43460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Chatbot as Interviewer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946958E-85E0-5E42-15B7-4D1B542DDE8E}"/>
                </a:ext>
              </a:extLst>
            </p:cNvPr>
            <p:cNvSpPr/>
            <p:nvPr/>
          </p:nvSpPr>
          <p:spPr>
            <a:xfrm>
              <a:off x="925970" y="397782"/>
              <a:ext cx="2057400" cy="43460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Human as Interviewer</a:t>
              </a:r>
            </a:p>
          </p:txBody>
        </p:sp>
        <p:cxnSp>
          <p:nvCxnSpPr>
            <p:cNvPr id="5154" name="Straight Arrow Connector 5153">
              <a:extLst>
                <a:ext uri="{FF2B5EF4-FFF2-40B4-BE49-F238E27FC236}">
                  <a16:creationId xmlns:a16="http://schemas.microsoft.com/office/drawing/2014/main" id="{E022B0E8-D0E6-E0B5-E9AF-08F15A8D8D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1940" y="1479048"/>
              <a:ext cx="5461" cy="15764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E01C5E8-3C92-D664-24B0-B58BA0F180FB}"/>
                </a:ext>
              </a:extLst>
            </p:cNvPr>
            <p:cNvSpPr/>
            <p:nvPr/>
          </p:nvSpPr>
          <p:spPr>
            <a:xfrm>
              <a:off x="2978067" y="401534"/>
              <a:ext cx="3081528" cy="43422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Digital Twin</a:t>
              </a:r>
            </a:p>
          </p:txBody>
        </p:sp>
        <p:grpSp>
          <p:nvGrpSpPr>
            <p:cNvPr id="5138" name="Group 5137">
              <a:extLst>
                <a:ext uri="{FF2B5EF4-FFF2-40B4-BE49-F238E27FC236}">
                  <a16:creationId xmlns:a16="http://schemas.microsoft.com/office/drawing/2014/main" id="{255E09AA-5B6B-75F3-589F-981648D6767B}"/>
                </a:ext>
              </a:extLst>
            </p:cNvPr>
            <p:cNvGrpSpPr/>
            <p:nvPr/>
          </p:nvGrpSpPr>
          <p:grpSpPr>
            <a:xfrm>
              <a:off x="3194760" y="732015"/>
              <a:ext cx="2648142" cy="1138969"/>
              <a:chOff x="9055886" y="2608044"/>
              <a:chExt cx="2648142" cy="1138969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86FAEAE-37A4-FC0C-CC20-21AB21B09210}"/>
                  </a:ext>
                </a:extLst>
              </p:cNvPr>
              <p:cNvSpPr/>
              <p:nvPr/>
            </p:nvSpPr>
            <p:spPr>
              <a:xfrm>
                <a:off x="9055886" y="2729448"/>
                <a:ext cx="2648142" cy="1017565"/>
              </a:xfrm>
              <a:prstGeom prst="roundRect">
                <a:avLst>
                  <a:gd name="adj" fmla="val 5242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rtl="0">
                  <a:spcBef>
                    <a:spcPts val="640"/>
                  </a:spcBef>
                  <a:spcAft>
                    <a:spcPts val="0"/>
                  </a:spcAft>
                </a:pPr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8E59858F-A66A-F555-D399-B15758D172D8}"/>
                  </a:ext>
                </a:extLst>
              </p:cNvPr>
              <p:cNvSpPr/>
              <p:nvPr/>
            </p:nvSpPr>
            <p:spPr>
              <a:xfrm>
                <a:off x="9248912" y="3206372"/>
                <a:ext cx="2272847" cy="446642"/>
              </a:xfrm>
              <a:prstGeom prst="roundRect">
                <a:avLst>
                  <a:gd name="adj" fmla="val 1179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rtl="0">
                  <a:spcBef>
                    <a:spcPts val="640"/>
                  </a:spcBef>
                  <a:spcAft>
                    <a:spcPts val="0"/>
                  </a:spcAft>
                </a:pPr>
                <a:r>
                  <a:rPr lang="en-US" sz="900" dirty="0">
                    <a:solidFill>
                      <a:schemeClr val="tx1"/>
                    </a:solidFill>
                  </a:rPr>
                  <a:t>Interviewer: </a:t>
                </a: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Any fun to share? </a:t>
                </a:r>
                <a:b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</a:br>
                <a:r>
                  <a:rPr lang="en-US" sz="900" dirty="0">
                    <a:solidFill>
                      <a:schemeClr val="tx1"/>
                    </a:solidFill>
                  </a:rPr>
                  <a:t>Patient: </a:t>
                </a:r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 went to &lt;LOCATION&gt; &lt;DATE&gt;.</a:t>
                </a: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CCE523CD-A991-2BE3-5F90-44B72D6FCF72}"/>
                  </a:ext>
                </a:extLst>
              </p:cNvPr>
              <p:cNvSpPr/>
              <p:nvPr/>
            </p:nvSpPr>
            <p:spPr>
              <a:xfrm>
                <a:off x="9241009" y="2920952"/>
                <a:ext cx="2272847" cy="228333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rtl="0">
                  <a:spcBef>
                    <a:spcPts val="640"/>
                  </a:spcBef>
                  <a:spcAft>
                    <a:spcPts val="0"/>
                  </a:spcAft>
                </a:pPr>
                <a:r>
                  <a:rPr lang="en-US" sz="900" dirty="0">
                    <a:solidFill>
                      <a:schemeClr val="tx1"/>
                    </a:solidFill>
                  </a:rPr>
                  <a:t>Record, transcribe, remove PIIs, filtering…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CC82DE7-0D53-537D-5582-89D1DABAE737}"/>
                  </a:ext>
                </a:extLst>
              </p:cNvPr>
              <p:cNvSpPr/>
              <p:nvPr/>
            </p:nvSpPr>
            <p:spPr>
              <a:xfrm>
                <a:off x="9793071" y="2608044"/>
                <a:ext cx="1173773" cy="243384"/>
              </a:xfrm>
              <a:prstGeom prst="roundRect">
                <a:avLst>
                  <a:gd name="adj" fmla="val 2911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spcBef>
                    <a:spcPts val="640"/>
                  </a:spcBef>
                  <a:spcAft>
                    <a:spcPts val="0"/>
                  </a:spcAft>
                </a:pPr>
                <a:r>
                  <a:rPr lang="en-US" sz="900" dirty="0">
                    <a:solidFill>
                      <a:schemeClr val="tx1"/>
                    </a:solidFill>
                  </a:rPr>
                  <a:t>(1) Data Curation</a:t>
                </a:r>
              </a:p>
            </p:txBody>
          </p:sp>
        </p:grpSp>
        <p:grpSp>
          <p:nvGrpSpPr>
            <p:cNvPr id="5166" name="Group 5165">
              <a:extLst>
                <a:ext uri="{FF2B5EF4-FFF2-40B4-BE49-F238E27FC236}">
                  <a16:creationId xmlns:a16="http://schemas.microsoft.com/office/drawing/2014/main" id="{4527AAD0-0F25-138B-A443-601418138CC1}"/>
                </a:ext>
              </a:extLst>
            </p:cNvPr>
            <p:cNvGrpSpPr/>
            <p:nvPr/>
          </p:nvGrpSpPr>
          <p:grpSpPr>
            <a:xfrm>
              <a:off x="3202511" y="3437301"/>
              <a:ext cx="2632640" cy="1016558"/>
              <a:chOff x="6544884" y="1779455"/>
              <a:chExt cx="2632640" cy="1016558"/>
            </a:xfrm>
          </p:grpSpPr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B2CB8AC-6838-B330-F9EE-1BD7206B6423}"/>
                  </a:ext>
                </a:extLst>
              </p:cNvPr>
              <p:cNvSpPr/>
              <p:nvPr/>
            </p:nvSpPr>
            <p:spPr>
              <a:xfrm>
                <a:off x="6544884" y="1901147"/>
                <a:ext cx="2632640" cy="894866"/>
              </a:xfrm>
              <a:prstGeom prst="roundRect">
                <a:avLst>
                  <a:gd name="adj" fmla="val 8865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rtl="0">
                  <a:spcBef>
                    <a:spcPts val="640"/>
                  </a:spcBef>
                  <a:spcAft>
                    <a:spcPts val="0"/>
                  </a:spcAft>
                </a:pPr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B4DAA39F-3AD5-1E4B-C0DF-871BFCCBDB78}"/>
                  </a:ext>
                </a:extLst>
              </p:cNvPr>
              <p:cNvSpPr/>
              <p:nvPr/>
            </p:nvSpPr>
            <p:spPr>
              <a:xfrm>
                <a:off x="7164983" y="1779455"/>
                <a:ext cx="1392442" cy="243384"/>
              </a:xfrm>
              <a:prstGeom prst="roundRect">
                <a:avLst>
                  <a:gd name="adj" fmla="val 29116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spcBef>
                    <a:spcPts val="640"/>
                  </a:spcBef>
                  <a:spcAft>
                    <a:spcPts val="0"/>
                  </a:spcAft>
                </a:pPr>
                <a:r>
                  <a:rPr lang="en-US" sz="900" dirty="0">
                    <a:solidFill>
                      <a:schemeClr val="bg1"/>
                    </a:solidFill>
                  </a:rPr>
                  <a:t>(5) Symptom Validation</a:t>
                </a:r>
              </a:p>
            </p:txBody>
          </p:sp>
        </p:grpSp>
        <p:cxnSp>
          <p:nvCxnSpPr>
            <p:cNvPr id="56" name="Elbow Connector 55">
              <a:extLst>
                <a:ext uri="{FF2B5EF4-FFF2-40B4-BE49-F238E27FC236}">
                  <a16:creationId xmlns:a16="http://schemas.microsoft.com/office/drawing/2014/main" id="{23DB34E2-8E50-EE7A-A560-79034003B82D}"/>
                </a:ext>
              </a:extLst>
            </p:cNvPr>
            <p:cNvCxnSpPr>
              <a:cxnSpLocks/>
              <a:stCxn id="28" idx="1"/>
              <a:endCxn id="13" idx="1"/>
            </p:cNvCxnSpPr>
            <p:nvPr/>
          </p:nvCxnSpPr>
          <p:spPr>
            <a:xfrm rot="10800000">
              <a:off x="3202511" y="2715544"/>
              <a:ext cx="12700" cy="1290882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5" name="Elbow Connector 5134">
              <a:extLst>
                <a:ext uri="{FF2B5EF4-FFF2-40B4-BE49-F238E27FC236}">
                  <a16:creationId xmlns:a16="http://schemas.microsoft.com/office/drawing/2014/main" id="{E1E2E1CD-7DC0-6BAD-8144-CF8F5111B1A0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 flipV="1">
              <a:off x="2839507" y="1362202"/>
              <a:ext cx="355253" cy="719984"/>
            </a:xfrm>
            <a:prstGeom prst="bentConnector3">
              <a:avLst>
                <a:gd name="adj1" fmla="val 40287"/>
              </a:avLst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B88EEC9-DFC0-C3B6-8C46-A487ED59EC3D}"/>
                </a:ext>
              </a:extLst>
            </p:cNvPr>
            <p:cNvSpPr/>
            <p:nvPr/>
          </p:nvSpPr>
          <p:spPr>
            <a:xfrm>
              <a:off x="6045405" y="405287"/>
              <a:ext cx="3081528" cy="43460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Chatbot</a:t>
              </a:r>
            </a:p>
          </p:txBody>
        </p:sp>
        <p:grpSp>
          <p:nvGrpSpPr>
            <p:cNvPr id="5145" name="Group 5144">
              <a:extLst>
                <a:ext uri="{FF2B5EF4-FFF2-40B4-BE49-F238E27FC236}">
                  <a16:creationId xmlns:a16="http://schemas.microsoft.com/office/drawing/2014/main" id="{1A5B8BF1-0256-C18B-98A2-8E708DD55DC3}"/>
                </a:ext>
              </a:extLst>
            </p:cNvPr>
            <p:cNvGrpSpPr/>
            <p:nvPr/>
          </p:nvGrpSpPr>
          <p:grpSpPr>
            <a:xfrm>
              <a:off x="3202511" y="2106545"/>
              <a:ext cx="2632640" cy="1088801"/>
              <a:chOff x="3153608" y="3879715"/>
              <a:chExt cx="2632640" cy="1088801"/>
            </a:xfrm>
          </p:grpSpPr>
          <p:grpSp>
            <p:nvGrpSpPr>
              <p:cNvPr id="5124" name="Group 5123">
                <a:extLst>
                  <a:ext uri="{FF2B5EF4-FFF2-40B4-BE49-F238E27FC236}">
                    <a16:creationId xmlns:a16="http://schemas.microsoft.com/office/drawing/2014/main" id="{AF610B75-AA08-25C2-4461-C39C4301FD40}"/>
                  </a:ext>
                </a:extLst>
              </p:cNvPr>
              <p:cNvGrpSpPr/>
              <p:nvPr/>
            </p:nvGrpSpPr>
            <p:grpSpPr>
              <a:xfrm>
                <a:off x="3153608" y="3879715"/>
                <a:ext cx="2632640" cy="1088801"/>
                <a:chOff x="4069132" y="4363380"/>
                <a:chExt cx="2632640" cy="1088801"/>
              </a:xfrm>
            </p:grpSpPr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3885FA25-8476-F7D8-6D9B-F7F8D9925C89}"/>
                    </a:ext>
                  </a:extLst>
                </p:cNvPr>
                <p:cNvSpPr/>
                <p:nvPr/>
              </p:nvSpPr>
              <p:spPr>
                <a:xfrm>
                  <a:off x="4069132" y="4492577"/>
                  <a:ext cx="2632640" cy="959604"/>
                </a:xfrm>
                <a:prstGeom prst="roundRect">
                  <a:avLst>
                    <a:gd name="adj" fmla="val 5242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rtl="0">
                    <a:spcBef>
                      <a:spcPts val="640"/>
                    </a:spcBef>
                    <a:spcAft>
                      <a:spcPts val="0"/>
                    </a:spcAft>
                  </a:pPr>
                  <a:endParaRPr lang="en-US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F6887AF8-6C34-868C-B7DE-786BCCCA789D}"/>
                    </a:ext>
                  </a:extLst>
                </p:cNvPr>
                <p:cNvSpPr/>
                <p:nvPr/>
              </p:nvSpPr>
              <p:spPr>
                <a:xfrm>
                  <a:off x="4678659" y="4363380"/>
                  <a:ext cx="1413586" cy="243384"/>
                </a:xfrm>
                <a:prstGeom prst="roundRect">
                  <a:avLst>
                    <a:gd name="adj" fmla="val 29116"/>
                  </a:avLst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>
                    <a:spcBef>
                      <a:spcPts val="640"/>
                    </a:spcBef>
                    <a:spcAft>
                      <a:spcPts val="0"/>
                    </a:spcAft>
                  </a:pPr>
                  <a:r>
                    <a:rPr lang="en-US" sz="900" dirty="0">
                      <a:solidFill>
                        <a:schemeClr val="bg1"/>
                      </a:solidFill>
                    </a:rPr>
                    <a:t>(2) Creating Digital-Twin</a:t>
                  </a:r>
                </a:p>
              </p:txBody>
            </p:sp>
            <p:pic>
              <p:nvPicPr>
                <p:cNvPr id="5122" name="Picture 2" descr="Digital Twin Icons - Free SVG &amp; PNG Digital Twin Images ...">
                  <a:extLst>
                    <a:ext uri="{FF2B5EF4-FFF2-40B4-BE49-F238E27FC236}">
                      <a16:creationId xmlns:a16="http://schemas.microsoft.com/office/drawing/2014/main" id="{95CEB0EE-2BAE-E589-C76D-59B5DEC7708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662387" y="4649778"/>
                  <a:ext cx="735936" cy="73593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873AE036-DC57-D4A2-8CA2-AA400B9301C7}"/>
                    </a:ext>
                  </a:extLst>
                </p:cNvPr>
                <p:cNvSpPr/>
                <p:nvPr/>
              </p:nvSpPr>
              <p:spPr>
                <a:xfrm>
                  <a:off x="4258473" y="4689231"/>
                  <a:ext cx="954454" cy="657031"/>
                </a:xfrm>
                <a:prstGeom prst="roundRect">
                  <a:avLst>
                    <a:gd name="adj" fmla="val 11790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rtl="0">
                    <a:spcBef>
                      <a:spcPts val="640"/>
                    </a:spcBef>
                    <a:spcAft>
                      <a:spcPts val="0"/>
                    </a:spcAft>
                  </a:pPr>
                  <a:r>
                    <a:rPr lang="en-US" sz="900" dirty="0">
                      <a:solidFill>
                        <a:schemeClr val="tx1"/>
                      </a:solidFill>
                    </a:rPr>
                    <a:t>Fine-tune LLM</a:t>
                  </a:r>
                </a:p>
              </p:txBody>
            </p:sp>
          </p:grpSp>
          <p:pic>
            <p:nvPicPr>
              <p:cNvPr id="12290" name="Picture 2">
                <a:extLst>
                  <a:ext uri="{FF2B5EF4-FFF2-40B4-BE49-F238E27FC236}">
                    <a16:creationId xmlns:a16="http://schemas.microsoft.com/office/drawing/2014/main" id="{BCB99FAE-441C-CF1C-ABC9-AB02398C8A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30679" y="4449917"/>
                <a:ext cx="368282" cy="3466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6018C8A-2D15-34E6-3635-873F1C6B5077}"/>
                </a:ext>
              </a:extLst>
            </p:cNvPr>
            <p:cNvCxnSpPr>
              <a:cxnSpLocks/>
              <a:stCxn id="20" idx="3"/>
              <a:endCxn id="5122" idx="1"/>
            </p:cNvCxnSpPr>
            <p:nvPr/>
          </p:nvCxnSpPr>
          <p:spPr>
            <a:xfrm flipV="1">
              <a:off x="4346306" y="2760911"/>
              <a:ext cx="449460" cy="1"/>
            </a:xfrm>
            <a:prstGeom prst="straightConnector1">
              <a:avLst/>
            </a:prstGeom>
            <a:ln w="15875">
              <a:solidFill>
                <a:schemeClr val="accent4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0" name="Elbow Connector 12299">
              <a:extLst>
                <a:ext uri="{FF2B5EF4-FFF2-40B4-BE49-F238E27FC236}">
                  <a16:creationId xmlns:a16="http://schemas.microsoft.com/office/drawing/2014/main" id="{3F6C2417-2F15-420A-6514-41A3536E2B92}"/>
                </a:ext>
              </a:extLst>
            </p:cNvPr>
            <p:cNvCxnSpPr>
              <a:cxnSpLocks/>
              <a:stCxn id="15" idx="3"/>
              <a:endCxn id="12349" idx="1"/>
            </p:cNvCxnSpPr>
            <p:nvPr/>
          </p:nvCxnSpPr>
          <p:spPr>
            <a:xfrm flipV="1">
              <a:off x="8910240" y="1163991"/>
              <a:ext cx="353951" cy="19821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46" name="Rounded Rectangle 12345">
              <a:extLst>
                <a:ext uri="{FF2B5EF4-FFF2-40B4-BE49-F238E27FC236}">
                  <a16:creationId xmlns:a16="http://schemas.microsoft.com/office/drawing/2014/main" id="{E66501B2-4243-EEE9-D772-6111CBB18DBD}"/>
                </a:ext>
              </a:extLst>
            </p:cNvPr>
            <p:cNvSpPr/>
            <p:nvPr/>
          </p:nvSpPr>
          <p:spPr>
            <a:xfrm>
              <a:off x="9257945" y="1776985"/>
              <a:ext cx="1769674" cy="650181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rtl="0">
                <a:spcBef>
                  <a:spcPts val="640"/>
                </a:spcBef>
                <a:spcAft>
                  <a:spcPts val="0"/>
                </a:spcAft>
              </a:pP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12347" name="Straight Arrow Connector 12346">
              <a:extLst>
                <a:ext uri="{FF2B5EF4-FFF2-40B4-BE49-F238E27FC236}">
                  <a16:creationId xmlns:a16="http://schemas.microsoft.com/office/drawing/2014/main" id="{33CA9F7C-15EE-4373-C09B-869AE823BB9B}"/>
                </a:ext>
              </a:extLst>
            </p:cNvPr>
            <p:cNvCxnSpPr>
              <a:cxnSpLocks/>
              <a:stCxn id="12349" idx="2"/>
              <a:endCxn id="5247" idx="0"/>
            </p:cNvCxnSpPr>
            <p:nvPr/>
          </p:nvCxnSpPr>
          <p:spPr>
            <a:xfrm>
              <a:off x="10149028" y="1479048"/>
              <a:ext cx="3123" cy="17881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348" name="Group 12347">
              <a:extLst>
                <a:ext uri="{FF2B5EF4-FFF2-40B4-BE49-F238E27FC236}">
                  <a16:creationId xmlns:a16="http://schemas.microsoft.com/office/drawing/2014/main" id="{106709EB-0B0F-BA80-78AF-DBAAF5751EC1}"/>
                </a:ext>
              </a:extLst>
            </p:cNvPr>
            <p:cNvGrpSpPr/>
            <p:nvPr/>
          </p:nvGrpSpPr>
          <p:grpSpPr>
            <a:xfrm>
              <a:off x="9264191" y="718502"/>
              <a:ext cx="1769674" cy="760546"/>
              <a:chOff x="524863" y="1714389"/>
              <a:chExt cx="1769674" cy="760546"/>
            </a:xfrm>
          </p:grpSpPr>
          <p:sp>
            <p:nvSpPr>
              <p:cNvPr id="12349" name="Rounded Rectangle 12348">
                <a:extLst>
                  <a:ext uri="{FF2B5EF4-FFF2-40B4-BE49-F238E27FC236}">
                    <a16:creationId xmlns:a16="http://schemas.microsoft.com/office/drawing/2014/main" id="{AD248F20-08E7-FA42-7500-149A0D7FAFB1}"/>
                  </a:ext>
                </a:extLst>
              </p:cNvPr>
              <p:cNvSpPr/>
              <p:nvPr/>
            </p:nvSpPr>
            <p:spPr>
              <a:xfrm>
                <a:off x="524863" y="1844820"/>
                <a:ext cx="1769674" cy="630115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rtl="0">
                  <a:spcBef>
                    <a:spcPts val="640"/>
                  </a:spcBef>
                  <a:spcAft>
                    <a:spcPts val="0"/>
                  </a:spcAft>
                </a:pPr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51" name="Rounded Rectangle 12350">
                <a:extLst>
                  <a:ext uri="{FF2B5EF4-FFF2-40B4-BE49-F238E27FC236}">
                    <a16:creationId xmlns:a16="http://schemas.microsoft.com/office/drawing/2014/main" id="{819B8667-6421-3537-DAA3-E9EE7079B374}"/>
                  </a:ext>
                </a:extLst>
              </p:cNvPr>
              <p:cNvSpPr/>
              <p:nvPr/>
            </p:nvSpPr>
            <p:spPr>
              <a:xfrm>
                <a:off x="1038158" y="1714389"/>
                <a:ext cx="747090" cy="243384"/>
              </a:xfrm>
              <a:prstGeom prst="roundRect">
                <a:avLst>
                  <a:gd name="adj" fmla="val 29116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spcBef>
                    <a:spcPts val="640"/>
                  </a:spcBef>
                  <a:spcAft>
                    <a:spcPts val="0"/>
                  </a:spcAft>
                </a:pPr>
                <a:r>
                  <a:rPr lang="en-US" sz="900" dirty="0">
                    <a:solidFill>
                      <a:schemeClr val="bg1"/>
                    </a:solidFill>
                  </a:rPr>
                  <a:t>Chat</a:t>
                </a:r>
              </a:p>
            </p:txBody>
          </p:sp>
          <p:pic>
            <p:nvPicPr>
              <p:cNvPr id="5184" name="Graphic 5183" descr="Male profile outline">
                <a:extLst>
                  <a:ext uri="{FF2B5EF4-FFF2-40B4-BE49-F238E27FC236}">
                    <a16:creationId xmlns:a16="http://schemas.microsoft.com/office/drawing/2014/main" id="{68FEC3A0-175F-5E46-F29E-CF186AFBAF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08618" y="1951000"/>
                <a:ext cx="481501" cy="481501"/>
              </a:xfrm>
              <a:prstGeom prst="rect">
                <a:avLst/>
              </a:prstGeom>
            </p:spPr>
          </p:pic>
          <p:pic>
            <p:nvPicPr>
              <p:cNvPr id="5186" name="Graphic 5185" descr="Transfer with solid fill">
                <a:extLst>
                  <a:ext uri="{FF2B5EF4-FFF2-40B4-BE49-F238E27FC236}">
                    <a16:creationId xmlns:a16="http://schemas.microsoft.com/office/drawing/2014/main" id="{7A6A9DAA-7967-A03C-E98E-3C153D4690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69092" y="2052849"/>
                <a:ext cx="254554" cy="254554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E824488-03AB-E0C3-F663-87967A380CCE}"/>
                </a:ext>
              </a:extLst>
            </p:cNvPr>
            <p:cNvGrpSpPr/>
            <p:nvPr/>
          </p:nvGrpSpPr>
          <p:grpSpPr>
            <a:xfrm>
              <a:off x="6262098" y="719431"/>
              <a:ext cx="2648142" cy="1151554"/>
              <a:chOff x="6258272" y="719431"/>
              <a:chExt cx="2648142" cy="1151554"/>
            </a:xfrm>
          </p:grpSpPr>
          <p:grpSp>
            <p:nvGrpSpPr>
              <p:cNvPr id="5180" name="Group 5179">
                <a:extLst>
                  <a:ext uri="{FF2B5EF4-FFF2-40B4-BE49-F238E27FC236}">
                    <a16:creationId xmlns:a16="http://schemas.microsoft.com/office/drawing/2014/main" id="{C491E5CF-5AB8-554A-B07D-9A692C9E6647}"/>
                  </a:ext>
                </a:extLst>
              </p:cNvPr>
              <p:cNvGrpSpPr/>
              <p:nvPr/>
            </p:nvGrpSpPr>
            <p:grpSpPr>
              <a:xfrm>
                <a:off x="6258272" y="719431"/>
                <a:ext cx="2648142" cy="1151554"/>
                <a:chOff x="1075208" y="1949685"/>
                <a:chExt cx="2648142" cy="1151554"/>
              </a:xfrm>
            </p:grpSpPr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7A36A5C0-B4BB-0C76-BC1B-A6BF80360FB4}"/>
                    </a:ext>
                  </a:extLst>
                </p:cNvPr>
                <p:cNvSpPr/>
                <p:nvPr/>
              </p:nvSpPr>
              <p:spPr>
                <a:xfrm>
                  <a:off x="1075208" y="2083673"/>
                  <a:ext cx="2648142" cy="1017566"/>
                </a:xfrm>
                <a:prstGeom prst="roundRect">
                  <a:avLst>
                    <a:gd name="adj" fmla="val 6517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rtl="0">
                    <a:spcBef>
                      <a:spcPts val="640"/>
                    </a:spcBef>
                    <a:spcAft>
                      <a:spcPts val="0"/>
                    </a:spcAft>
                  </a:pPr>
                  <a:endParaRPr lang="en-US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ounded Rectangle 17">
                  <a:extLst>
                    <a:ext uri="{FF2B5EF4-FFF2-40B4-BE49-F238E27FC236}">
                      <a16:creationId xmlns:a16="http://schemas.microsoft.com/office/drawing/2014/main" id="{8651FED9-52A0-6B63-A231-FF6D1DBF2E6F}"/>
                    </a:ext>
                  </a:extLst>
                </p:cNvPr>
                <p:cNvSpPr/>
                <p:nvPr/>
              </p:nvSpPr>
              <p:spPr>
                <a:xfrm>
                  <a:off x="1747924" y="1949685"/>
                  <a:ext cx="1324552" cy="243384"/>
                </a:xfrm>
                <a:prstGeom prst="roundRect">
                  <a:avLst>
                    <a:gd name="adj" fmla="val 29116"/>
                  </a:avLst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>
                    <a:spcBef>
                      <a:spcPts val="640"/>
                    </a:spcBef>
                    <a:spcAft>
                      <a:spcPts val="0"/>
                    </a:spcAft>
                  </a:pPr>
                  <a:r>
                    <a:rPr lang="en-US" sz="900" dirty="0">
                      <a:solidFill>
                        <a:schemeClr val="bg1"/>
                      </a:solidFill>
                    </a:rPr>
                    <a:t>(3) Designing Chatbot</a:t>
                  </a:r>
                </a:p>
              </p:txBody>
            </p:sp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706CDD71-E7C3-D231-00EB-EF715AC42A8A}"/>
                    </a:ext>
                  </a:extLst>
                </p:cNvPr>
                <p:cNvSpPr/>
                <p:nvPr/>
              </p:nvSpPr>
              <p:spPr>
                <a:xfrm>
                  <a:off x="1278447" y="2228159"/>
                  <a:ext cx="1471535" cy="779080"/>
                </a:xfrm>
                <a:prstGeom prst="roundRect">
                  <a:avLst>
                    <a:gd name="adj" fmla="val 11790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rtl="0">
                    <a:spcBef>
                      <a:spcPts val="640"/>
                    </a:spcBef>
                    <a:spcAft>
                      <a:spcPts val="0"/>
                    </a:spcAft>
                  </a:pPr>
                  <a:r>
                    <a:rPr lang="en-US" sz="900" dirty="0">
                      <a:solidFill>
                        <a:schemeClr val="tx1"/>
                      </a:solidFill>
                    </a:rPr>
                    <a:t>Design choices: Prompt, behavior guide, finetuning etc.</a:t>
                  </a:r>
                </a:p>
              </p:txBody>
            </p:sp>
          </p:grpSp>
          <p:pic>
            <p:nvPicPr>
              <p:cNvPr id="5123" name="Picture 2">
                <a:extLst>
                  <a:ext uri="{FF2B5EF4-FFF2-40B4-BE49-F238E27FC236}">
                    <a16:creationId xmlns:a16="http://schemas.microsoft.com/office/drawing/2014/main" id="{8FD4BBF2-69E4-0811-CD4C-46BBD4EBAB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13137" y="1380355"/>
                <a:ext cx="368282" cy="3466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5125" name="Straight Arrow Connector 5124">
                <a:extLst>
                  <a:ext uri="{FF2B5EF4-FFF2-40B4-BE49-F238E27FC236}">
                    <a16:creationId xmlns:a16="http://schemas.microsoft.com/office/drawing/2014/main" id="{DF7E5B2B-50B5-2998-A653-268661CDB721}"/>
                  </a:ext>
                </a:extLst>
              </p:cNvPr>
              <p:cNvCxnSpPr>
                <a:cxnSpLocks/>
                <a:stCxn id="16" idx="3"/>
              </p:cNvCxnSpPr>
              <p:nvPr/>
            </p:nvCxnSpPr>
            <p:spPr>
              <a:xfrm>
                <a:off x="7933046" y="1387445"/>
                <a:ext cx="322494" cy="0"/>
              </a:xfrm>
              <a:prstGeom prst="straightConnector1">
                <a:avLst/>
              </a:prstGeom>
              <a:ln w="15875">
                <a:solidFill>
                  <a:schemeClr val="accent1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189" name="Graphic 5188" descr="Robot outline">
                <a:extLst>
                  <a:ext uri="{FF2B5EF4-FFF2-40B4-BE49-F238E27FC236}">
                    <a16:creationId xmlns:a16="http://schemas.microsoft.com/office/drawing/2014/main" id="{B4E60BD6-F698-FE0E-04E4-338D22EB2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100819" y="995054"/>
                <a:ext cx="718592" cy="718592"/>
              </a:xfrm>
              <a:prstGeom prst="rect">
                <a:avLst/>
              </a:prstGeom>
            </p:spPr>
          </p:pic>
        </p:grpSp>
        <p:pic>
          <p:nvPicPr>
            <p:cNvPr id="5190" name="Graphic 5189" descr="Robot outline">
              <a:extLst>
                <a:ext uri="{FF2B5EF4-FFF2-40B4-BE49-F238E27FC236}">
                  <a16:creationId xmlns:a16="http://schemas.microsoft.com/office/drawing/2014/main" id="{45165D72-8CED-AA4F-477A-131775587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93296" y="957282"/>
              <a:ext cx="497183" cy="497183"/>
            </a:xfrm>
            <a:prstGeom prst="rect">
              <a:avLst/>
            </a:prstGeom>
          </p:spPr>
        </p:pic>
        <p:sp>
          <p:nvSpPr>
            <p:cNvPr id="5197" name="Rounded Rectangle 5196">
              <a:extLst>
                <a:ext uri="{FF2B5EF4-FFF2-40B4-BE49-F238E27FC236}">
                  <a16:creationId xmlns:a16="http://schemas.microsoft.com/office/drawing/2014/main" id="{6ACB6DF2-E0F9-1542-35E9-D64C58E60185}"/>
                </a:ext>
              </a:extLst>
            </p:cNvPr>
            <p:cNvSpPr/>
            <p:nvPr/>
          </p:nvSpPr>
          <p:spPr>
            <a:xfrm>
              <a:off x="6262098" y="2115355"/>
              <a:ext cx="2648142" cy="1457071"/>
            </a:xfrm>
            <a:prstGeom prst="roundRect">
              <a:avLst>
                <a:gd name="adj" fmla="val 5242"/>
              </a:avLst>
            </a:prstGeom>
            <a:solidFill>
              <a:schemeClr val="bg1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rtl="0">
                <a:spcBef>
                  <a:spcPts val="640"/>
                </a:spcBef>
                <a:spcAft>
                  <a:spcPts val="0"/>
                </a:spcAft>
              </a:pP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6379FD70-A71A-EE7E-9E6A-5C80B15CC714}"/>
                </a:ext>
              </a:extLst>
            </p:cNvPr>
            <p:cNvSpPr/>
            <p:nvPr/>
          </p:nvSpPr>
          <p:spPr>
            <a:xfrm>
              <a:off x="6449746" y="2737644"/>
              <a:ext cx="2272847" cy="746817"/>
            </a:xfrm>
            <a:prstGeom prst="roundRect">
              <a:avLst>
                <a:gd name="adj" fmla="val 117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rtl="0">
                <a:spcBef>
                  <a:spcPts val="640"/>
                </a:spcBef>
                <a:spcAft>
                  <a:spcPts val="0"/>
                </a:spcAft>
              </a:pPr>
              <a:r>
                <a:rPr lang="en-US" sz="900" dirty="0">
                  <a:solidFill>
                    <a:schemeClr val="tx1"/>
                  </a:solidFill>
                </a:rPr>
                <a:t>Chatbot: 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Hello, how are you today?</a:t>
              </a:r>
              <a:b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Digital-Twin: 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Not bad. How are you</a:t>
              </a:r>
              <a:b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Chatbot: </a:t>
              </a:r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Good. Would you like to talk about history today?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D5EDD2E-3262-2A5C-F0A8-91BFFE1B1C67}"/>
                </a:ext>
              </a:extLst>
            </p:cNvPr>
            <p:cNvCxnSpPr>
              <a:cxnSpLocks/>
            </p:cNvCxnSpPr>
            <p:nvPr/>
          </p:nvCxnSpPr>
          <p:spPr>
            <a:xfrm>
              <a:off x="7586169" y="1870985"/>
              <a:ext cx="1" cy="86665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2" name="Elbow Connector 5191">
              <a:extLst>
                <a:ext uri="{FF2B5EF4-FFF2-40B4-BE49-F238E27FC236}">
                  <a16:creationId xmlns:a16="http://schemas.microsoft.com/office/drawing/2014/main" id="{C75A542C-0975-8CEF-DE81-3687D05E8B5E}"/>
                </a:ext>
              </a:extLst>
            </p:cNvPr>
            <p:cNvCxnSpPr>
              <a:cxnSpLocks/>
              <a:stCxn id="5122" idx="3"/>
              <a:endCxn id="24" idx="1"/>
            </p:cNvCxnSpPr>
            <p:nvPr/>
          </p:nvCxnSpPr>
          <p:spPr>
            <a:xfrm flipV="1">
              <a:off x="5531702" y="2462618"/>
              <a:ext cx="918043" cy="298293"/>
            </a:xfrm>
            <a:prstGeom prst="bentConnector3">
              <a:avLst>
                <a:gd name="adj1" fmla="val 53759"/>
              </a:avLst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75A62E39-5BC1-83C0-BECF-2AC3AE5F01D6}"/>
                </a:ext>
              </a:extLst>
            </p:cNvPr>
            <p:cNvCxnSpPr>
              <a:cxnSpLocks/>
              <a:stCxn id="21" idx="1"/>
              <a:endCxn id="28" idx="3"/>
            </p:cNvCxnSpPr>
            <p:nvPr/>
          </p:nvCxnSpPr>
          <p:spPr>
            <a:xfrm rot="10800000" flipV="1">
              <a:off x="5835152" y="3111052"/>
              <a:ext cx="614595" cy="895373"/>
            </a:xfrm>
            <a:prstGeom prst="bentConnector3">
              <a:avLst>
                <a:gd name="adj1" fmla="val 65440"/>
              </a:avLst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98" name="Rounded Rectangle 5197">
              <a:extLst>
                <a:ext uri="{FF2B5EF4-FFF2-40B4-BE49-F238E27FC236}">
                  <a16:creationId xmlns:a16="http://schemas.microsoft.com/office/drawing/2014/main" id="{B3234C00-B8D0-50F8-166F-21EE0B74D1C1}"/>
                </a:ext>
              </a:extLst>
            </p:cNvPr>
            <p:cNvSpPr/>
            <p:nvPr/>
          </p:nvSpPr>
          <p:spPr>
            <a:xfrm>
              <a:off x="7106109" y="1994628"/>
              <a:ext cx="960120" cy="243384"/>
            </a:xfrm>
            <a:prstGeom prst="roundRect">
              <a:avLst>
                <a:gd name="adj" fmla="val 2911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spcBef>
                  <a:spcPts val="640"/>
                </a:spcBef>
                <a:spcAft>
                  <a:spcPts val="0"/>
                </a:spcAft>
              </a:pPr>
              <a:r>
                <a:rPr lang="en-US" sz="900" dirty="0">
                  <a:solidFill>
                    <a:schemeClr val="tx1"/>
                  </a:solidFill>
                </a:rPr>
                <a:t>(4) Simulation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46E58603-71C4-6A50-EA64-E89AD577D90A}"/>
                </a:ext>
              </a:extLst>
            </p:cNvPr>
            <p:cNvSpPr/>
            <p:nvPr/>
          </p:nvSpPr>
          <p:spPr>
            <a:xfrm>
              <a:off x="6449745" y="2326694"/>
              <a:ext cx="2272848" cy="271847"/>
            </a:xfrm>
            <a:prstGeom prst="roundRect">
              <a:avLst>
                <a:gd name="adj" fmla="val 11790"/>
              </a:avLst>
            </a:prstGeom>
            <a:solidFill>
              <a:schemeClr val="bg1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rtl="0">
                <a:spcBef>
                  <a:spcPts val="640"/>
                </a:spcBef>
                <a:spcAft>
                  <a:spcPts val="0"/>
                </a:spcAft>
              </a:pPr>
              <a:r>
                <a:rPr lang="en-US" sz="900" dirty="0">
                  <a:solidFill>
                    <a:schemeClr val="tx1"/>
                  </a:solidFill>
                </a:rPr>
                <a:t>Conversation simulation</a:t>
              </a:r>
            </a:p>
          </p:txBody>
        </p:sp>
        <p:cxnSp>
          <p:nvCxnSpPr>
            <p:cNvPr id="5158" name="Straight Arrow Connector 5157">
              <a:extLst>
                <a:ext uri="{FF2B5EF4-FFF2-40B4-BE49-F238E27FC236}">
                  <a16:creationId xmlns:a16="http://schemas.microsoft.com/office/drawing/2014/main" id="{A466050E-A5AD-DEC5-92DB-264AB955F4BA}"/>
                </a:ext>
              </a:extLst>
            </p:cNvPr>
            <p:cNvCxnSpPr>
              <a:cxnSpLocks/>
              <a:stCxn id="7" idx="2"/>
              <a:endCxn id="14" idx="0"/>
            </p:cNvCxnSpPr>
            <p:nvPr/>
          </p:nvCxnSpPr>
          <p:spPr>
            <a:xfrm flipH="1">
              <a:off x="4518831" y="1776985"/>
              <a:ext cx="5379" cy="32956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38" name="Graphic 5237" descr="Checkbox Checked with solid fill">
              <a:extLst>
                <a:ext uri="{FF2B5EF4-FFF2-40B4-BE49-F238E27FC236}">
                  <a16:creationId xmlns:a16="http://schemas.microsoft.com/office/drawing/2014/main" id="{8D9FD9A5-2046-4E20-B2EB-F9E4302D2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279154" y="3917061"/>
              <a:ext cx="289063" cy="289063"/>
            </a:xfrm>
            <a:prstGeom prst="rect">
              <a:avLst/>
            </a:prstGeom>
          </p:spPr>
        </p:pic>
        <p:pic>
          <p:nvPicPr>
            <p:cNvPr id="5242" name="Graphic 5241" descr="Downward trend graph outline">
              <a:extLst>
                <a:ext uri="{FF2B5EF4-FFF2-40B4-BE49-F238E27FC236}">
                  <a16:creationId xmlns:a16="http://schemas.microsoft.com/office/drawing/2014/main" id="{B746E712-6B0E-E5D8-521E-F9A9ED0D5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833766" y="1836822"/>
              <a:ext cx="624732" cy="624732"/>
            </a:xfrm>
            <a:prstGeom prst="rect">
              <a:avLst/>
            </a:prstGeom>
          </p:spPr>
        </p:pic>
        <p:sp>
          <p:nvSpPr>
            <p:cNvPr id="5247" name="Rounded Rectangle 5246">
              <a:extLst>
                <a:ext uri="{FF2B5EF4-FFF2-40B4-BE49-F238E27FC236}">
                  <a16:creationId xmlns:a16="http://schemas.microsoft.com/office/drawing/2014/main" id="{D6BD03D1-C26B-C008-BB4B-F118EDA59872}"/>
                </a:ext>
              </a:extLst>
            </p:cNvPr>
            <p:cNvSpPr/>
            <p:nvPr/>
          </p:nvSpPr>
          <p:spPr>
            <a:xfrm>
              <a:off x="9708435" y="1657863"/>
              <a:ext cx="887432" cy="243384"/>
            </a:xfrm>
            <a:prstGeom prst="roundRect">
              <a:avLst>
                <a:gd name="adj" fmla="val 2911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spcBef>
                  <a:spcPts val="640"/>
                </a:spcBef>
                <a:spcAft>
                  <a:spcPts val="0"/>
                </a:spcAft>
              </a:pPr>
              <a:r>
                <a:rPr lang="en-US" sz="900" dirty="0">
                  <a:solidFill>
                    <a:schemeClr val="tx1"/>
                  </a:solidFill>
                </a:rPr>
                <a:t>MCI Symptom</a:t>
              </a:r>
            </a:p>
          </p:txBody>
        </p:sp>
        <p:grpSp>
          <p:nvGrpSpPr>
            <p:cNvPr id="12358" name="Group 12357">
              <a:extLst>
                <a:ext uri="{FF2B5EF4-FFF2-40B4-BE49-F238E27FC236}">
                  <a16:creationId xmlns:a16="http://schemas.microsoft.com/office/drawing/2014/main" id="{C77E258E-B1A8-7D2D-6868-36EB7A07DF0D}"/>
                </a:ext>
              </a:extLst>
            </p:cNvPr>
            <p:cNvGrpSpPr/>
            <p:nvPr/>
          </p:nvGrpSpPr>
          <p:grpSpPr>
            <a:xfrm>
              <a:off x="1069833" y="2567067"/>
              <a:ext cx="1769674" cy="803691"/>
              <a:chOff x="9670797" y="2806902"/>
              <a:chExt cx="1769674" cy="803691"/>
            </a:xfrm>
          </p:grpSpPr>
          <p:sp>
            <p:nvSpPr>
              <p:cNvPr id="12355" name="Rounded Rectangle 12354">
                <a:extLst>
                  <a:ext uri="{FF2B5EF4-FFF2-40B4-BE49-F238E27FC236}">
                    <a16:creationId xmlns:a16="http://schemas.microsoft.com/office/drawing/2014/main" id="{48E8C621-EAB9-7A0C-EA53-F295C1A71978}"/>
                  </a:ext>
                </a:extLst>
              </p:cNvPr>
              <p:cNvSpPr/>
              <p:nvPr/>
            </p:nvSpPr>
            <p:spPr>
              <a:xfrm>
                <a:off x="9670797" y="2926024"/>
                <a:ext cx="1769674" cy="650181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rtl="0">
                  <a:spcBef>
                    <a:spcPts val="640"/>
                  </a:spcBef>
                  <a:spcAft>
                    <a:spcPts val="0"/>
                  </a:spcAft>
                </a:pPr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2356" name="Graphic 12355" descr="Downward trend graph outline">
                <a:extLst>
                  <a:ext uri="{FF2B5EF4-FFF2-40B4-BE49-F238E27FC236}">
                    <a16:creationId xmlns:a16="http://schemas.microsoft.com/office/drawing/2014/main" id="{85ACF493-F718-4752-7120-9586014F9C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246618" y="2985861"/>
                <a:ext cx="624732" cy="624732"/>
              </a:xfrm>
              <a:prstGeom prst="rect">
                <a:avLst/>
              </a:prstGeom>
            </p:spPr>
          </p:pic>
          <p:sp>
            <p:nvSpPr>
              <p:cNvPr id="12357" name="Rounded Rectangle 12356">
                <a:extLst>
                  <a:ext uri="{FF2B5EF4-FFF2-40B4-BE49-F238E27FC236}">
                    <a16:creationId xmlns:a16="http://schemas.microsoft.com/office/drawing/2014/main" id="{796A7BE4-3F1F-8721-4FAB-1DFCBE2335B1}"/>
                  </a:ext>
                </a:extLst>
              </p:cNvPr>
              <p:cNvSpPr/>
              <p:nvPr/>
            </p:nvSpPr>
            <p:spPr>
              <a:xfrm>
                <a:off x="10121287" y="2806902"/>
                <a:ext cx="887432" cy="243384"/>
              </a:xfrm>
              <a:prstGeom prst="roundRect">
                <a:avLst>
                  <a:gd name="adj" fmla="val 2911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spcBef>
                    <a:spcPts val="640"/>
                  </a:spcBef>
                  <a:spcAft>
                    <a:spcPts val="0"/>
                  </a:spcAft>
                </a:pPr>
                <a:r>
                  <a:rPr lang="en-US" sz="900" dirty="0">
                    <a:solidFill>
                      <a:schemeClr val="tx1"/>
                    </a:solidFill>
                  </a:rPr>
                  <a:t>MCI Symptom</a:t>
                </a:r>
              </a:p>
            </p:txBody>
          </p:sp>
        </p:grpSp>
        <p:grpSp>
          <p:nvGrpSpPr>
            <p:cNvPr id="12368" name="Group 12367">
              <a:extLst>
                <a:ext uri="{FF2B5EF4-FFF2-40B4-BE49-F238E27FC236}">
                  <a16:creationId xmlns:a16="http://schemas.microsoft.com/office/drawing/2014/main" id="{7998EBFE-42D5-BED1-9AB5-795A77F7C7A4}"/>
                </a:ext>
              </a:extLst>
            </p:cNvPr>
            <p:cNvGrpSpPr/>
            <p:nvPr/>
          </p:nvGrpSpPr>
          <p:grpSpPr>
            <a:xfrm>
              <a:off x="1069833" y="716508"/>
              <a:ext cx="1769674" cy="762540"/>
              <a:chOff x="524863" y="716508"/>
              <a:chExt cx="1769674" cy="762540"/>
            </a:xfrm>
          </p:grpSpPr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65BD7A2-CB03-45BF-C39B-9AA2A12ED74F}"/>
                  </a:ext>
                </a:extLst>
              </p:cNvPr>
              <p:cNvSpPr/>
              <p:nvPr/>
            </p:nvSpPr>
            <p:spPr>
              <a:xfrm>
                <a:off x="524863" y="837728"/>
                <a:ext cx="1769674" cy="641320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rtl="0">
                  <a:spcBef>
                    <a:spcPts val="640"/>
                  </a:spcBef>
                  <a:spcAft>
                    <a:spcPts val="0"/>
                  </a:spcAft>
                </a:pPr>
                <a:endParaRPr 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60" name="Rounded Rectangle 12359">
                <a:extLst>
                  <a:ext uri="{FF2B5EF4-FFF2-40B4-BE49-F238E27FC236}">
                    <a16:creationId xmlns:a16="http://schemas.microsoft.com/office/drawing/2014/main" id="{8DC02E6D-206C-6082-73C0-77A51CDECD86}"/>
                  </a:ext>
                </a:extLst>
              </p:cNvPr>
              <p:cNvSpPr/>
              <p:nvPr/>
            </p:nvSpPr>
            <p:spPr>
              <a:xfrm>
                <a:off x="1122454" y="716508"/>
                <a:ext cx="591463" cy="243384"/>
              </a:xfrm>
              <a:prstGeom prst="roundRect">
                <a:avLst>
                  <a:gd name="adj" fmla="val 29116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>
                  <a:spcBef>
                    <a:spcPts val="640"/>
                  </a:spcBef>
                  <a:spcAft>
                    <a:spcPts val="0"/>
                  </a:spcAft>
                </a:pPr>
                <a:r>
                  <a:rPr lang="en-US" sz="900" dirty="0">
                    <a:solidFill>
                      <a:schemeClr val="bg1"/>
                    </a:solidFill>
                  </a:rPr>
                  <a:t>Recruit</a:t>
                </a:r>
              </a:p>
            </p:txBody>
          </p:sp>
          <p:pic>
            <p:nvPicPr>
              <p:cNvPr id="12361" name="Graphic 12360" descr="Doctor male outline">
                <a:extLst>
                  <a:ext uri="{FF2B5EF4-FFF2-40B4-BE49-F238E27FC236}">
                    <a16:creationId xmlns:a16="http://schemas.microsoft.com/office/drawing/2014/main" id="{E84A2594-EB5D-BF72-5546-1967CE0C9C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684714" y="946755"/>
                <a:ext cx="452838" cy="452838"/>
              </a:xfrm>
              <a:prstGeom prst="rect">
                <a:avLst/>
              </a:prstGeom>
            </p:spPr>
          </p:pic>
          <p:sp>
            <p:nvSpPr>
              <p:cNvPr id="12367" name="Rounded Rectangle 12366">
                <a:extLst>
                  <a:ext uri="{FF2B5EF4-FFF2-40B4-BE49-F238E27FC236}">
                    <a16:creationId xmlns:a16="http://schemas.microsoft.com/office/drawing/2014/main" id="{C6EA95BA-19AB-C6B9-ADB1-6938371CE8F9}"/>
                  </a:ext>
                </a:extLst>
              </p:cNvPr>
              <p:cNvSpPr/>
              <p:nvPr/>
            </p:nvSpPr>
            <p:spPr>
              <a:xfrm>
                <a:off x="1173886" y="1077509"/>
                <a:ext cx="1008115" cy="240117"/>
              </a:xfrm>
              <a:prstGeom prst="roundRect">
                <a:avLst>
                  <a:gd name="adj" fmla="val 1179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rtl="0">
                  <a:spcBef>
                    <a:spcPts val="640"/>
                  </a:spcBef>
                  <a:spcAft>
                    <a:spcPts val="0"/>
                  </a:spcAft>
                </a:pPr>
                <a:r>
                  <a:rPr lang="en-US" sz="900" dirty="0">
                    <a:solidFill>
                      <a:schemeClr val="tx1"/>
                    </a:solidFill>
                  </a:rPr>
                  <a:t>Train interviewer</a:t>
                </a:r>
              </a:p>
            </p:txBody>
          </p:sp>
        </p:grp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3808AD5D-ED32-0510-6FE7-0C943E6CB6A8}"/>
                </a:ext>
              </a:extLst>
            </p:cNvPr>
            <p:cNvSpPr/>
            <p:nvPr/>
          </p:nvSpPr>
          <p:spPr>
            <a:xfrm>
              <a:off x="6271586" y="3803340"/>
              <a:ext cx="2629166" cy="666637"/>
            </a:xfrm>
            <a:prstGeom prst="roundRect">
              <a:avLst>
                <a:gd name="adj" fmla="val 10106"/>
              </a:avLst>
            </a:prstGeom>
            <a:solidFill>
              <a:schemeClr val="bg1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rtl="0">
                <a:spcBef>
                  <a:spcPts val="640"/>
                </a:spcBef>
                <a:spcAft>
                  <a:spcPts val="0"/>
                </a:spcAft>
              </a:pP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F66877A9-AE77-4EF5-1EE0-30B17519A3AC}"/>
                </a:ext>
              </a:extLst>
            </p:cNvPr>
            <p:cNvSpPr/>
            <p:nvPr/>
          </p:nvSpPr>
          <p:spPr>
            <a:xfrm>
              <a:off x="6483625" y="4038430"/>
              <a:ext cx="2205089" cy="352263"/>
            </a:xfrm>
            <a:prstGeom prst="roundRect">
              <a:avLst>
                <a:gd name="adj" fmla="val 1179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rtl="0">
                <a:spcBef>
                  <a:spcPts val="640"/>
                </a:spcBef>
                <a:spcAft>
                  <a:spcPts val="0"/>
                </a:spcAft>
              </a:pPr>
              <a:r>
                <a:rPr lang="en-US" sz="900" dirty="0">
                  <a:solidFill>
                    <a:schemeClr val="tx1"/>
                  </a:solidFill>
                </a:rPr>
                <a:t>Fluency: Good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Memory recall: Not often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02FF4F9-EA13-BDD2-0FCE-6FACCF4B9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516973" y="3734785"/>
              <a:ext cx="1781235" cy="608018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7CCBF5F-953B-E860-C34C-264C10FC3A68}"/>
                </a:ext>
              </a:extLst>
            </p:cNvPr>
            <p:cNvGrpSpPr/>
            <p:nvPr/>
          </p:nvGrpSpPr>
          <p:grpSpPr>
            <a:xfrm>
              <a:off x="1069833" y="1636697"/>
              <a:ext cx="1769674" cy="930370"/>
              <a:chOff x="1079951" y="1636697"/>
              <a:chExt cx="1769674" cy="930370"/>
            </a:xfrm>
          </p:grpSpPr>
          <p:cxnSp>
            <p:nvCxnSpPr>
              <p:cNvPr id="5127" name="Straight Arrow Connector 5126">
                <a:extLst>
                  <a:ext uri="{FF2B5EF4-FFF2-40B4-BE49-F238E27FC236}">
                    <a16:creationId xmlns:a16="http://schemas.microsoft.com/office/drawing/2014/main" id="{0F1B6B04-81C4-456E-3ABA-180865D7B81C}"/>
                  </a:ext>
                </a:extLst>
              </p:cNvPr>
              <p:cNvCxnSpPr>
                <a:cxnSpLocks/>
                <a:stCxn id="10" idx="2"/>
                <a:endCxn id="12357" idx="0"/>
              </p:cNvCxnSpPr>
              <p:nvPr/>
            </p:nvCxnSpPr>
            <p:spPr>
              <a:xfrm>
                <a:off x="1964788" y="2397243"/>
                <a:ext cx="1210" cy="169824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334" name="Group 12333">
                <a:extLst>
                  <a:ext uri="{FF2B5EF4-FFF2-40B4-BE49-F238E27FC236}">
                    <a16:creationId xmlns:a16="http://schemas.microsoft.com/office/drawing/2014/main" id="{382384AE-62D9-8814-45B4-122046FEEEAA}"/>
                  </a:ext>
                </a:extLst>
              </p:cNvPr>
              <p:cNvGrpSpPr/>
              <p:nvPr/>
            </p:nvGrpSpPr>
            <p:grpSpPr>
              <a:xfrm>
                <a:off x="1079951" y="1636697"/>
                <a:ext cx="1769674" cy="760546"/>
                <a:chOff x="524863" y="1714389"/>
                <a:chExt cx="1769674" cy="760546"/>
              </a:xfrm>
            </p:grpSpPr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08098806-FCAA-0283-368E-B04848D61973}"/>
                    </a:ext>
                  </a:extLst>
                </p:cNvPr>
                <p:cNvSpPr/>
                <p:nvPr/>
              </p:nvSpPr>
              <p:spPr>
                <a:xfrm>
                  <a:off x="524863" y="1844820"/>
                  <a:ext cx="1769674" cy="630115"/>
                </a:xfrm>
                <a:prstGeom prst="roundRect">
                  <a:avLst>
                    <a:gd name="adj" fmla="val 11790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rtl="0">
                    <a:spcBef>
                      <a:spcPts val="640"/>
                    </a:spcBef>
                    <a:spcAft>
                      <a:spcPts val="0"/>
                    </a:spcAft>
                  </a:pPr>
                  <a:endParaRPr lang="en-US" sz="900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5142" name="Graphic 5141" descr="Doctor male outline">
                  <a:extLst>
                    <a:ext uri="{FF2B5EF4-FFF2-40B4-BE49-F238E27FC236}">
                      <a16:creationId xmlns:a16="http://schemas.microsoft.com/office/drawing/2014/main" id="{51660113-E803-3F09-B4DD-1383B4CE60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6343" y="1924616"/>
                  <a:ext cx="514273" cy="514273"/>
                </a:xfrm>
                <a:prstGeom prst="rect">
                  <a:avLst/>
                </a:prstGeom>
              </p:spPr>
            </p:pic>
            <p:sp>
              <p:nvSpPr>
                <p:cNvPr id="12321" name="Rounded Rectangle 12320">
                  <a:extLst>
                    <a:ext uri="{FF2B5EF4-FFF2-40B4-BE49-F238E27FC236}">
                      <a16:creationId xmlns:a16="http://schemas.microsoft.com/office/drawing/2014/main" id="{65FD2C72-770A-E200-5C9A-55924CE9E6FE}"/>
                    </a:ext>
                  </a:extLst>
                </p:cNvPr>
                <p:cNvSpPr/>
                <p:nvPr/>
              </p:nvSpPr>
              <p:spPr>
                <a:xfrm>
                  <a:off x="1108507" y="1714389"/>
                  <a:ext cx="591463" cy="243384"/>
                </a:xfrm>
                <a:prstGeom prst="roundRect">
                  <a:avLst>
                    <a:gd name="adj" fmla="val 29116"/>
                  </a:avLst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>
                    <a:spcBef>
                      <a:spcPts val="640"/>
                    </a:spcBef>
                    <a:spcAft>
                      <a:spcPts val="0"/>
                    </a:spcAft>
                  </a:pPr>
                  <a:r>
                    <a:rPr lang="en-US" sz="900" dirty="0">
                      <a:solidFill>
                        <a:schemeClr val="bg1"/>
                      </a:solidFill>
                    </a:rPr>
                    <a:t>Chat</a:t>
                  </a:r>
                </a:p>
              </p:txBody>
            </p:sp>
            <p:pic>
              <p:nvPicPr>
                <p:cNvPr id="12326" name="Graphic 12325" descr="Male profile outline">
                  <a:extLst>
                    <a:ext uri="{FF2B5EF4-FFF2-40B4-BE49-F238E27FC236}">
                      <a16:creationId xmlns:a16="http://schemas.microsoft.com/office/drawing/2014/main" id="{FF34F261-0A23-9387-805A-CA28D719C5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8618" y="1951000"/>
                  <a:ext cx="481501" cy="481501"/>
                </a:xfrm>
                <a:prstGeom prst="rect">
                  <a:avLst/>
                </a:prstGeom>
              </p:spPr>
            </p:pic>
            <p:pic>
              <p:nvPicPr>
                <p:cNvPr id="12331" name="Graphic 12330" descr="Transfer with solid fill">
                  <a:extLst>
                    <a:ext uri="{FF2B5EF4-FFF2-40B4-BE49-F238E27FC236}">
                      <a16:creationId xmlns:a16="http://schemas.microsoft.com/office/drawing/2014/main" id="{850C6E8A-CEC7-74C9-9D0B-4A9790B9E8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69092" y="2052849"/>
                  <a:ext cx="254554" cy="254554"/>
                </a:xfrm>
                <a:prstGeom prst="rect">
                  <a:avLst/>
                </a:prstGeom>
              </p:spPr>
            </p:pic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E370424-9280-AF0F-148D-B4226904CB6A}"/>
                  </a:ext>
                </a:extLst>
              </p:cNvPr>
              <p:cNvSpPr txBox="1"/>
              <p:nvPr/>
            </p:nvSpPr>
            <p:spPr>
              <a:xfrm>
                <a:off x="1251620" y="2214803"/>
                <a:ext cx="52129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>
                    <a:solidFill>
                      <a:schemeClr val="tx1"/>
                    </a:solidFill>
                  </a:rPr>
                  <a:t>Patient</a:t>
                </a:r>
                <a:endParaRPr lang="en-US" sz="1050" dirty="0"/>
              </a:p>
            </p:txBody>
          </p:sp>
        </p:grp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6DCD89F-7B55-DAA3-8A98-090E110DA00B}"/>
                </a:ext>
              </a:extLst>
            </p:cNvPr>
            <p:cNvCxnSpPr>
              <a:cxnSpLocks/>
            </p:cNvCxnSpPr>
            <p:nvPr/>
          </p:nvCxnSpPr>
          <p:spPr>
            <a:xfrm>
              <a:off x="7586169" y="3484461"/>
              <a:ext cx="0" cy="55396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9B1856D-E2A6-ECBB-1F83-D5D772F9D46A}"/>
                </a:ext>
              </a:extLst>
            </p:cNvPr>
            <p:cNvSpPr/>
            <p:nvPr/>
          </p:nvSpPr>
          <p:spPr>
            <a:xfrm>
              <a:off x="6898833" y="3685735"/>
              <a:ext cx="1374672" cy="243384"/>
            </a:xfrm>
            <a:prstGeom prst="roundRect">
              <a:avLst>
                <a:gd name="adj" fmla="val 2911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spcBef>
                  <a:spcPts val="640"/>
                </a:spcBef>
                <a:spcAft>
                  <a:spcPts val="0"/>
                </a:spcAft>
              </a:pPr>
              <a:r>
                <a:rPr lang="en-US" sz="900" dirty="0">
                  <a:solidFill>
                    <a:schemeClr val="bg1"/>
                  </a:solidFill>
                </a:rPr>
                <a:t>(6) Chatbot Evaluation</a:t>
              </a:r>
            </a:p>
          </p:txBody>
        </p:sp>
        <p:cxnSp>
          <p:nvCxnSpPr>
            <p:cNvPr id="5174" name="Elbow Connector 5173">
              <a:extLst>
                <a:ext uri="{FF2B5EF4-FFF2-40B4-BE49-F238E27FC236}">
                  <a16:creationId xmlns:a16="http://schemas.microsoft.com/office/drawing/2014/main" id="{D93162A8-4089-F3C2-41EE-4132FBAEA53A}"/>
                </a:ext>
              </a:extLst>
            </p:cNvPr>
            <p:cNvCxnSpPr>
              <a:cxnSpLocks/>
              <a:stCxn id="30" idx="1"/>
              <a:endCxn id="16" idx="1"/>
            </p:cNvCxnSpPr>
            <p:nvPr/>
          </p:nvCxnSpPr>
          <p:spPr>
            <a:xfrm rot="10800000">
              <a:off x="6465337" y="1387446"/>
              <a:ext cx="18288" cy="2827117"/>
            </a:xfrm>
            <a:prstGeom prst="bentConnector3">
              <a:avLst>
                <a:gd name="adj1" fmla="val 1963211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7108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44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6716</TotalTime>
  <Words>882</Words>
  <Application>Microsoft Macintosh PowerPoint</Application>
  <PresentationFormat>Widescreen</PresentationFormat>
  <Paragraphs>234</Paragraphs>
  <Slides>12</Slides>
  <Notes>8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Options and their difference to Roybal</vt:lpstr>
      <vt:lpstr>Multimodality Interactions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Hong, Junyuan</dc:creator>
  <cp:lastModifiedBy>Hong, Junyuan</cp:lastModifiedBy>
  <cp:revision>104</cp:revision>
  <dcterms:created xsi:type="dcterms:W3CDTF">2026-01-31T20:05:29Z</dcterms:created>
  <dcterms:modified xsi:type="dcterms:W3CDTF">2026-02-09T08:05:59Z</dcterms:modified>
</cp:coreProperties>
</file>